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81" r:id="rId10"/>
    <p:sldId id="282"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9" r:id="rId26"/>
    <p:sldId id="280" r:id="rId27"/>
  </p:sldIdLst>
  <p:sldSz cx="18288000" cy="10287000"/>
  <p:notesSz cx="6858000" cy="9144000"/>
  <p:embeddedFontLst>
    <p:embeddedFont>
      <p:font typeface="Arial Black" panose="020B0A04020102020204" pitchFamily="34" charset="0"/>
      <p:bold r:id="rId29"/>
    </p:embeddedFont>
    <p:embeddedFont>
      <p:font typeface="TAN Mon Cheri" panose="020B0604020202020204" charset="0"/>
      <p:regular r:id="rId30"/>
    </p:embeddedFont>
    <p:embeddedFont>
      <p:font typeface="Calibri" panose="020F0502020204030204" pitchFamily="34" charset="0"/>
      <p:regular r:id="rId31"/>
      <p:bold r:id="rId32"/>
      <p:italic r:id="rId33"/>
      <p:boldItalic r:id="rId34"/>
    </p:embeddedFont>
    <p:embeddedFont>
      <p:font typeface="TS Tarek" panose="020B0604020202020204" charset="-78"/>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2792" autoAdjust="0"/>
  </p:normalViewPr>
  <p:slideViewPr>
    <p:cSldViewPr>
      <p:cViewPr varScale="1">
        <p:scale>
          <a:sx n="38" d="100"/>
          <a:sy n="38" d="100"/>
        </p:scale>
        <p:origin x="1020" y="60"/>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1348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M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3AC47-DEAC-4717-84A2-DDCD61FB7E23}" type="datetimeFigureOut">
              <a:rPr lang="fr-MA" smtClean="0"/>
              <a:t>12/04/2026</a:t>
            </a:fld>
            <a:endParaRPr lang="fr-MA"/>
          </a:p>
        </p:txBody>
      </p:sp>
      <p:sp>
        <p:nvSpPr>
          <p:cNvPr id="4" name="Espace réservé de l'image de diapositiv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M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M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M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F16534-FD49-4A57-9953-35090593F862}" type="slidenum">
              <a:rPr lang="fr-MA" smtClean="0"/>
              <a:t>‹N°›</a:t>
            </a:fld>
            <a:endParaRPr lang="fr-MA"/>
          </a:p>
        </p:txBody>
      </p:sp>
    </p:spTree>
    <p:extLst>
      <p:ext uri="{BB962C8B-B14F-4D97-AF65-F5344CB8AC3E}">
        <p14:creationId xmlns:p14="http://schemas.microsoft.com/office/powerpoint/2010/main" val="1695298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sujet de notre travail est : </a:t>
            </a:r>
            <a:r>
              <a:rPr lang="fr-FR" b="1" dirty="0"/>
              <a:t>l'audit et la sécurisation d'une application web volontairement vulnérable — OWASP Juice Shop</a:t>
            </a:r>
            <a:r>
              <a:rPr lang="fr-FR" dirty="0"/>
              <a:t>. On va vous montrer comment on a détecté des failles réelles, comment on les a exploitées, et quelles solutions on propose pour les corriger."</a:t>
            </a:r>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1</a:t>
            </a:fld>
            <a:endParaRPr lang="fr-MA"/>
          </a:p>
        </p:txBody>
      </p:sp>
    </p:spTree>
    <p:extLst>
      <p:ext uri="{BB962C8B-B14F-4D97-AF65-F5344CB8AC3E}">
        <p14:creationId xmlns:p14="http://schemas.microsoft.com/office/powerpoint/2010/main" val="3798657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Voici le plan qu'on va suivre. On va commencer par le </a:t>
            </a:r>
            <a:r>
              <a:rPr lang="fr-FR" b="1" dirty="0"/>
              <a:t>contexte et l'introduction</a:t>
            </a:r>
            <a:r>
              <a:rPr lang="fr-FR" dirty="0"/>
              <a:t>, ensuite la </a:t>
            </a:r>
            <a:r>
              <a:rPr lang="fr-FR" b="1" dirty="0"/>
              <a:t>présentation du projet</a:t>
            </a:r>
            <a:r>
              <a:rPr lang="fr-FR" dirty="0"/>
              <a:t>, les </a:t>
            </a:r>
            <a:r>
              <a:rPr lang="fr-FR" b="1" dirty="0"/>
              <a:t>objectifs</a:t>
            </a:r>
            <a:r>
              <a:rPr lang="fr-FR" dirty="0"/>
              <a:t>, l'</a:t>
            </a:r>
            <a:r>
              <a:rPr lang="fr-FR" b="1" dirty="0"/>
              <a:t>architecture</a:t>
            </a:r>
            <a:r>
              <a:rPr lang="fr-FR" dirty="0"/>
              <a:t> du système, la </a:t>
            </a:r>
            <a:r>
              <a:rPr lang="fr-FR" b="1" dirty="0"/>
              <a:t>méthodologie</a:t>
            </a:r>
            <a:r>
              <a:rPr lang="fr-FR" dirty="0"/>
              <a:t> qu'on a adoptée, et enfin les </a:t>
            </a:r>
            <a:r>
              <a:rPr lang="fr-FR" b="1" dirty="0"/>
              <a:t>outils</a:t>
            </a:r>
            <a:r>
              <a:rPr lang="fr-FR" dirty="0"/>
              <a:t> qu'on a utilisés. On enchaînera ensuite avec les résultats concrets de l'audit</a:t>
            </a:r>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2</a:t>
            </a:fld>
            <a:endParaRPr lang="fr-MA"/>
          </a:p>
        </p:txBody>
      </p:sp>
    </p:spTree>
    <p:extLst>
      <p:ext uri="{BB962C8B-B14F-4D97-AF65-F5344CB8AC3E}">
        <p14:creationId xmlns:p14="http://schemas.microsoft.com/office/powerpoint/2010/main" val="498161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Aujourd'hui, la cybersécurité est un enjeu mondial critique. Les cyberattaques contre les applications web ne cessent d'augmenter. L'</a:t>
            </a:r>
            <a:r>
              <a:rPr lang="fr-FR" b="1" dirty="0"/>
              <a:t>OWASP Top 10</a:t>
            </a:r>
            <a:r>
              <a:rPr lang="fr-FR" dirty="0"/>
              <a:t> est la référence mondiale qui liste les vulnérabilités web les plus dangereuses — comme l'injection SQL, le XSS ou l'authentification défaillante.</a:t>
            </a:r>
          </a:p>
          <a:p>
            <a:r>
              <a:rPr lang="fr-FR" dirty="0"/>
              <a:t>Ce qui est important à comprendre, c'est que ces failles ne sont pas rares — elles existent dans de nombreuses applications réelles en production. C'est pour ça qu'il faut des </a:t>
            </a:r>
            <a:r>
              <a:rPr lang="fr-FR" b="1" dirty="0"/>
              <a:t>audits réguliers</a:t>
            </a:r>
            <a:r>
              <a:rPr lang="fr-FR" dirty="0"/>
              <a:t> et des </a:t>
            </a:r>
            <a:r>
              <a:rPr lang="fr-FR" b="1" dirty="0"/>
              <a:t>stratégies de remédiation proactives</a:t>
            </a:r>
            <a:r>
              <a:rPr lang="fr-FR" dirty="0"/>
              <a:t>, pour protéger les données sensibles et respecter les réglementations comme le RGPD.</a:t>
            </a:r>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3</a:t>
            </a:fld>
            <a:endParaRPr lang="fr-MA"/>
          </a:p>
        </p:txBody>
      </p:sp>
    </p:spTree>
    <p:extLst>
      <p:ext uri="{BB962C8B-B14F-4D97-AF65-F5344CB8AC3E}">
        <p14:creationId xmlns:p14="http://schemas.microsoft.com/office/powerpoint/2010/main" val="39898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OWASP Juice Shop</a:t>
            </a:r>
            <a:r>
              <a:rPr lang="fr-FR" dirty="0"/>
              <a:t>. C'est une application web qui a été </a:t>
            </a:r>
            <a:r>
              <a:rPr lang="fr-FR" b="1" dirty="0"/>
              <a:t>volontairement conçue avec des failles de sécurité</a:t>
            </a:r>
            <a:r>
              <a:rPr lang="fr-FR" dirty="0"/>
              <a:t> — c'est une plateforme officielle de l'OWASP, utilisée dans le monde entier pour l'apprentissage du </a:t>
            </a:r>
            <a:r>
              <a:rPr lang="fr-FR" dirty="0" err="1"/>
              <a:t>pentesting</a:t>
            </a:r>
            <a:r>
              <a:rPr lang="fr-FR" dirty="0"/>
              <a:t>.</a:t>
            </a:r>
          </a:p>
          <a:p>
            <a:r>
              <a:rPr lang="fr-FR" dirty="0"/>
              <a:t>Elle simule un vrai site e-commerce, avec une boutique, un panier, un système de connexion — mais derrière, elle contient plus de </a:t>
            </a:r>
            <a:r>
              <a:rPr lang="fr-FR" b="1" dirty="0"/>
              <a:t>100 vulnérabilités cachées</a:t>
            </a:r>
            <a:r>
              <a:rPr lang="fr-FR" dirty="0"/>
              <a:t>. Notre mission était de les trouver, de les exploiter, et de proposer des correctifs — exactement comme le ferait un vrai auditeur de sécurité</a:t>
            </a:r>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4</a:t>
            </a:fld>
            <a:endParaRPr lang="fr-MA"/>
          </a:p>
        </p:txBody>
      </p:sp>
    </p:spTree>
    <p:extLst>
      <p:ext uri="{BB962C8B-B14F-4D97-AF65-F5344CB8AC3E}">
        <p14:creationId xmlns:p14="http://schemas.microsoft.com/office/powerpoint/2010/main" val="2539818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Notre travail s'est articulé autour de </a:t>
            </a:r>
            <a:r>
              <a:rPr lang="fr-FR" b="1" dirty="0"/>
              <a:t>4 objectifs principaux</a:t>
            </a:r>
            <a:r>
              <a:rPr lang="fr-FR" dirty="0"/>
              <a:t> :</a:t>
            </a:r>
          </a:p>
          <a:p>
            <a:r>
              <a:rPr lang="fr-FR" b="1" dirty="0"/>
              <a:t>Premier objectif</a:t>
            </a:r>
            <a:r>
              <a:rPr lang="fr-FR" dirty="0"/>
              <a:t> : identifier les vulnérabilités — faire un scan complet pour détecter toutes les failles potentielles.</a:t>
            </a:r>
          </a:p>
          <a:p>
            <a:r>
              <a:rPr lang="fr-FR" b="1" dirty="0"/>
              <a:t>Deuxième objectif</a:t>
            </a:r>
            <a:r>
              <a:rPr lang="fr-FR" dirty="0"/>
              <a:t> : exploiter ces failles — tester leur exploitabilité réelle pour mesurer l'impact qu'elles auraient sur un vrai système.</a:t>
            </a:r>
          </a:p>
          <a:p>
            <a:r>
              <a:rPr lang="fr-FR" b="1" dirty="0"/>
              <a:t>Troisième objectif</a:t>
            </a:r>
            <a:r>
              <a:rPr lang="fr-FR" dirty="0"/>
              <a:t> : proposer des solutions — des correctifs concrets et priorisés pour chaque vulnérabilité.</a:t>
            </a:r>
          </a:p>
          <a:p>
            <a:r>
              <a:rPr lang="fr-FR" b="1" dirty="0"/>
              <a:t>Et quatrième</a:t>
            </a:r>
            <a:r>
              <a:rPr lang="fr-FR" dirty="0"/>
              <a:t> : mettre en place un cycle d'audit complet, itératif, qui documente tout le processus — de la découverte jusqu'à la correction.</a:t>
            </a:r>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5</a:t>
            </a:fld>
            <a:endParaRPr lang="fr-MA"/>
          </a:p>
        </p:txBody>
      </p:sp>
    </p:spTree>
    <p:extLst>
      <p:ext uri="{BB962C8B-B14F-4D97-AF65-F5344CB8AC3E}">
        <p14:creationId xmlns:p14="http://schemas.microsoft.com/office/powerpoint/2010/main" val="2037730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Avant de commencer l'audit, il faut comprendre comment fonctionne l'application. Juice Shop repose sur une architecture moderne à 3 couches :</a:t>
            </a:r>
          </a:p>
          <a:p>
            <a:r>
              <a:rPr lang="fr-FR" dirty="0"/>
              <a:t>Le </a:t>
            </a:r>
            <a:r>
              <a:rPr lang="fr-FR" b="1" dirty="0"/>
              <a:t>frontend</a:t>
            </a:r>
            <a:r>
              <a:rPr lang="fr-FR" dirty="0"/>
              <a:t> est développé avec </a:t>
            </a:r>
            <a:r>
              <a:rPr lang="fr-FR" dirty="0" err="1"/>
              <a:t>Angular</a:t>
            </a:r>
            <a:r>
              <a:rPr lang="fr-FR" dirty="0"/>
              <a:t> — c'est une Single Page Application, ou SPA.</a:t>
            </a:r>
          </a:p>
          <a:p>
            <a:r>
              <a:rPr lang="fr-FR" dirty="0"/>
              <a:t>Le </a:t>
            </a:r>
            <a:r>
              <a:rPr lang="fr-FR" b="1" dirty="0"/>
              <a:t>backend</a:t>
            </a:r>
            <a:r>
              <a:rPr lang="fr-FR" dirty="0"/>
              <a:t> tourne sur Node.js avec Express, et expose une API REST.</a:t>
            </a:r>
          </a:p>
          <a:p>
            <a:r>
              <a:rPr lang="fr-FR" dirty="0"/>
              <a:t>La </a:t>
            </a:r>
            <a:r>
              <a:rPr lang="fr-FR" b="1" dirty="0"/>
              <a:t>base de données</a:t>
            </a:r>
            <a:r>
              <a:rPr lang="fr-FR" dirty="0"/>
              <a:t> est SQLite.</a:t>
            </a:r>
          </a:p>
          <a:p>
            <a:r>
              <a:rPr lang="fr-FR" dirty="0"/>
              <a:t>Cette architecture est réaliste et représentative de nombreuses applications modernes. Elle crée aussi </a:t>
            </a:r>
            <a:r>
              <a:rPr lang="fr-FR" b="1" dirty="0"/>
              <a:t>plusieurs surfaces d'attaque</a:t>
            </a:r>
            <a:r>
              <a:rPr lang="fr-FR" dirty="0"/>
              <a:t> — c'est exactement ce qu'on a exploité</a:t>
            </a:r>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6</a:t>
            </a:fld>
            <a:endParaRPr lang="fr-MA"/>
          </a:p>
        </p:txBody>
      </p:sp>
    </p:spTree>
    <p:extLst>
      <p:ext uri="{BB962C8B-B14F-4D97-AF65-F5344CB8AC3E}">
        <p14:creationId xmlns:p14="http://schemas.microsoft.com/office/powerpoint/2010/main" val="205415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mener notre audit, on a suivi une méthodologie structurée en 4 étapes :</a:t>
            </a:r>
          </a:p>
          <a:p>
            <a:r>
              <a:rPr lang="fr-FR" b="1" dirty="0"/>
              <a:t>Reconnaissance</a:t>
            </a:r>
            <a:r>
              <a:rPr lang="fr-FR" dirty="0"/>
              <a:t> — d'abord on a cartographié l'application : les pages accessibles, les formulaires, les </a:t>
            </a:r>
            <a:r>
              <a:rPr lang="fr-FR" dirty="0" err="1"/>
              <a:t>endpoints</a:t>
            </a:r>
            <a:r>
              <a:rPr lang="fr-FR" dirty="0"/>
              <a:t> API, les technologies utilisées.</a:t>
            </a:r>
          </a:p>
          <a:p>
            <a:r>
              <a:rPr lang="fr-FR" b="1" dirty="0"/>
              <a:t>Scan OWASP ZAP</a:t>
            </a:r>
            <a:r>
              <a:rPr lang="fr-FR" dirty="0"/>
              <a:t> — ensuite on a lancé un scan automatisé avec OWASP ZAP, en mode actif et passif, pour détecter les vulnérabilités connues.</a:t>
            </a:r>
          </a:p>
          <a:p>
            <a:r>
              <a:rPr lang="fr-FR" b="1" dirty="0"/>
              <a:t>Analyse des résultats</a:t>
            </a:r>
            <a:r>
              <a:rPr lang="fr-FR" dirty="0"/>
              <a:t> — on a trié toutes les alertes générées, on les a classées par niveau de criticité, et on a éliminé les faux positifs.</a:t>
            </a:r>
          </a:p>
          <a:p>
            <a:r>
              <a:rPr lang="fr-FR" b="1" dirty="0"/>
              <a:t>Validation des failles</a:t>
            </a:r>
            <a:r>
              <a:rPr lang="fr-FR" dirty="0"/>
              <a:t> — enfin, on a exploité manuellement les vulnérabilités confirmées pour prouver qu'elles sont réellement exploitables."</a:t>
            </a:r>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7</a:t>
            </a:fld>
            <a:endParaRPr lang="fr-MA"/>
          </a:p>
        </p:txBody>
      </p:sp>
    </p:spTree>
    <p:extLst>
      <p:ext uri="{BB962C8B-B14F-4D97-AF65-F5344CB8AC3E}">
        <p14:creationId xmlns:p14="http://schemas.microsoft.com/office/powerpoint/2010/main" val="3004891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a travaillé avec 4 outils principaux :</a:t>
            </a:r>
          </a:p>
          <a:p>
            <a:r>
              <a:rPr lang="fr-FR" b="1" dirty="0"/>
              <a:t>OWASP Juice Shop</a:t>
            </a:r>
            <a:r>
              <a:rPr lang="fr-FR" dirty="0"/>
              <a:t> — c'est notre cible, l'application vulnérable.</a:t>
            </a:r>
          </a:p>
          <a:p>
            <a:r>
              <a:rPr lang="fr-FR" b="1" dirty="0"/>
              <a:t>OWASP ZAP</a:t>
            </a:r>
            <a:r>
              <a:rPr lang="fr-FR" dirty="0"/>
              <a:t> — le scanner de sécurité open-source qu'on a utilisé pour détecter automatiquement les failles.</a:t>
            </a:r>
          </a:p>
          <a:p>
            <a:r>
              <a:rPr lang="fr-FR" b="1" dirty="0"/>
              <a:t>Docker</a:t>
            </a:r>
            <a:r>
              <a:rPr lang="fr-FR" dirty="0"/>
              <a:t> — pour déployer Juice Shop dans un environnement isolé et reproductible sur nos machines.</a:t>
            </a:r>
          </a:p>
          <a:p>
            <a:r>
              <a:rPr lang="fr-FR" dirty="0"/>
              <a:t>Et des </a:t>
            </a:r>
            <a:r>
              <a:rPr lang="fr-FR" b="1" dirty="0"/>
              <a:t>outils complémentaires</a:t>
            </a:r>
            <a:r>
              <a:rPr lang="fr-FR" dirty="0"/>
              <a:t> : les </a:t>
            </a:r>
            <a:r>
              <a:rPr lang="fr-FR" dirty="0" err="1"/>
              <a:t>DevTools</a:t>
            </a:r>
            <a:r>
              <a:rPr lang="fr-FR" dirty="0"/>
              <a:t> du navigateur, Postman pour tester les API, et des scripts personnalisés pour les exploitations manuelles.</a:t>
            </a:r>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8</a:t>
            </a:fld>
            <a:endParaRPr lang="fr-MA"/>
          </a:p>
        </p:txBody>
      </p:sp>
    </p:spTree>
    <p:extLst>
      <p:ext uri="{BB962C8B-B14F-4D97-AF65-F5344CB8AC3E}">
        <p14:creationId xmlns:p14="http://schemas.microsoft.com/office/powerpoint/2010/main" val="1177686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première étape pratique a été le déploiement. On a utilisé Docker avec une seule commande :</a:t>
            </a:r>
          </a:p>
          <a:p>
            <a:r>
              <a:rPr lang="fr-FR" sz="1200" kern="1200" dirty="0">
                <a:solidFill>
                  <a:schemeClr val="tx1"/>
                </a:solidFill>
                <a:latin typeface="+mn-lt"/>
                <a:ea typeface="+mn-ea"/>
                <a:cs typeface="+mn-cs"/>
              </a:rPr>
              <a:t>docker run --</a:t>
            </a:r>
            <a:r>
              <a:rPr lang="fr-FR" sz="1200" kern="1200" dirty="0" err="1">
                <a:solidFill>
                  <a:schemeClr val="tx1"/>
                </a:solidFill>
                <a:latin typeface="+mn-lt"/>
                <a:ea typeface="+mn-ea"/>
                <a:cs typeface="+mn-cs"/>
              </a:rPr>
              <a:t>rm</a:t>
            </a:r>
            <a:r>
              <a:rPr lang="fr-FR" sz="1200" kern="1200" dirty="0">
                <a:solidFill>
                  <a:schemeClr val="tx1"/>
                </a:solidFill>
                <a:latin typeface="+mn-lt"/>
                <a:ea typeface="+mn-ea"/>
                <a:cs typeface="+mn-cs"/>
              </a:rPr>
              <a:t> -p 3000:3000 </a:t>
            </a:r>
            <a:r>
              <a:rPr lang="fr-FR" sz="1200" kern="1200" dirty="0" err="1">
                <a:solidFill>
                  <a:schemeClr val="tx1"/>
                </a:solidFill>
                <a:latin typeface="+mn-lt"/>
                <a:ea typeface="+mn-ea"/>
                <a:cs typeface="+mn-cs"/>
              </a:rPr>
              <a:t>bkimminich</a:t>
            </a:r>
            <a:r>
              <a:rPr lang="fr-FR" sz="1200" kern="1200" dirty="0">
                <a:solidFill>
                  <a:schemeClr val="tx1"/>
                </a:solidFill>
                <a:latin typeface="+mn-lt"/>
                <a:ea typeface="+mn-ea"/>
                <a:cs typeface="+mn-cs"/>
              </a:rPr>
              <a:t>/</a:t>
            </a:r>
            <a:r>
              <a:rPr lang="fr-FR" sz="1200" kern="1200" dirty="0" err="1">
                <a:solidFill>
                  <a:schemeClr val="tx1"/>
                </a:solidFill>
                <a:latin typeface="+mn-lt"/>
                <a:ea typeface="+mn-ea"/>
                <a:cs typeface="+mn-cs"/>
              </a:rPr>
              <a:t>juice</a:t>
            </a:r>
            <a:r>
              <a:rPr lang="fr-FR" sz="1200" kern="1200" dirty="0">
                <a:solidFill>
                  <a:schemeClr val="tx1"/>
                </a:solidFill>
                <a:latin typeface="+mn-lt"/>
                <a:ea typeface="+mn-ea"/>
                <a:cs typeface="+mn-cs"/>
              </a:rPr>
              <a:t>-shop</a:t>
            </a:r>
            <a:endParaRPr lang="fr-FR" dirty="0"/>
          </a:p>
          <a:p>
            <a:r>
              <a:rPr lang="fr-FR" dirty="0"/>
              <a:t>Docker télécharge automatiquement l'image officielle, crée un conteneur isolé, et expose l'application sur le port 3000. En quelques secondes, l'application est accessible sur </a:t>
            </a:r>
            <a:r>
              <a:rPr lang="fr-FR" sz="1200" kern="1200" dirty="0">
                <a:solidFill>
                  <a:schemeClr val="tx1"/>
                </a:solidFill>
                <a:latin typeface="+mn-lt"/>
                <a:ea typeface="+mn-ea"/>
                <a:cs typeface="+mn-cs"/>
              </a:rPr>
              <a:t>http://localhost:3000</a:t>
            </a:r>
            <a:r>
              <a:rPr lang="fr-FR" dirty="0"/>
              <a:t>. Vous voyez ici la capture de la console Docker qui confirme que tout fonctionne correctement.</a:t>
            </a:r>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9</a:t>
            </a:fld>
            <a:endParaRPr lang="fr-MA"/>
          </a:p>
        </p:txBody>
      </p:sp>
    </p:spTree>
    <p:extLst>
      <p:ext uri="{BB962C8B-B14F-4D97-AF65-F5344CB8AC3E}">
        <p14:creationId xmlns:p14="http://schemas.microsoft.com/office/powerpoint/2010/main" val="24981011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Une fois déployée, on a vérifié que tout fonctionnait correctement — l'interface web est accessible, le conteneur est stable, le backend répond. On a ensuite exploré l'application et on a identifié ses principales fonctionnalités : le système d'authentification, le catalogue produits, la recherche, le panier, le processus de commande, et l'API REST interne. Toutes ces fonctionnalités sont des </a:t>
            </a:r>
            <a:r>
              <a:rPr lang="fr-FR" b="1" dirty="0"/>
              <a:t>points d'entrée potentiels</a:t>
            </a:r>
            <a:r>
              <a:rPr lang="fr-FR" dirty="0"/>
              <a:t> pour nos tests.</a:t>
            </a:r>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10</a:t>
            </a:fld>
            <a:endParaRPr lang="fr-MA"/>
          </a:p>
        </p:txBody>
      </p:sp>
    </p:spTree>
    <p:extLst>
      <p:ext uri="{BB962C8B-B14F-4D97-AF65-F5344CB8AC3E}">
        <p14:creationId xmlns:p14="http://schemas.microsoft.com/office/powerpoint/2010/main" val="3753255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Après le scan et l'analyse, on a identifié </a:t>
            </a:r>
            <a:r>
              <a:rPr lang="fr-FR" b="1" dirty="0"/>
              <a:t>5 catégories de vulnérabilités</a:t>
            </a:r>
            <a:r>
              <a:rPr lang="fr-FR" dirty="0"/>
              <a:t> :</a:t>
            </a:r>
          </a:p>
          <a:p>
            <a:r>
              <a:rPr lang="fr-FR" b="1" dirty="0"/>
              <a:t>SQL Injection</a:t>
            </a:r>
            <a:r>
              <a:rPr lang="fr-FR" dirty="0"/>
              <a:t> — niveau Critique</a:t>
            </a:r>
          </a:p>
          <a:p>
            <a:r>
              <a:rPr lang="fr-FR" b="1" dirty="0"/>
              <a:t>XSS</a:t>
            </a:r>
            <a:r>
              <a:rPr lang="fr-FR" dirty="0"/>
              <a:t> — niveau Élevé</a:t>
            </a:r>
          </a:p>
          <a:p>
            <a:r>
              <a:rPr lang="fr-FR" b="1" dirty="0"/>
              <a:t>CSRF</a:t>
            </a:r>
            <a:r>
              <a:rPr lang="fr-FR" dirty="0"/>
              <a:t> — niveau Moyen</a:t>
            </a:r>
          </a:p>
          <a:p>
            <a:r>
              <a:rPr lang="fr-FR" b="1" dirty="0"/>
              <a:t>API exposée</a:t>
            </a:r>
            <a:r>
              <a:rPr lang="fr-FR" dirty="0"/>
              <a:t> — niveau Élevé</a:t>
            </a:r>
          </a:p>
          <a:p>
            <a:r>
              <a:rPr lang="fr-FR" b="1" dirty="0"/>
              <a:t>Force Brute</a:t>
            </a:r>
            <a:r>
              <a:rPr lang="fr-FR" dirty="0"/>
              <a:t> — niveau Moyen</a:t>
            </a:r>
          </a:p>
          <a:p>
            <a:r>
              <a:rPr lang="fr-FR" dirty="0"/>
              <a:t>On va maintenant vous détailler chacune d'entre elles, avec les preuves d'exploitation.</a:t>
            </a:r>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11</a:t>
            </a:fld>
            <a:endParaRPr lang="fr-MA"/>
          </a:p>
        </p:txBody>
      </p:sp>
    </p:spTree>
    <p:extLst>
      <p:ext uri="{BB962C8B-B14F-4D97-AF65-F5344CB8AC3E}">
        <p14:creationId xmlns:p14="http://schemas.microsoft.com/office/powerpoint/2010/main" val="32669290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première vulnérabilité, et la plus critique, c'est l'</a:t>
            </a:r>
            <a:r>
              <a:rPr lang="fr-FR" b="1" dirty="0"/>
              <a:t>injection SQL</a:t>
            </a:r>
            <a:r>
              <a:rPr lang="fr-FR" dirty="0"/>
              <a:t>. Elle se situe dans le formulaire de connexion. Le problème : les données saisies par l'utilisateur sont directement intégrées dans la requête SQL sans aucune validation.</a:t>
            </a:r>
          </a:p>
          <a:p>
            <a:r>
              <a:rPr lang="fr-FR" dirty="0"/>
              <a:t>En saisissant le </a:t>
            </a:r>
            <a:r>
              <a:rPr lang="fr-FR" dirty="0" err="1"/>
              <a:t>payload</a:t>
            </a:r>
            <a:r>
              <a:rPr lang="fr-FR" dirty="0"/>
              <a:t> </a:t>
            </a:r>
            <a:r>
              <a:rPr lang="fr-FR" sz="1200" kern="1200" dirty="0">
                <a:solidFill>
                  <a:schemeClr val="tx1"/>
                </a:solidFill>
                <a:latin typeface="+mn-lt"/>
                <a:ea typeface="+mn-ea"/>
                <a:cs typeface="+mn-cs"/>
              </a:rPr>
              <a:t>' OR 1=1 --</a:t>
            </a:r>
            <a:r>
              <a:rPr lang="fr-FR" dirty="0"/>
              <a:t> dans le champ email, on force la requête SQL à retourner le premier compte de la base — qui est l'administrateur — sans avoir besoin de connaître son mot de passe.</a:t>
            </a:r>
          </a:p>
          <a:p>
            <a:r>
              <a:rPr lang="fr-FR" dirty="0"/>
              <a:t>Les risques sont majeurs : compromission totale du système, extraction de toutes les données confidentielles, modification ou suppression de données. Dans un contexte réel, c'est une violation directe du RGPD."</a:t>
            </a:r>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12</a:t>
            </a:fld>
            <a:endParaRPr lang="fr-MA"/>
          </a:p>
        </p:txBody>
      </p:sp>
    </p:spTree>
    <p:extLst>
      <p:ext uri="{BB962C8B-B14F-4D97-AF65-F5344CB8AC3E}">
        <p14:creationId xmlns:p14="http://schemas.microsoft.com/office/powerpoint/2010/main" val="41452411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deuxième vulnérabilité, c'est le </a:t>
            </a:r>
            <a:r>
              <a:rPr lang="fr-FR" b="1" dirty="0"/>
              <a:t>Cross-Site Scripting</a:t>
            </a:r>
            <a:r>
              <a:rPr lang="fr-FR" dirty="0"/>
              <a:t>, ou XSS. C'est une faille qui permet d'injecter du code JavaScript malveillant dans des pages consultées par d'autres utilisateurs.</a:t>
            </a:r>
          </a:p>
          <a:p>
            <a:r>
              <a:rPr lang="fr-FR" dirty="0"/>
              <a:t>On a identifié </a:t>
            </a:r>
            <a:r>
              <a:rPr lang="fr-FR" b="1" dirty="0"/>
              <a:t>3 méthodes d'exploitation</a:t>
            </a:r>
            <a:r>
              <a:rPr lang="fr-FR" dirty="0"/>
              <a:t> dans Juice Shop : via la barre de recherche avec une balise </a:t>
            </a:r>
            <a:r>
              <a:rPr lang="fr-FR" dirty="0" err="1"/>
              <a:t>iframe</a:t>
            </a:r>
            <a:r>
              <a:rPr lang="fr-FR" dirty="0"/>
              <a:t>, via l'URL directement — ce qui est parfait pour du phishing — et via les avis produits, qui est encore plus dangereux parce que c'est du </a:t>
            </a:r>
            <a:r>
              <a:rPr lang="fr-FR" b="1" dirty="0"/>
              <a:t>XSS stocké</a:t>
            </a:r>
            <a:r>
              <a:rPr lang="fr-FR" dirty="0"/>
              <a:t> : le script se sauvegarde en base de données et s'exécute pour tous les visiteurs.</a:t>
            </a:r>
          </a:p>
          <a:p>
            <a:r>
              <a:rPr lang="fr-FR" dirty="0"/>
              <a:t>Les conséquences : vol de session via les cookies, usurpation d'identité, injection de scripts malveillants. Pour illustrer la gravité réelle : en 2018, une faille XSS chez British Airways a conduit à la compromission de 500 000 clients et une amende de 20 millions de livres.</a:t>
            </a:r>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13</a:t>
            </a:fld>
            <a:endParaRPr lang="fr-MA"/>
          </a:p>
        </p:txBody>
      </p:sp>
    </p:spTree>
    <p:extLst>
      <p:ext uri="{BB962C8B-B14F-4D97-AF65-F5344CB8AC3E}">
        <p14:creationId xmlns:p14="http://schemas.microsoft.com/office/powerpoint/2010/main" val="1313351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troisième vulnérabilité, c'est le </a:t>
            </a:r>
            <a:r>
              <a:rPr lang="fr-FR" b="1" dirty="0"/>
              <a:t>CSRF</a:t>
            </a:r>
            <a:r>
              <a:rPr lang="fr-FR" dirty="0"/>
              <a:t> — Cross-Site </a:t>
            </a:r>
            <a:r>
              <a:rPr lang="fr-FR" dirty="0" err="1"/>
              <a:t>Request</a:t>
            </a:r>
            <a:r>
              <a:rPr lang="fr-FR" dirty="0"/>
              <a:t> </a:t>
            </a:r>
            <a:r>
              <a:rPr lang="fr-FR" dirty="0" err="1"/>
              <a:t>Forgery</a:t>
            </a:r>
            <a:r>
              <a:rPr lang="fr-FR" dirty="0"/>
              <a:t>. C'est une attaque qui force un utilisateur </a:t>
            </a:r>
            <a:r>
              <a:rPr lang="fr-FR" b="1" dirty="0"/>
              <a:t>déjà connecté</a:t>
            </a:r>
            <a:r>
              <a:rPr lang="fr-FR" dirty="0"/>
              <a:t> à exécuter des actions à son insu.</a:t>
            </a:r>
          </a:p>
          <a:p>
            <a:r>
              <a:rPr lang="fr-FR" dirty="0"/>
              <a:t>Le principe : l'attaquant construit une page malveillante qui envoie automatiquement une requête vers Juice Shop. Si la victime est connectée, son navigateur ajoute automatiquement son cookie de session — et le serveur pense que c'est une action légitime.</a:t>
            </a:r>
          </a:p>
          <a:p>
            <a:r>
              <a:rPr lang="fr-FR" dirty="0"/>
              <a:t>Les risques : modification de données personnelles sans consentement, transferts financiers non autorisés, changement de mots de passe. C'est particulièrement dangereux pour les comptes administrateurs.</a:t>
            </a:r>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14</a:t>
            </a:fld>
            <a:endParaRPr lang="fr-MA"/>
          </a:p>
        </p:txBody>
      </p:sp>
    </p:spTree>
    <p:extLst>
      <p:ext uri="{BB962C8B-B14F-4D97-AF65-F5344CB8AC3E}">
        <p14:creationId xmlns:p14="http://schemas.microsoft.com/office/powerpoint/2010/main" val="1647424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Voici comment on a procédé. La première étape était d'</a:t>
            </a:r>
            <a:r>
              <a:rPr lang="fr-FR" b="1" dirty="0"/>
              <a:t>identifier la requête vulnérable</a:t>
            </a:r>
            <a:r>
              <a:rPr lang="fr-FR" dirty="0"/>
              <a:t>. En interceptant le trafic réseau avec les </a:t>
            </a:r>
            <a:r>
              <a:rPr lang="fr-FR" dirty="0" err="1"/>
              <a:t>DevTools</a:t>
            </a:r>
            <a:r>
              <a:rPr lang="fr-FR" dirty="0"/>
              <a:t> du navigateur, on a observé que la modification du profil envoie une requête POST vers </a:t>
            </a:r>
            <a:r>
              <a:rPr lang="fr-FR" sz="1200" kern="1200" dirty="0">
                <a:solidFill>
                  <a:schemeClr val="tx1"/>
                </a:solidFill>
                <a:latin typeface="+mn-lt"/>
                <a:ea typeface="+mn-ea"/>
                <a:cs typeface="+mn-cs"/>
              </a:rPr>
              <a:t>/profile</a:t>
            </a:r>
            <a:r>
              <a:rPr lang="fr-FR" dirty="0"/>
              <a:t>. Et là, on remarque quelque chose d'important : </a:t>
            </a:r>
            <a:r>
              <a:rPr lang="fr-FR" b="1" dirty="0"/>
              <a:t>aucun </a:t>
            </a:r>
            <a:r>
              <a:rPr lang="fr-FR" b="1" dirty="0" err="1"/>
              <a:t>token</a:t>
            </a:r>
            <a:r>
              <a:rPr lang="fr-FR" b="1" dirty="0"/>
              <a:t> anti-CSRF</a:t>
            </a:r>
            <a:r>
              <a:rPr lang="fr-FR" dirty="0"/>
              <a:t> n'est présent dans la requête, et le cookie JWT est transmis automatiquement par le navigateur</a:t>
            </a:r>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15</a:t>
            </a:fld>
            <a:endParaRPr lang="fr-MA"/>
          </a:p>
        </p:txBody>
      </p:sp>
    </p:spTree>
    <p:extLst>
      <p:ext uri="{BB962C8B-B14F-4D97-AF65-F5344CB8AC3E}">
        <p14:creationId xmlns:p14="http://schemas.microsoft.com/office/powerpoint/2010/main" val="16990030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En analysant les </a:t>
            </a:r>
            <a:r>
              <a:rPr lang="fr-FR" dirty="0" err="1"/>
              <a:t>Request</a:t>
            </a:r>
            <a:r>
              <a:rPr lang="fr-FR" dirty="0"/>
              <a:t> Headers en détail, ça confirme la vulnérabilité : le cookie JWT est bien transmis automatiquement, il n'y a aucun header </a:t>
            </a:r>
            <a:r>
              <a:rPr lang="fr-FR" sz="1200" kern="1200" dirty="0">
                <a:solidFill>
                  <a:schemeClr val="tx1"/>
                </a:solidFill>
                <a:latin typeface="+mn-lt"/>
                <a:ea typeface="+mn-ea"/>
                <a:cs typeface="+mn-cs"/>
              </a:rPr>
              <a:t>X-CSRF-</a:t>
            </a:r>
            <a:r>
              <a:rPr lang="fr-FR" sz="1200" kern="1200" dirty="0" err="1">
                <a:solidFill>
                  <a:schemeClr val="tx1"/>
                </a:solidFill>
                <a:latin typeface="+mn-lt"/>
                <a:ea typeface="+mn-ea"/>
                <a:cs typeface="+mn-cs"/>
              </a:rPr>
              <a:t>Token</a:t>
            </a:r>
            <a:r>
              <a:rPr lang="fr-FR" dirty="0"/>
              <a:t>, et il n'y a aucune protection côté serveur. De plus, le cookie ne possède pas l'attribut </a:t>
            </a:r>
            <a:r>
              <a:rPr lang="fr-FR" sz="1200" kern="1200" dirty="0" err="1">
                <a:solidFill>
                  <a:schemeClr val="tx1"/>
                </a:solidFill>
                <a:latin typeface="+mn-lt"/>
                <a:ea typeface="+mn-ea"/>
                <a:cs typeface="+mn-cs"/>
              </a:rPr>
              <a:t>SameSite</a:t>
            </a:r>
            <a:r>
              <a:rPr lang="fr-FR" sz="1200" kern="1200" dirty="0">
                <a:solidFill>
                  <a:schemeClr val="tx1"/>
                </a:solidFill>
                <a:latin typeface="+mn-lt"/>
                <a:ea typeface="+mn-ea"/>
                <a:cs typeface="+mn-cs"/>
              </a:rPr>
              <a:t>=Strict</a:t>
            </a:r>
            <a:r>
              <a:rPr lang="fr-FR" dirty="0"/>
              <a:t> — ce qui veut dire que le navigateur l'envoie pour n'importe quelle requête, quelle que soit son origine.</a:t>
            </a:r>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16</a:t>
            </a:fld>
            <a:endParaRPr lang="fr-MA"/>
          </a:p>
        </p:txBody>
      </p:sp>
    </p:spTree>
    <p:extLst>
      <p:ext uri="{BB962C8B-B14F-4D97-AF65-F5344CB8AC3E}">
        <p14:creationId xmlns:p14="http://schemas.microsoft.com/office/powerpoint/2010/main" val="39547987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a alors construit une </a:t>
            </a:r>
            <a:r>
              <a:rPr lang="fr-FR" b="1" dirty="0"/>
              <a:t>page malveillante</a:t>
            </a:r>
            <a:r>
              <a:rPr lang="fr-FR" dirty="0"/>
              <a:t>. C'est une simple page HTML qui affiche un message trompeur — 'Vous avez gagné un bon cadeau !' — pour attirer la victime. En dessous, il y a un formulaire caché qui pointe vers </a:t>
            </a:r>
            <a:r>
              <a:rPr lang="fr-FR" sz="1200" kern="1200" dirty="0">
                <a:solidFill>
                  <a:schemeClr val="tx1"/>
                </a:solidFill>
                <a:latin typeface="+mn-lt"/>
                <a:ea typeface="+mn-ea"/>
                <a:cs typeface="+mn-cs"/>
              </a:rPr>
              <a:t>/profile</a:t>
            </a:r>
            <a:r>
              <a:rPr lang="fr-FR" dirty="0"/>
              <a:t> avec un champ </a:t>
            </a:r>
            <a:r>
              <a:rPr lang="fr-FR" dirty="0" err="1"/>
              <a:t>username</a:t>
            </a:r>
            <a:r>
              <a:rPr lang="fr-FR" dirty="0"/>
              <a:t> valant </a:t>
            </a:r>
            <a:r>
              <a:rPr lang="fr-FR" sz="1200" kern="1200" dirty="0" err="1">
                <a:solidFill>
                  <a:schemeClr val="tx1"/>
                </a:solidFill>
                <a:latin typeface="+mn-lt"/>
                <a:ea typeface="+mn-ea"/>
                <a:cs typeface="+mn-cs"/>
              </a:rPr>
              <a:t>hacked_by_attacker</a:t>
            </a:r>
            <a:r>
              <a:rPr lang="fr-FR" dirty="0"/>
              <a:t>. Et un script JavaScript qui soumet le formulaire automatiquement dès que la page s'ouvre. La victime ne voit rien, ne fait rien, mais l'action est déjà exécutée.</a:t>
            </a:r>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17</a:t>
            </a:fld>
            <a:endParaRPr lang="fr-MA"/>
          </a:p>
        </p:txBody>
      </p:sp>
    </p:spTree>
    <p:extLst>
      <p:ext uri="{BB962C8B-B14F-4D97-AF65-F5344CB8AC3E}">
        <p14:creationId xmlns:p14="http://schemas.microsoft.com/office/powerpoint/2010/main" val="21359181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Voici le déroulement complet de l'attaque : l'administrateur est connecté sur Juice Shop. L'attaquant lui envoie le lien par email en se faisant passer pour quelqu'un de confiance. L'administrateur ouvre la page sans se méfier. Le formulaire se soumet automatiquement. Le navigateur ajoute le cookie JWT valide. Le serveur reçoit la requête, la considère comme légitime, et </a:t>
            </a:r>
            <a:r>
              <a:rPr lang="fr-FR" b="1" dirty="0"/>
              <a:t>exécute l'action</a:t>
            </a:r>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18</a:t>
            </a:fld>
            <a:endParaRPr lang="fr-MA"/>
          </a:p>
        </p:txBody>
      </p:sp>
    </p:spTree>
    <p:extLst>
      <p:ext uri="{BB962C8B-B14F-4D97-AF65-F5344CB8AC3E}">
        <p14:creationId xmlns:p14="http://schemas.microsoft.com/office/powerpoint/2010/main" val="34450240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Et voici les résultats. On voit ici deux captures d'écran. La première montre que le nom du profil administrateur a été modifié en </a:t>
            </a:r>
            <a:r>
              <a:rPr lang="fr-FR" sz="1200" kern="1200" dirty="0" err="1">
                <a:solidFill>
                  <a:schemeClr val="tx1"/>
                </a:solidFill>
                <a:latin typeface="+mn-lt"/>
                <a:ea typeface="+mn-ea"/>
                <a:cs typeface="+mn-cs"/>
              </a:rPr>
              <a:t>hacked_by_attacker</a:t>
            </a:r>
            <a:r>
              <a:rPr lang="fr-FR" dirty="0"/>
              <a:t> — sans que l'administrateur ait fait quoi que ce soit. La deuxième montre une erreur 500 avec la stack trace complète du serveur — ce qui est une vulnérabilité supplémentaire en soi, car elle révèle la version d'Express utilisée et l'architecture backend, des informations précieuses pour un attaquant.</a:t>
            </a:r>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19</a:t>
            </a:fld>
            <a:endParaRPr lang="fr-MA"/>
          </a:p>
        </p:txBody>
      </p:sp>
    </p:spTree>
    <p:extLst>
      <p:ext uri="{BB962C8B-B14F-4D97-AF65-F5344CB8AC3E}">
        <p14:creationId xmlns:p14="http://schemas.microsoft.com/office/powerpoint/2010/main" val="39259617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quatrième vulnérabilité concerne les </a:t>
            </a:r>
            <a:r>
              <a:rPr lang="fr-FR" b="1" dirty="0"/>
              <a:t>API non protégées</a:t>
            </a:r>
            <a:r>
              <a:rPr lang="fr-FR" dirty="0"/>
              <a:t>. On a découvert que plusieurs </a:t>
            </a:r>
            <a:r>
              <a:rPr lang="fr-FR" dirty="0" err="1"/>
              <a:t>endpoints</a:t>
            </a:r>
            <a:r>
              <a:rPr lang="fr-FR" dirty="0"/>
              <a:t> REST de Juice Shop sont accessibles directement depuis le navigateur, sans aucune authentification.</a:t>
            </a:r>
          </a:p>
          <a:p>
            <a:r>
              <a:rPr lang="fr-FR" dirty="0"/>
              <a:t>Par exemple : </a:t>
            </a:r>
            <a:r>
              <a:rPr lang="fr-FR" sz="1200" kern="1200" dirty="0">
                <a:solidFill>
                  <a:schemeClr val="tx1"/>
                </a:solidFill>
                <a:latin typeface="+mn-lt"/>
                <a:ea typeface="+mn-ea"/>
                <a:cs typeface="+mn-cs"/>
              </a:rPr>
              <a:t>/</a:t>
            </a:r>
            <a:r>
              <a:rPr lang="fr-FR" sz="1200" kern="1200" dirty="0" err="1">
                <a:solidFill>
                  <a:schemeClr val="tx1"/>
                </a:solidFill>
                <a:latin typeface="+mn-lt"/>
                <a:ea typeface="+mn-ea"/>
                <a:cs typeface="+mn-cs"/>
              </a:rPr>
              <a:t>rest</a:t>
            </a:r>
            <a:r>
              <a:rPr lang="fr-FR" sz="1200" kern="1200" dirty="0">
                <a:solidFill>
                  <a:schemeClr val="tx1"/>
                </a:solidFill>
                <a:latin typeface="+mn-lt"/>
                <a:ea typeface="+mn-ea"/>
                <a:cs typeface="+mn-cs"/>
              </a:rPr>
              <a:t>/admin/application-configuration</a:t>
            </a:r>
            <a:r>
              <a:rPr lang="fr-FR" dirty="0"/>
              <a:t> retourne la configuration complète de l'application, les clés </a:t>
            </a:r>
            <a:r>
              <a:rPr lang="fr-FR" dirty="0" err="1"/>
              <a:t>OAuth</a:t>
            </a:r>
            <a:r>
              <a:rPr lang="fr-FR" dirty="0"/>
              <a:t>, et même des </a:t>
            </a:r>
            <a:r>
              <a:rPr lang="fr-FR" dirty="0" err="1"/>
              <a:t>payloads</a:t>
            </a:r>
            <a:r>
              <a:rPr lang="fr-FR" dirty="0"/>
              <a:t> XSS préconfigurés. </a:t>
            </a:r>
            <a:r>
              <a:rPr lang="fr-FR" sz="1200" kern="1200" dirty="0">
                <a:solidFill>
                  <a:schemeClr val="tx1"/>
                </a:solidFill>
                <a:latin typeface="+mn-lt"/>
                <a:ea typeface="+mn-ea"/>
                <a:cs typeface="+mn-cs"/>
              </a:rPr>
              <a:t>/api/</a:t>
            </a:r>
            <a:r>
              <a:rPr lang="fr-FR" sz="1200" kern="1200" dirty="0" err="1">
                <a:solidFill>
                  <a:schemeClr val="tx1"/>
                </a:solidFill>
                <a:latin typeface="+mn-lt"/>
                <a:ea typeface="+mn-ea"/>
                <a:cs typeface="+mn-cs"/>
              </a:rPr>
              <a:t>Products</a:t>
            </a:r>
            <a:r>
              <a:rPr lang="fr-FR" dirty="0"/>
              <a:t> expose tout le catalogue avec les prix internes et les dates de la base de données. </a:t>
            </a:r>
            <a:r>
              <a:rPr lang="fr-FR" sz="1200" kern="1200" dirty="0">
                <a:solidFill>
                  <a:schemeClr val="tx1"/>
                </a:solidFill>
                <a:latin typeface="+mn-lt"/>
                <a:ea typeface="+mn-ea"/>
                <a:cs typeface="+mn-cs"/>
              </a:rPr>
              <a:t>/</a:t>
            </a:r>
            <a:r>
              <a:rPr lang="fr-FR" sz="1200" kern="1200" dirty="0" err="1">
                <a:solidFill>
                  <a:schemeClr val="tx1"/>
                </a:solidFill>
                <a:latin typeface="+mn-lt"/>
                <a:ea typeface="+mn-ea"/>
                <a:cs typeface="+mn-cs"/>
              </a:rPr>
              <a:t>rest</a:t>
            </a:r>
            <a:r>
              <a:rPr lang="fr-FR" sz="1200" kern="1200" dirty="0">
                <a:solidFill>
                  <a:schemeClr val="tx1"/>
                </a:solidFill>
                <a:latin typeface="+mn-lt"/>
                <a:ea typeface="+mn-ea"/>
                <a:cs typeface="+mn-cs"/>
              </a:rPr>
              <a:t>/admin/application-version</a:t>
            </a:r>
            <a:r>
              <a:rPr lang="fr-FR" dirty="0"/>
              <a:t> expose la version exacte — ce qui permet à un attaquant de chercher des CVE spécifiques.</a:t>
            </a:r>
          </a:p>
          <a:p>
            <a:r>
              <a:rPr lang="fr-FR" dirty="0"/>
              <a:t>C'est une violation directe du principe du </a:t>
            </a:r>
            <a:r>
              <a:rPr lang="fr-FR" b="1" dirty="0"/>
              <a:t>moindre privilège</a:t>
            </a:r>
            <a:endParaRPr lang="fr-FR" dirty="0"/>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20</a:t>
            </a:fld>
            <a:endParaRPr lang="fr-MA"/>
          </a:p>
        </p:txBody>
      </p:sp>
    </p:spTree>
    <p:extLst>
      <p:ext uri="{BB962C8B-B14F-4D97-AF65-F5344CB8AC3E}">
        <p14:creationId xmlns:p14="http://schemas.microsoft.com/office/powerpoint/2010/main" val="316976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cinquième vulnérabilité, c'est l'</a:t>
            </a:r>
            <a:r>
              <a:rPr lang="fr-FR" b="1" dirty="0"/>
              <a:t>absence de protection contre la force brute</a:t>
            </a:r>
            <a:r>
              <a:rPr lang="fr-FR" dirty="0"/>
              <a:t>. </a:t>
            </a:r>
            <a:r>
              <a:rPr lang="fr-FR" dirty="0" err="1"/>
              <a:t>L'endpoint</a:t>
            </a:r>
            <a:r>
              <a:rPr lang="fr-FR" dirty="0"/>
              <a:t> de connexion </a:t>
            </a:r>
            <a:r>
              <a:rPr lang="fr-FR" sz="1200" kern="1200" dirty="0">
                <a:solidFill>
                  <a:schemeClr val="tx1"/>
                </a:solidFill>
                <a:latin typeface="+mn-lt"/>
                <a:ea typeface="+mn-ea"/>
                <a:cs typeface="+mn-cs"/>
              </a:rPr>
              <a:t>/</a:t>
            </a:r>
            <a:r>
              <a:rPr lang="fr-FR" sz="1200" kern="1200" dirty="0" err="1">
                <a:solidFill>
                  <a:schemeClr val="tx1"/>
                </a:solidFill>
                <a:latin typeface="+mn-lt"/>
                <a:ea typeface="+mn-ea"/>
                <a:cs typeface="+mn-cs"/>
              </a:rPr>
              <a:t>rest</a:t>
            </a:r>
            <a:r>
              <a:rPr lang="fr-FR" sz="1200" kern="1200" dirty="0">
                <a:solidFill>
                  <a:schemeClr val="tx1"/>
                </a:solidFill>
                <a:latin typeface="+mn-lt"/>
                <a:ea typeface="+mn-ea"/>
                <a:cs typeface="+mn-cs"/>
              </a:rPr>
              <a:t>/user/login</a:t>
            </a:r>
            <a:r>
              <a:rPr lang="fr-FR" dirty="0"/>
              <a:t> accepte un nombre illimité de tentatives, sans aucun délai, sans blocage, sans alerte.</a:t>
            </a:r>
          </a:p>
          <a:p>
            <a:r>
              <a:rPr lang="fr-FR" dirty="0"/>
              <a:t>On a simulé l'attaque directement depuis la console du navigateur avec un script qui teste des mots de passe courants. Résultat : en seulement </a:t>
            </a:r>
            <a:r>
              <a:rPr lang="fr-FR" b="1" dirty="0"/>
              <a:t>4 tentatives</a:t>
            </a:r>
            <a:r>
              <a:rPr lang="fr-FR" dirty="0"/>
              <a:t>, on a trouvé le mot de passe de l'administrateur — </a:t>
            </a:r>
            <a:r>
              <a:rPr lang="fr-FR" sz="1200" kern="1200" dirty="0">
                <a:solidFill>
                  <a:schemeClr val="tx1"/>
                </a:solidFill>
                <a:latin typeface="+mn-lt"/>
                <a:ea typeface="+mn-ea"/>
                <a:cs typeface="+mn-cs"/>
              </a:rPr>
              <a:t>admin123</a:t>
            </a:r>
            <a:r>
              <a:rPr lang="fr-FR" dirty="0"/>
              <a:t> — et on a obtenu un </a:t>
            </a:r>
            <a:r>
              <a:rPr lang="fr-FR" dirty="0" err="1"/>
              <a:t>token</a:t>
            </a:r>
            <a:r>
              <a:rPr lang="fr-FR" dirty="0"/>
              <a:t> JWT valide. Le serveur n'a émis aucune alerte. De plus, les headers de sécurité HTTP sont absents : pas de </a:t>
            </a:r>
            <a:r>
              <a:rPr lang="fr-FR" sz="1200" kern="1200" dirty="0">
                <a:solidFill>
                  <a:schemeClr val="tx1"/>
                </a:solidFill>
                <a:latin typeface="+mn-lt"/>
                <a:ea typeface="+mn-ea"/>
                <a:cs typeface="+mn-cs"/>
              </a:rPr>
              <a:t>Content-Security-Policy</a:t>
            </a:r>
            <a:r>
              <a:rPr lang="fr-FR" dirty="0"/>
              <a:t>, pas de </a:t>
            </a:r>
            <a:r>
              <a:rPr lang="fr-FR" sz="1200" kern="1200" dirty="0">
                <a:solidFill>
                  <a:schemeClr val="tx1"/>
                </a:solidFill>
                <a:latin typeface="+mn-lt"/>
                <a:ea typeface="+mn-ea"/>
                <a:cs typeface="+mn-cs"/>
              </a:rPr>
              <a:t>X-Frame-Options</a:t>
            </a:r>
            <a:r>
              <a:rPr lang="fr-FR" dirty="0"/>
              <a:t>.</a:t>
            </a:r>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21</a:t>
            </a:fld>
            <a:endParaRPr lang="fr-MA"/>
          </a:p>
        </p:txBody>
      </p:sp>
    </p:spTree>
    <p:extLst>
      <p:ext uri="{BB962C8B-B14F-4D97-AF65-F5344CB8AC3E}">
        <p14:creationId xmlns:p14="http://schemas.microsoft.com/office/powerpoint/2010/main" val="442034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résumer l'impact global de notre audit :</a:t>
            </a:r>
          </a:p>
          <a:p>
            <a:r>
              <a:rPr lang="fr-FR" b="1" dirty="0"/>
              <a:t>Pour les utilisateurs</a:t>
            </a:r>
            <a:r>
              <a:rPr lang="fr-FR" dirty="0"/>
              <a:t> : vol de données personnelles, sessions compromises, perte de confiance totale.</a:t>
            </a:r>
          </a:p>
          <a:p>
            <a:r>
              <a:rPr lang="fr-FR" b="1" dirty="0"/>
              <a:t>Pour l'entreprise</a:t>
            </a:r>
            <a:r>
              <a:rPr lang="fr-FR" dirty="0"/>
              <a:t> : atteinte à la réputation, pertes financières, non-conformité RGPD avec des amendes pouvant atteindre 4% du chiffre d'affaires mondial.</a:t>
            </a:r>
          </a:p>
          <a:p>
            <a:r>
              <a:rPr lang="fr-FR" dirty="0"/>
              <a:t>Le </a:t>
            </a:r>
            <a:r>
              <a:rPr lang="fr-FR" b="1" dirty="0"/>
              <a:t>score global de risque que nous attribuons est CRITIQUE</a:t>
            </a:r>
            <a:r>
              <a:rPr lang="fr-FR" dirty="0"/>
              <a:t>. Les vulnérabilités SQL Injection et API exposée en particulier représentent des menaces qui ne seraient pas acceptables dans un environnement de production réel.</a:t>
            </a:r>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22</a:t>
            </a:fld>
            <a:endParaRPr lang="fr-MA"/>
          </a:p>
        </p:txBody>
      </p:sp>
    </p:spTree>
    <p:extLst>
      <p:ext uri="{BB962C8B-B14F-4D97-AF65-F5344CB8AC3E}">
        <p14:creationId xmlns:p14="http://schemas.microsoft.com/office/powerpoint/2010/main" val="16008924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chaque vulnérabilité, on propose un correctif technique concret :</a:t>
            </a:r>
          </a:p>
          <a:p>
            <a:r>
              <a:rPr lang="fr-FR" dirty="0"/>
              <a:t>Contre la </a:t>
            </a:r>
            <a:r>
              <a:rPr lang="fr-FR" b="1" dirty="0"/>
              <a:t>SQL Injection</a:t>
            </a:r>
            <a:r>
              <a:rPr lang="fr-FR" dirty="0"/>
              <a:t> → utiliser des </a:t>
            </a:r>
            <a:r>
              <a:rPr lang="fr-FR" b="1" dirty="0"/>
              <a:t>requêtes préparées</a:t>
            </a:r>
            <a:r>
              <a:rPr lang="fr-FR" dirty="0"/>
              <a:t> avec des paramètres liés, ou un ORM comme </a:t>
            </a:r>
            <a:r>
              <a:rPr lang="fr-FR" dirty="0" err="1"/>
              <a:t>Sequelize</a:t>
            </a:r>
            <a:r>
              <a:rPr lang="fr-FR" dirty="0"/>
              <a:t>.</a:t>
            </a:r>
          </a:p>
          <a:p>
            <a:r>
              <a:rPr lang="fr-FR" dirty="0"/>
              <a:t>Contre le </a:t>
            </a:r>
            <a:r>
              <a:rPr lang="fr-FR" b="1" dirty="0"/>
              <a:t>XSS</a:t>
            </a:r>
            <a:r>
              <a:rPr lang="fr-FR" dirty="0"/>
              <a:t> → </a:t>
            </a:r>
            <a:r>
              <a:rPr lang="fr-FR" b="1" dirty="0"/>
              <a:t>encoder systématiquement</a:t>
            </a:r>
            <a:r>
              <a:rPr lang="fr-FR" dirty="0"/>
              <a:t> toutes les sorties avec </a:t>
            </a:r>
            <a:r>
              <a:rPr lang="fr-FR" dirty="0" err="1"/>
              <a:t>DOMPurify</a:t>
            </a:r>
            <a:r>
              <a:rPr lang="fr-FR" dirty="0"/>
              <a:t>, et implémenter une Content Security Policy stricte.</a:t>
            </a:r>
          </a:p>
          <a:p>
            <a:r>
              <a:rPr lang="fr-FR" dirty="0"/>
              <a:t>Contre le </a:t>
            </a:r>
            <a:r>
              <a:rPr lang="fr-FR" b="1" dirty="0"/>
              <a:t>CSRF</a:t>
            </a:r>
            <a:r>
              <a:rPr lang="fr-FR" dirty="0"/>
              <a:t> → implémenter des </a:t>
            </a:r>
            <a:r>
              <a:rPr lang="fr-FR" b="1" dirty="0" err="1"/>
              <a:t>tokens</a:t>
            </a:r>
            <a:r>
              <a:rPr lang="fr-FR" b="1" dirty="0"/>
              <a:t> anti-CSRF</a:t>
            </a:r>
            <a:r>
              <a:rPr lang="fr-FR" dirty="0"/>
              <a:t> couplés à l'attribut </a:t>
            </a:r>
            <a:r>
              <a:rPr lang="fr-FR" sz="1200" kern="1200" dirty="0" err="1">
                <a:solidFill>
                  <a:schemeClr val="tx1"/>
                </a:solidFill>
                <a:latin typeface="+mn-lt"/>
                <a:ea typeface="+mn-ea"/>
                <a:cs typeface="+mn-cs"/>
              </a:rPr>
              <a:t>SameSite</a:t>
            </a:r>
            <a:r>
              <a:rPr lang="fr-FR" sz="1200" kern="1200" dirty="0">
                <a:solidFill>
                  <a:schemeClr val="tx1"/>
                </a:solidFill>
                <a:latin typeface="+mn-lt"/>
                <a:ea typeface="+mn-ea"/>
                <a:cs typeface="+mn-cs"/>
              </a:rPr>
              <a:t>=Strict</a:t>
            </a:r>
            <a:r>
              <a:rPr lang="fr-FR" dirty="0"/>
              <a:t> sur les cookies.</a:t>
            </a:r>
          </a:p>
          <a:p>
            <a:r>
              <a:rPr lang="fr-FR" dirty="0"/>
              <a:t>Contre la </a:t>
            </a:r>
            <a:r>
              <a:rPr lang="fr-FR" b="1" dirty="0"/>
              <a:t>force brute</a:t>
            </a:r>
            <a:r>
              <a:rPr lang="fr-FR" dirty="0"/>
              <a:t> → activer le </a:t>
            </a:r>
            <a:r>
              <a:rPr lang="fr-FR" b="1" dirty="0"/>
              <a:t>rate </a:t>
            </a:r>
            <a:r>
              <a:rPr lang="fr-FR" b="1" dirty="0" err="1"/>
              <a:t>limiting</a:t>
            </a:r>
            <a:r>
              <a:rPr lang="fr-FR" dirty="0"/>
              <a:t> avec </a:t>
            </a:r>
            <a:r>
              <a:rPr lang="fr-FR" sz="1200" kern="1200" dirty="0">
                <a:solidFill>
                  <a:schemeClr val="tx1"/>
                </a:solidFill>
                <a:latin typeface="+mn-lt"/>
                <a:ea typeface="+mn-ea"/>
                <a:cs typeface="+mn-cs"/>
              </a:rPr>
              <a:t>express-rate-</a:t>
            </a:r>
            <a:r>
              <a:rPr lang="fr-FR" sz="1200" kern="1200" dirty="0" err="1">
                <a:solidFill>
                  <a:schemeClr val="tx1"/>
                </a:solidFill>
                <a:latin typeface="+mn-lt"/>
                <a:ea typeface="+mn-ea"/>
                <a:cs typeface="+mn-cs"/>
              </a:rPr>
              <a:t>limit</a:t>
            </a:r>
            <a:r>
              <a:rPr lang="fr-FR" dirty="0"/>
              <a:t> — 5 tentatives maximum par 15 minutes — et ajouter </a:t>
            </a:r>
            <a:r>
              <a:rPr lang="fr-FR" dirty="0" err="1"/>
              <a:t>Helmet</a:t>
            </a:r>
            <a:r>
              <a:rPr lang="fr-FR" dirty="0"/>
              <a:t> pour les headers de sécurité.</a:t>
            </a:r>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23</a:t>
            </a:fld>
            <a:endParaRPr lang="fr-MA"/>
          </a:p>
        </p:txBody>
      </p:sp>
    </p:spTree>
    <p:extLst>
      <p:ext uri="{BB962C8B-B14F-4D97-AF65-F5344CB8AC3E}">
        <p14:creationId xmlns:p14="http://schemas.microsoft.com/office/powerpoint/2010/main" val="19573361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smtClean="0"/>
              <a:t>Il est essentiel de valider toutes les données côté serveur, car le client peut être manipulé.</a:t>
            </a:r>
            <a:br>
              <a:rPr lang="fr-FR" dirty="0" smtClean="0"/>
            </a:br>
            <a:r>
              <a:rPr lang="fr-FR" dirty="0" smtClean="0"/>
              <a:t>Ensuite, il faut configurer des headers de sécurité pour protéger l’application.</a:t>
            </a:r>
            <a:br>
              <a:rPr lang="fr-FR" dirty="0" smtClean="0"/>
            </a:br>
            <a:r>
              <a:rPr lang="fr-FR" dirty="0" smtClean="0"/>
              <a:t>Enfin, on applique la défense en profondeur en combinant plusieurs mécanismes de protection.</a:t>
            </a:r>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24</a:t>
            </a:fld>
            <a:endParaRPr lang="fr-MA"/>
          </a:p>
        </p:txBody>
      </p:sp>
    </p:spTree>
    <p:extLst>
      <p:ext uri="{BB962C8B-B14F-4D97-AF65-F5344CB8AC3E}">
        <p14:creationId xmlns:p14="http://schemas.microsoft.com/office/powerpoint/2010/main" val="31799188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conclure, ce projet nous a permis de passer de la théorie à la pratique de la cybersécurité. On a démontré que des vulnérabilités critiques peuvent exister dans des architectures modernes — et qu'elles sont exploitables rapidement, même par quelqu'un avec des connaissances de base.</a:t>
            </a:r>
          </a:p>
          <a:p>
            <a:r>
              <a:rPr lang="fr-FR" dirty="0"/>
              <a:t>Ce qui est rassurant, c'est que les correctifs existent et sont </a:t>
            </a:r>
            <a:r>
              <a:rPr lang="fr-FR" b="1" dirty="0"/>
              <a:t>souvent simples à mettre en œuvre</a:t>
            </a:r>
            <a:r>
              <a:rPr lang="fr-FR" dirty="0"/>
              <a:t>. </a:t>
            </a:r>
          </a:p>
          <a:p>
            <a:r>
              <a:rPr lang="fr-FR" b="1" dirty="0"/>
              <a:t>La sécurité applicative n'est pas une option. C'est une obligation qui doit être intégrée dès la phase de conception.</a:t>
            </a:r>
            <a:r>
              <a:rPr lang="fr-FR" dirty="0"/>
              <a:t>"</a:t>
            </a:r>
          </a:p>
          <a:p>
            <a:endParaRPr lang="fr-MA" dirty="0"/>
          </a:p>
        </p:txBody>
      </p:sp>
      <p:sp>
        <p:nvSpPr>
          <p:cNvPr id="4" name="Espace réservé du numéro de diapositive 3"/>
          <p:cNvSpPr>
            <a:spLocks noGrp="1"/>
          </p:cNvSpPr>
          <p:nvPr>
            <p:ph type="sldNum" sz="quarter" idx="5"/>
          </p:nvPr>
        </p:nvSpPr>
        <p:spPr/>
        <p:txBody>
          <a:bodyPr/>
          <a:lstStyle/>
          <a:p>
            <a:fld id="{7DF16534-FD49-4A57-9953-35090593F862}" type="slidenum">
              <a:rPr lang="fr-MA" smtClean="0"/>
              <a:t>25</a:t>
            </a:fld>
            <a:endParaRPr lang="fr-MA"/>
          </a:p>
        </p:txBody>
      </p:sp>
    </p:spTree>
    <p:extLst>
      <p:ext uri="{BB962C8B-B14F-4D97-AF65-F5344CB8AC3E}">
        <p14:creationId xmlns:p14="http://schemas.microsoft.com/office/powerpoint/2010/main" val="36437330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7DF16534-FD49-4A57-9953-35090593F862}" type="slidenum">
              <a:rPr lang="fr-MA" smtClean="0"/>
              <a:t>26</a:t>
            </a:fld>
            <a:endParaRPr lang="fr-MA"/>
          </a:p>
        </p:txBody>
      </p:sp>
    </p:spTree>
    <p:extLst>
      <p:ext uri="{BB962C8B-B14F-4D97-AF65-F5344CB8AC3E}">
        <p14:creationId xmlns:p14="http://schemas.microsoft.com/office/powerpoint/2010/main" val="301485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22.svg"/><Relationship Id="rId4" Type="http://schemas.openxmlformats.org/officeDocument/2006/relationships/image" Target="../media/image5.png"/><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7" Type="http://schemas.openxmlformats.org/officeDocument/2006/relationships/image" Target="../media/image22.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image" Target="../media/image1.sv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3.png"/><Relationship Id="rId4" Type="http://schemas.openxmlformats.org/officeDocument/2006/relationships/hyperlink" Target="http://localhost:3000/"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3.png"/><Relationship Id="rId4" Type="http://schemas.openxmlformats.org/officeDocument/2006/relationships/image" Target="../media/image30.jp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7" Type="http://schemas.openxmlformats.org/officeDocument/2006/relationships/image" Target="../media/image22.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39.png"/><Relationship Id="rId4" Type="http://schemas.openxmlformats.org/officeDocument/2006/relationships/image" Target="../media/image1.svg"/></Relationships>
</file>

<file path=ppt/slides/_rels/slide14.xml.rels><?xml version="1.0" encoding="UTF-8" standalone="yes"?>
<Relationships xmlns="http://schemas.openxmlformats.org/package/2006/relationships"><Relationship Id="rId7" Type="http://schemas.openxmlformats.org/officeDocument/2006/relationships/image" Target="../media/image22.sv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jpeg"/><Relationship Id="rId4" Type="http://schemas.openxmlformats.org/officeDocument/2006/relationships/image" Target="../media/image1.sv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44.jpg"/></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47.jpeg"/><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7" Type="http://schemas.openxmlformats.org/officeDocument/2006/relationships/image" Target="../media/image22.sv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8.png"/><Relationship Id="rId4" Type="http://schemas.openxmlformats.org/officeDocument/2006/relationships/image" Target="../media/image1.svg"/></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3.png"/><Relationship Id="rId4" Type="http://schemas.openxmlformats.org/officeDocument/2006/relationships/image" Target="../media/image1.svg"/></Relationships>
</file>

<file path=ppt/slides/_rels/slide25.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2.sv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57.jpeg"/><Relationship Id="rId4" Type="http://schemas.openxmlformats.org/officeDocument/2006/relationships/image" Target="../media/image1.svg"/></Relationships>
</file>

<file path=ppt/slides/_rels/slide26.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3.png"/><Relationship Id="rId4" Type="http://schemas.openxmlformats.org/officeDocument/2006/relationships/image" Target="../media/image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371" y="3164460"/>
            <a:ext cx="8074700" cy="2638404"/>
          </a:xfrm>
          <a:prstGeom prst="rect">
            <a:avLst/>
          </a:prstGeom>
        </p:spPr>
        <p:txBody>
          <a:bodyPr lIns="0" tIns="0" rIns="0" bIns="0" rtlCol="0" anchor="t">
            <a:spAutoFit/>
          </a:bodyPr>
          <a:lstStyle/>
          <a:p>
            <a:pPr marL="0" lvl="0" indent="0" algn="l">
              <a:lnSpc>
                <a:spcPts val="7021"/>
              </a:lnSpc>
            </a:pPr>
            <a:r>
              <a:rPr lang="en-US" sz="5015">
                <a:solidFill>
                  <a:srgbClr val="6D745F"/>
                </a:solidFill>
                <a:latin typeface="TAN Mon Cheri"/>
                <a:ea typeface="TAN Mon Cheri"/>
                <a:cs typeface="TAN Mon Cheri"/>
                <a:sym typeface="TAN Mon Cheri"/>
              </a:rPr>
              <a:t>AUDIT DE SÉCURITÉ</a:t>
            </a:r>
          </a:p>
          <a:p>
            <a:pPr marL="0" lvl="0" indent="0" algn="l">
              <a:lnSpc>
                <a:spcPts val="7021"/>
              </a:lnSpc>
            </a:pPr>
            <a:r>
              <a:rPr lang="en-US" sz="5015">
                <a:solidFill>
                  <a:srgbClr val="6D745F"/>
                </a:solidFill>
                <a:latin typeface="TAN Mon Cheri"/>
                <a:ea typeface="TAN Mon Cheri"/>
                <a:cs typeface="TAN Mon Cheri"/>
                <a:sym typeface="TAN Mon Cheri"/>
              </a:rPr>
              <a:t>OWASP JUICE SHOP</a:t>
            </a:r>
          </a:p>
        </p:txBody>
      </p:sp>
      <p:sp>
        <p:nvSpPr>
          <p:cNvPr id="3" name="AutoShape 3"/>
          <p:cNvSpPr/>
          <p:nvPr/>
        </p:nvSpPr>
        <p:spPr>
          <a:xfrm>
            <a:off x="3709198" y="5793340"/>
            <a:ext cx="3229880" cy="0"/>
          </a:xfrm>
          <a:prstGeom prst="line">
            <a:avLst/>
          </a:prstGeom>
          <a:ln w="19050" cap="flat">
            <a:solidFill>
              <a:srgbClr val="6D745F"/>
            </a:solidFill>
            <a:prstDash val="solid"/>
            <a:headEnd type="none" w="sm" len="sm"/>
            <a:tailEnd type="none" w="sm" len="sm"/>
          </a:ln>
        </p:spPr>
        <p:txBody>
          <a:bodyPr/>
          <a:lstStyle/>
          <a:p>
            <a:endParaRPr lang="fr-MA"/>
          </a:p>
        </p:txBody>
      </p:sp>
      <p:grpSp>
        <p:nvGrpSpPr>
          <p:cNvPr id="5" name="Group 5"/>
          <p:cNvGrpSpPr>
            <a:grpSpLocks noChangeAspect="1"/>
          </p:cNvGrpSpPr>
          <p:nvPr/>
        </p:nvGrpSpPr>
        <p:grpSpPr>
          <a:xfrm>
            <a:off x="10577101" y="2436627"/>
            <a:ext cx="5923072" cy="6732475"/>
            <a:chOff x="0" y="0"/>
            <a:chExt cx="4795520" cy="5450840"/>
          </a:xfrm>
        </p:grpSpPr>
        <p:sp>
          <p:nvSpPr>
            <p:cNvPr id="6" name="Freeform 6"/>
            <p:cNvSpPr/>
            <p:nvPr/>
          </p:nvSpPr>
          <p:spPr>
            <a:xfrm>
              <a:off x="0" y="0"/>
              <a:ext cx="4795520" cy="5450840"/>
            </a:xfrm>
            <a:custGeom>
              <a:avLst/>
              <a:gdLst/>
              <a:ahLst/>
              <a:cxnLst/>
              <a:rect l="l" t="t" r="r" b="b"/>
              <a:pathLst>
                <a:path w="4795520" h="5450840">
                  <a:moveTo>
                    <a:pt x="4795520" y="1606550"/>
                  </a:moveTo>
                  <a:cubicBezTo>
                    <a:pt x="4795520" y="718820"/>
                    <a:pt x="4075430" y="0"/>
                    <a:pt x="3188970" y="0"/>
                  </a:cubicBezTo>
                  <a:lnTo>
                    <a:pt x="0" y="0"/>
                  </a:lnTo>
                  <a:lnTo>
                    <a:pt x="0" y="1118870"/>
                  </a:lnTo>
                  <a:cubicBezTo>
                    <a:pt x="0" y="2006600"/>
                    <a:pt x="718820" y="2725420"/>
                    <a:pt x="1606550" y="2725420"/>
                  </a:cubicBezTo>
                  <a:lnTo>
                    <a:pt x="0" y="2725420"/>
                  </a:lnTo>
                  <a:lnTo>
                    <a:pt x="0" y="3844290"/>
                  </a:lnTo>
                  <a:cubicBezTo>
                    <a:pt x="0" y="4732020"/>
                    <a:pt x="718820" y="5450840"/>
                    <a:pt x="1606550" y="5450840"/>
                  </a:cubicBezTo>
                  <a:lnTo>
                    <a:pt x="4795520" y="5450840"/>
                  </a:lnTo>
                  <a:lnTo>
                    <a:pt x="4795520" y="4331970"/>
                  </a:lnTo>
                  <a:cubicBezTo>
                    <a:pt x="4795520" y="3444240"/>
                    <a:pt x="4076700" y="2725420"/>
                    <a:pt x="3188970" y="2725420"/>
                  </a:cubicBezTo>
                  <a:lnTo>
                    <a:pt x="4795520" y="2725420"/>
                  </a:lnTo>
                  <a:lnTo>
                    <a:pt x="4795520" y="1606550"/>
                  </a:lnTo>
                  <a:close/>
                </a:path>
              </a:pathLst>
            </a:custGeom>
            <a:blipFill>
              <a:blip r:embed="rId3"/>
              <a:stretch>
                <a:fillRect t="-4391" b="-4391"/>
              </a:stretch>
            </a:blipFill>
          </p:spPr>
          <p:txBody>
            <a:bodyPr/>
            <a:lstStyle/>
            <a:p>
              <a:endParaRPr lang="fr-MA"/>
            </a:p>
          </p:txBody>
        </p:sp>
      </p:grpSp>
      <p:sp>
        <p:nvSpPr>
          <p:cNvPr id="7" name="Freeform 7"/>
          <p:cNvSpPr/>
          <p:nvPr/>
        </p:nvSpPr>
        <p:spPr>
          <a:xfrm>
            <a:off x="0" y="0"/>
            <a:ext cx="7418395" cy="1838591"/>
          </a:xfrm>
          <a:custGeom>
            <a:avLst/>
            <a:gdLst/>
            <a:ahLst/>
            <a:cxnLst/>
            <a:rect l="l" t="t" r="r" b="b"/>
            <a:pathLst>
              <a:path w="7418395" h="1838591">
                <a:moveTo>
                  <a:pt x="0" y="0"/>
                </a:moveTo>
                <a:lnTo>
                  <a:pt x="7418395" y="0"/>
                </a:lnTo>
                <a:lnTo>
                  <a:pt x="7418395" y="1838591"/>
                </a:lnTo>
                <a:lnTo>
                  <a:pt x="0" y="1838591"/>
                </a:lnTo>
                <a:lnTo>
                  <a:pt x="0" y="0"/>
                </a:lnTo>
                <a:close/>
              </a:path>
            </a:pathLst>
          </a:custGeom>
          <a:blipFill>
            <a:blip r:embed="rId4"/>
            <a:stretch>
              <a:fillRect/>
            </a:stretch>
          </a:blipFill>
        </p:spPr>
        <p:txBody>
          <a:bodyPr/>
          <a:lstStyle/>
          <a:p>
            <a:endParaRPr lang="fr-MA"/>
          </a:p>
        </p:txBody>
      </p:sp>
      <p:sp>
        <p:nvSpPr>
          <p:cNvPr id="8" name="TextBox 8"/>
          <p:cNvSpPr txBox="1"/>
          <p:nvPr/>
        </p:nvSpPr>
        <p:spPr>
          <a:xfrm>
            <a:off x="1028700" y="8629860"/>
            <a:ext cx="8845432" cy="646750"/>
          </a:xfrm>
          <a:prstGeom prst="rect">
            <a:avLst/>
          </a:prstGeom>
        </p:spPr>
        <p:txBody>
          <a:bodyPr lIns="0" tIns="0" rIns="0" bIns="0" rtlCol="0" anchor="t">
            <a:spAutoFit/>
          </a:bodyPr>
          <a:lstStyle/>
          <a:p>
            <a:pPr marL="0" lvl="0" indent="0" algn="l">
              <a:lnSpc>
                <a:spcPts val="2677"/>
              </a:lnSpc>
            </a:pPr>
            <a:r>
              <a:rPr lang="en-US" sz="1912">
                <a:solidFill>
                  <a:srgbClr val="6D745F"/>
                </a:solidFill>
                <a:latin typeface="TAN Mon Cheri"/>
                <a:ea typeface="TAN Mon Cheri"/>
                <a:cs typeface="TAN Mon Cheri"/>
                <a:sym typeface="TAN Mon Cheri"/>
              </a:rPr>
              <a:t>WISSAL MOKDAD &amp; HAFSSA AZARG | PROF. MOHAMMED CHINY | EMSI 2025</a:t>
            </a:r>
          </a:p>
        </p:txBody>
      </p:sp>
      <p:sp>
        <p:nvSpPr>
          <p:cNvPr id="9" name="Freeform 11"/>
          <p:cNvSpPr/>
          <p:nvPr/>
        </p:nvSpPr>
        <p:spPr>
          <a:xfrm>
            <a:off x="6615113" y="4728104"/>
            <a:ext cx="2314989" cy="2149519"/>
          </a:xfrm>
          <a:custGeom>
            <a:avLst/>
            <a:gdLst/>
            <a:ahLst/>
            <a:cxnLst/>
            <a:rect l="l" t="t" r="r" b="b"/>
            <a:pathLst>
              <a:path w="854119" h="854119">
                <a:moveTo>
                  <a:pt x="0" y="0"/>
                </a:moveTo>
                <a:lnTo>
                  <a:pt x="854119" y="0"/>
                </a:lnTo>
                <a:lnTo>
                  <a:pt x="854119" y="854118"/>
                </a:lnTo>
                <a:lnTo>
                  <a:pt x="0" y="85411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422084" y="8629457"/>
            <a:ext cx="0" cy="2305592"/>
          </a:xfrm>
          <a:prstGeom prst="line">
            <a:avLst/>
          </a:prstGeom>
          <a:ln w="9525" cap="flat">
            <a:solidFill>
              <a:srgbClr val="6D745F"/>
            </a:solidFill>
            <a:prstDash val="solid"/>
            <a:headEnd type="none" w="sm" len="sm"/>
            <a:tailEnd type="none" w="sm" len="sm"/>
          </a:ln>
        </p:spPr>
        <p:txBody>
          <a:bodyPr/>
          <a:lstStyle/>
          <a:p>
            <a:endParaRPr lang="fr-MA"/>
          </a:p>
        </p:txBody>
      </p:sp>
      <p:sp>
        <p:nvSpPr>
          <p:cNvPr id="3" name="TextBox 3"/>
          <p:cNvSpPr txBox="1"/>
          <p:nvPr/>
        </p:nvSpPr>
        <p:spPr>
          <a:xfrm>
            <a:off x="1168927" y="913096"/>
            <a:ext cx="6751521" cy="2562650"/>
          </a:xfrm>
          <a:prstGeom prst="rect">
            <a:avLst/>
          </a:prstGeom>
        </p:spPr>
        <p:txBody>
          <a:bodyPr lIns="0" tIns="0" rIns="0" bIns="0" rtlCol="0" anchor="t">
            <a:spAutoFit/>
          </a:bodyPr>
          <a:lstStyle/>
          <a:p>
            <a:pPr marL="0" lvl="0" indent="0" algn="l">
              <a:lnSpc>
                <a:spcPts val="10280"/>
              </a:lnSpc>
            </a:pPr>
            <a:r>
              <a:rPr lang="en-US" sz="7343">
                <a:solidFill>
                  <a:srgbClr val="6D745F"/>
                </a:solidFill>
                <a:latin typeface="TAN Mon Cheri"/>
                <a:ea typeface="TAN Mon Cheri"/>
                <a:cs typeface="TAN Mon Cheri"/>
                <a:sym typeface="TAN Mon Cheri"/>
              </a:rPr>
              <a:t>Plan de la présentation</a:t>
            </a:r>
          </a:p>
        </p:txBody>
      </p:sp>
      <p:sp>
        <p:nvSpPr>
          <p:cNvPr id="4" name="Freeform 4"/>
          <p:cNvSpPr/>
          <p:nvPr/>
        </p:nvSpPr>
        <p:spPr>
          <a:xfrm>
            <a:off x="3589737" y="4648238"/>
            <a:ext cx="349783" cy="364472"/>
          </a:xfrm>
          <a:custGeom>
            <a:avLst/>
            <a:gdLst/>
            <a:ahLst/>
            <a:cxnLst/>
            <a:rect l="l" t="t" r="r" b="b"/>
            <a:pathLst>
              <a:path w="349783" h="364472">
                <a:moveTo>
                  <a:pt x="0" y="0"/>
                </a:moveTo>
                <a:lnTo>
                  <a:pt x="349783" y="0"/>
                </a:lnTo>
                <a:lnTo>
                  <a:pt x="349783" y="364473"/>
                </a:lnTo>
                <a:lnTo>
                  <a:pt x="0" y="364473"/>
                </a:lnTo>
                <a:lnTo>
                  <a:pt x="0" y="0"/>
                </a:lnTo>
                <a:close/>
              </a:path>
            </a:pathLst>
          </a:custGeom>
          <a:blipFill>
            <a:blip r:embed="rId3"/>
            <a:stretch>
              <a:fillRect/>
            </a:stretch>
          </a:blipFill>
        </p:spPr>
        <p:txBody>
          <a:bodyPr/>
          <a:lstStyle/>
          <a:p>
            <a:endParaRPr lang="fr-MA"/>
          </a:p>
        </p:txBody>
      </p:sp>
      <p:sp>
        <p:nvSpPr>
          <p:cNvPr id="5" name="Freeform 5"/>
          <p:cNvSpPr/>
          <p:nvPr/>
        </p:nvSpPr>
        <p:spPr>
          <a:xfrm>
            <a:off x="3589737" y="7199664"/>
            <a:ext cx="349783" cy="349103"/>
          </a:xfrm>
          <a:custGeom>
            <a:avLst/>
            <a:gdLst/>
            <a:ahLst/>
            <a:cxnLst/>
            <a:rect l="l" t="t" r="r" b="b"/>
            <a:pathLst>
              <a:path w="349783" h="349103">
                <a:moveTo>
                  <a:pt x="0" y="0"/>
                </a:moveTo>
                <a:lnTo>
                  <a:pt x="349783" y="0"/>
                </a:lnTo>
                <a:lnTo>
                  <a:pt x="349783" y="349103"/>
                </a:lnTo>
                <a:lnTo>
                  <a:pt x="0" y="349103"/>
                </a:lnTo>
                <a:lnTo>
                  <a:pt x="0" y="0"/>
                </a:lnTo>
                <a:close/>
              </a:path>
            </a:pathLst>
          </a:custGeom>
          <a:blipFill>
            <a:blip r:embed="rId4"/>
            <a:stretch>
              <a:fillRect/>
            </a:stretch>
          </a:blipFill>
        </p:spPr>
        <p:txBody>
          <a:bodyPr/>
          <a:lstStyle/>
          <a:p>
            <a:endParaRPr lang="fr-MA"/>
          </a:p>
        </p:txBody>
      </p:sp>
      <p:sp>
        <p:nvSpPr>
          <p:cNvPr id="6" name="Freeform 6"/>
          <p:cNvSpPr/>
          <p:nvPr/>
        </p:nvSpPr>
        <p:spPr>
          <a:xfrm>
            <a:off x="10570118" y="5781596"/>
            <a:ext cx="349783" cy="693466"/>
          </a:xfrm>
          <a:custGeom>
            <a:avLst/>
            <a:gdLst/>
            <a:ahLst/>
            <a:cxnLst/>
            <a:rect l="l" t="t" r="r" b="b"/>
            <a:pathLst>
              <a:path w="349783" h="693466">
                <a:moveTo>
                  <a:pt x="0" y="0"/>
                </a:moveTo>
                <a:lnTo>
                  <a:pt x="349784" y="0"/>
                </a:lnTo>
                <a:lnTo>
                  <a:pt x="349784" y="693466"/>
                </a:lnTo>
                <a:lnTo>
                  <a:pt x="0" y="693466"/>
                </a:lnTo>
                <a:lnTo>
                  <a:pt x="0" y="0"/>
                </a:lnTo>
                <a:close/>
              </a:path>
            </a:pathLst>
          </a:custGeom>
          <a:blipFill>
            <a:blip r:embed="rId5"/>
            <a:stretch>
              <a:fillRect/>
            </a:stretch>
          </a:blipFill>
        </p:spPr>
        <p:txBody>
          <a:bodyPr/>
          <a:lstStyle/>
          <a:p>
            <a:endParaRPr lang="fr-MA"/>
          </a:p>
        </p:txBody>
      </p:sp>
      <p:sp>
        <p:nvSpPr>
          <p:cNvPr id="7" name="Freeform 7"/>
          <p:cNvSpPr/>
          <p:nvPr/>
        </p:nvSpPr>
        <p:spPr>
          <a:xfrm>
            <a:off x="3589737" y="5953437"/>
            <a:ext cx="349783" cy="349783"/>
          </a:xfrm>
          <a:custGeom>
            <a:avLst/>
            <a:gdLst/>
            <a:ahLst/>
            <a:cxnLst/>
            <a:rect l="l" t="t" r="r" b="b"/>
            <a:pathLst>
              <a:path w="349783" h="349783">
                <a:moveTo>
                  <a:pt x="0" y="0"/>
                </a:moveTo>
                <a:lnTo>
                  <a:pt x="349783" y="0"/>
                </a:lnTo>
                <a:lnTo>
                  <a:pt x="349783" y="349784"/>
                </a:lnTo>
                <a:lnTo>
                  <a:pt x="0" y="349784"/>
                </a:lnTo>
                <a:lnTo>
                  <a:pt x="0" y="0"/>
                </a:lnTo>
                <a:close/>
              </a:path>
            </a:pathLst>
          </a:custGeom>
          <a:blipFill>
            <a:blip r:embed="rId6"/>
            <a:stretch>
              <a:fillRect/>
            </a:stretch>
          </a:blipFill>
        </p:spPr>
        <p:txBody>
          <a:bodyPr/>
          <a:lstStyle/>
          <a:p>
            <a:endParaRPr lang="fr-MA"/>
          </a:p>
        </p:txBody>
      </p:sp>
      <p:sp>
        <p:nvSpPr>
          <p:cNvPr id="8" name="Freeform 8"/>
          <p:cNvSpPr/>
          <p:nvPr/>
        </p:nvSpPr>
        <p:spPr>
          <a:xfrm>
            <a:off x="10592246" y="4741893"/>
            <a:ext cx="305528" cy="303069"/>
          </a:xfrm>
          <a:custGeom>
            <a:avLst/>
            <a:gdLst/>
            <a:ahLst/>
            <a:cxnLst/>
            <a:rect l="l" t="t" r="r" b="b"/>
            <a:pathLst>
              <a:path w="305528" h="303069">
                <a:moveTo>
                  <a:pt x="0" y="0"/>
                </a:moveTo>
                <a:lnTo>
                  <a:pt x="305528" y="0"/>
                </a:lnTo>
                <a:lnTo>
                  <a:pt x="305528" y="303069"/>
                </a:lnTo>
                <a:lnTo>
                  <a:pt x="0" y="303069"/>
                </a:lnTo>
                <a:lnTo>
                  <a:pt x="0" y="0"/>
                </a:lnTo>
                <a:close/>
              </a:path>
            </a:pathLst>
          </a:custGeom>
          <a:blipFill>
            <a:blip r:embed="rId7"/>
            <a:stretch>
              <a:fillRect/>
            </a:stretch>
          </a:blipFill>
        </p:spPr>
        <p:txBody>
          <a:bodyPr/>
          <a:lstStyle/>
          <a:p>
            <a:endParaRPr lang="fr-MA"/>
          </a:p>
        </p:txBody>
      </p:sp>
      <p:sp>
        <p:nvSpPr>
          <p:cNvPr id="9" name="Freeform 9"/>
          <p:cNvSpPr/>
          <p:nvPr/>
        </p:nvSpPr>
        <p:spPr>
          <a:xfrm>
            <a:off x="10547991" y="7374215"/>
            <a:ext cx="349783" cy="354687"/>
          </a:xfrm>
          <a:custGeom>
            <a:avLst/>
            <a:gdLst/>
            <a:ahLst/>
            <a:cxnLst/>
            <a:rect l="l" t="t" r="r" b="b"/>
            <a:pathLst>
              <a:path w="349783" h="354687">
                <a:moveTo>
                  <a:pt x="0" y="0"/>
                </a:moveTo>
                <a:lnTo>
                  <a:pt x="349783" y="0"/>
                </a:lnTo>
                <a:lnTo>
                  <a:pt x="349783" y="354687"/>
                </a:lnTo>
                <a:lnTo>
                  <a:pt x="0" y="354687"/>
                </a:lnTo>
                <a:lnTo>
                  <a:pt x="0" y="0"/>
                </a:lnTo>
                <a:close/>
              </a:path>
            </a:pathLst>
          </a:custGeom>
          <a:blipFill>
            <a:blip r:embed="rId8"/>
            <a:stretch>
              <a:fillRect/>
            </a:stretch>
          </a:blipFill>
        </p:spPr>
        <p:txBody>
          <a:bodyPr/>
          <a:lstStyle/>
          <a:p>
            <a:endParaRPr lang="fr-MA"/>
          </a:p>
        </p:txBody>
      </p:sp>
      <p:sp>
        <p:nvSpPr>
          <p:cNvPr id="10" name="TextBox 10"/>
          <p:cNvSpPr txBox="1"/>
          <p:nvPr/>
        </p:nvSpPr>
        <p:spPr>
          <a:xfrm>
            <a:off x="4194904" y="4591088"/>
            <a:ext cx="5212926" cy="547529"/>
          </a:xfrm>
          <a:prstGeom prst="rect">
            <a:avLst/>
          </a:prstGeom>
        </p:spPr>
        <p:txBody>
          <a:bodyPr lIns="0" tIns="0" rIns="0" bIns="0" rtlCol="0" anchor="t">
            <a:spAutoFit/>
          </a:bodyPr>
          <a:lstStyle/>
          <a:p>
            <a:pPr marL="0" lvl="0" indent="0" algn="l">
              <a:lnSpc>
                <a:spcPts val="4599"/>
              </a:lnSpc>
            </a:pPr>
            <a:r>
              <a:rPr lang="en-US" sz="3285">
                <a:solidFill>
                  <a:srgbClr val="000000"/>
                </a:solidFill>
                <a:latin typeface="TS Tarek"/>
                <a:ea typeface="TS Tarek"/>
                <a:cs typeface="TS Tarek"/>
                <a:sym typeface="TS Tarek"/>
              </a:rPr>
              <a:t>Introduction</a:t>
            </a:r>
          </a:p>
        </p:txBody>
      </p:sp>
      <p:sp>
        <p:nvSpPr>
          <p:cNvPr id="11" name="TextBox 11"/>
          <p:cNvSpPr txBox="1"/>
          <p:nvPr/>
        </p:nvSpPr>
        <p:spPr>
          <a:xfrm>
            <a:off x="4194904" y="5982268"/>
            <a:ext cx="4883802" cy="575230"/>
          </a:xfrm>
          <a:prstGeom prst="rect">
            <a:avLst/>
          </a:prstGeom>
        </p:spPr>
        <p:txBody>
          <a:bodyPr lIns="0" tIns="0" rIns="0" bIns="0" rtlCol="0" anchor="t">
            <a:spAutoFit/>
          </a:bodyPr>
          <a:lstStyle/>
          <a:p>
            <a:pPr marL="0" lvl="0" indent="0" algn="l">
              <a:lnSpc>
                <a:spcPts val="4769"/>
              </a:lnSpc>
            </a:pPr>
            <a:r>
              <a:rPr lang="en-US" sz="3406">
                <a:solidFill>
                  <a:srgbClr val="000000"/>
                </a:solidFill>
                <a:latin typeface="TS Tarek"/>
                <a:ea typeface="TS Tarek"/>
                <a:cs typeface="TS Tarek"/>
                <a:sym typeface="TS Tarek"/>
              </a:rPr>
              <a:t>Contexte</a:t>
            </a:r>
          </a:p>
        </p:txBody>
      </p:sp>
      <p:sp>
        <p:nvSpPr>
          <p:cNvPr id="12" name="TextBox 12"/>
          <p:cNvSpPr txBox="1"/>
          <p:nvPr/>
        </p:nvSpPr>
        <p:spPr>
          <a:xfrm>
            <a:off x="4194904" y="7246427"/>
            <a:ext cx="4709251" cy="547529"/>
          </a:xfrm>
          <a:prstGeom prst="rect">
            <a:avLst/>
          </a:prstGeom>
        </p:spPr>
        <p:txBody>
          <a:bodyPr lIns="0" tIns="0" rIns="0" bIns="0" rtlCol="0" anchor="t">
            <a:spAutoFit/>
          </a:bodyPr>
          <a:lstStyle/>
          <a:p>
            <a:pPr marL="0" lvl="0" indent="0" algn="l">
              <a:lnSpc>
                <a:spcPts val="4599"/>
              </a:lnSpc>
            </a:pPr>
            <a:r>
              <a:rPr lang="en-US" sz="3285">
                <a:solidFill>
                  <a:srgbClr val="000000"/>
                </a:solidFill>
                <a:latin typeface="TS Tarek"/>
                <a:ea typeface="TS Tarek"/>
                <a:cs typeface="TS Tarek"/>
                <a:sym typeface="TS Tarek"/>
              </a:rPr>
              <a:t>Objectifs</a:t>
            </a:r>
          </a:p>
        </p:txBody>
      </p:sp>
      <p:sp>
        <p:nvSpPr>
          <p:cNvPr id="13" name="TextBox 13"/>
          <p:cNvSpPr txBox="1"/>
          <p:nvPr/>
        </p:nvSpPr>
        <p:spPr>
          <a:xfrm>
            <a:off x="11154949" y="4581563"/>
            <a:ext cx="4884143" cy="575266"/>
          </a:xfrm>
          <a:prstGeom prst="rect">
            <a:avLst/>
          </a:prstGeom>
        </p:spPr>
        <p:txBody>
          <a:bodyPr lIns="0" tIns="0" rIns="0" bIns="0" rtlCol="0" anchor="t">
            <a:spAutoFit/>
          </a:bodyPr>
          <a:lstStyle/>
          <a:p>
            <a:pPr marL="0" lvl="0" indent="0" algn="l">
              <a:lnSpc>
                <a:spcPts val="4770"/>
              </a:lnSpc>
            </a:pPr>
            <a:r>
              <a:rPr lang="en-US" sz="3407">
                <a:solidFill>
                  <a:srgbClr val="000000"/>
                </a:solidFill>
                <a:latin typeface="TS Tarek"/>
                <a:ea typeface="TS Tarek"/>
                <a:cs typeface="TS Tarek"/>
                <a:sym typeface="TS Tarek"/>
              </a:rPr>
              <a:t>Architecture</a:t>
            </a:r>
          </a:p>
        </p:txBody>
      </p:sp>
      <p:sp>
        <p:nvSpPr>
          <p:cNvPr id="14" name="TextBox 14"/>
          <p:cNvSpPr txBox="1"/>
          <p:nvPr/>
        </p:nvSpPr>
        <p:spPr>
          <a:xfrm>
            <a:off x="11154949" y="5960861"/>
            <a:ext cx="4709251" cy="547529"/>
          </a:xfrm>
          <a:prstGeom prst="rect">
            <a:avLst/>
          </a:prstGeom>
        </p:spPr>
        <p:txBody>
          <a:bodyPr lIns="0" tIns="0" rIns="0" bIns="0" rtlCol="0" anchor="t">
            <a:spAutoFit/>
          </a:bodyPr>
          <a:lstStyle/>
          <a:p>
            <a:pPr marL="0" lvl="0" indent="0" algn="l">
              <a:lnSpc>
                <a:spcPts val="4599"/>
              </a:lnSpc>
            </a:pPr>
            <a:r>
              <a:rPr lang="en-US" sz="3285">
                <a:solidFill>
                  <a:srgbClr val="000000"/>
                </a:solidFill>
                <a:latin typeface="TS Tarek"/>
                <a:ea typeface="TS Tarek"/>
                <a:cs typeface="TS Tarek"/>
                <a:sym typeface="TS Tarek"/>
              </a:rPr>
              <a:t>Méthodologie</a:t>
            </a:r>
          </a:p>
        </p:txBody>
      </p:sp>
      <p:sp>
        <p:nvSpPr>
          <p:cNvPr id="15" name="TextBox 15"/>
          <p:cNvSpPr txBox="1"/>
          <p:nvPr/>
        </p:nvSpPr>
        <p:spPr>
          <a:xfrm>
            <a:off x="11154949" y="7249219"/>
            <a:ext cx="4709251" cy="547529"/>
          </a:xfrm>
          <a:prstGeom prst="rect">
            <a:avLst/>
          </a:prstGeom>
        </p:spPr>
        <p:txBody>
          <a:bodyPr lIns="0" tIns="0" rIns="0" bIns="0" rtlCol="0" anchor="t">
            <a:spAutoFit/>
          </a:bodyPr>
          <a:lstStyle/>
          <a:p>
            <a:pPr marL="0" lvl="0" indent="0" algn="l">
              <a:lnSpc>
                <a:spcPts val="4599"/>
              </a:lnSpc>
            </a:pPr>
            <a:r>
              <a:rPr lang="en-US" sz="3285">
                <a:solidFill>
                  <a:srgbClr val="000000"/>
                </a:solidFill>
                <a:latin typeface="TS Tarek"/>
                <a:ea typeface="TS Tarek"/>
                <a:cs typeface="TS Tarek"/>
                <a:sym typeface="TS Tarek"/>
              </a:rPr>
              <a:t>Outils</a:t>
            </a:r>
          </a:p>
        </p:txBody>
      </p:sp>
      <p:sp>
        <p:nvSpPr>
          <p:cNvPr id="16" name="Freeform 11"/>
          <p:cNvSpPr/>
          <p:nvPr/>
        </p:nvSpPr>
        <p:spPr>
          <a:xfrm>
            <a:off x="10626113" y="2215588"/>
            <a:ext cx="2708887" cy="1466822"/>
          </a:xfrm>
          <a:custGeom>
            <a:avLst/>
            <a:gdLst/>
            <a:ahLst/>
            <a:cxnLst/>
            <a:rect l="l" t="t" r="r" b="b"/>
            <a:pathLst>
              <a:path w="854119" h="854119">
                <a:moveTo>
                  <a:pt x="0" y="0"/>
                </a:moveTo>
                <a:lnTo>
                  <a:pt x="854119" y="0"/>
                </a:lnTo>
                <a:lnTo>
                  <a:pt x="854119" y="854118"/>
                </a:lnTo>
                <a:lnTo>
                  <a:pt x="0" y="854118"/>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17" name="AutoShape 3"/>
          <p:cNvSpPr/>
          <p:nvPr/>
        </p:nvSpPr>
        <p:spPr>
          <a:xfrm>
            <a:off x="9753599" y="2933700"/>
            <a:ext cx="1688269" cy="15299"/>
          </a:xfrm>
          <a:prstGeom prst="line">
            <a:avLst/>
          </a:prstGeom>
          <a:ln w="19050" cap="flat">
            <a:solidFill>
              <a:srgbClr val="6D745F"/>
            </a:solidFill>
            <a:prstDash val="solid"/>
            <a:headEnd type="none" w="sm" len="sm"/>
            <a:tailEnd type="none" w="sm" len="sm"/>
          </a:ln>
        </p:spPr>
        <p:txBody>
          <a:bodyPr/>
          <a:lstStyle/>
          <a:p>
            <a:endParaRPr lang="fr-MA"/>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334198"/>
            <a:ext cx="7841609" cy="1494910"/>
          </a:xfrm>
          <a:prstGeom prst="rect">
            <a:avLst/>
          </a:prstGeom>
        </p:spPr>
        <p:txBody>
          <a:bodyPr lIns="0" tIns="0" rIns="0" bIns="0" rtlCol="0" anchor="t">
            <a:spAutoFit/>
          </a:bodyPr>
          <a:lstStyle/>
          <a:p>
            <a:pPr marL="0" lvl="0" indent="0" algn="l">
              <a:lnSpc>
                <a:spcPts val="6020"/>
              </a:lnSpc>
            </a:pPr>
            <a:r>
              <a:rPr lang="en-US" sz="4013" dirty="0">
                <a:solidFill>
                  <a:srgbClr val="6D745F"/>
                </a:solidFill>
                <a:latin typeface="TAN Mon Cheri"/>
                <a:ea typeface="TAN Mon Cheri"/>
                <a:cs typeface="TAN Mon Cheri"/>
                <a:sym typeface="TAN Mon Cheri"/>
              </a:rPr>
              <a:t>CONTEXTE &amp;</a:t>
            </a:r>
          </a:p>
          <a:p>
            <a:pPr marL="0" lvl="0" indent="0" algn="l">
              <a:lnSpc>
                <a:spcPts val="6020"/>
              </a:lnSpc>
            </a:pPr>
            <a:r>
              <a:rPr lang="en-US" sz="4013" dirty="0">
                <a:solidFill>
                  <a:srgbClr val="6D745F"/>
                </a:solidFill>
                <a:latin typeface="TAN Mon Cheri"/>
                <a:ea typeface="TAN Mon Cheri"/>
                <a:cs typeface="TAN Mon Cheri"/>
                <a:sym typeface="TAN Mon Cheri"/>
              </a:rPr>
              <a:t>INTRODUCTION</a:t>
            </a:r>
          </a:p>
        </p:txBody>
      </p:sp>
      <p:sp>
        <p:nvSpPr>
          <p:cNvPr id="3" name="TextBox 3"/>
          <p:cNvSpPr txBox="1"/>
          <p:nvPr/>
        </p:nvSpPr>
        <p:spPr>
          <a:xfrm>
            <a:off x="1028700" y="3396089"/>
            <a:ext cx="7334654" cy="2184400"/>
          </a:xfrm>
          <a:prstGeom prst="rect">
            <a:avLst/>
          </a:prstGeom>
        </p:spPr>
        <p:txBody>
          <a:bodyPr lIns="0" tIns="0" rIns="0" bIns="0" rtlCol="0" anchor="t">
            <a:spAutoFit/>
          </a:bodyPr>
          <a:lstStyle/>
          <a:p>
            <a:pPr marL="0" lvl="0" indent="0" algn="l">
              <a:lnSpc>
                <a:spcPts val="3500"/>
              </a:lnSpc>
            </a:pPr>
            <a:r>
              <a:rPr lang="en-US" sz="2500">
                <a:solidFill>
                  <a:srgbClr val="000000"/>
                </a:solidFill>
                <a:latin typeface="TS Tarek"/>
                <a:ea typeface="TS Tarek"/>
                <a:cs typeface="TS Tarek"/>
                <a:sym typeface="TS Tarek"/>
              </a:rPr>
              <a:t>Cybersécurité : Enjeu majeur mondial</a:t>
            </a:r>
          </a:p>
          <a:p>
            <a:pPr marL="0" lvl="0" indent="0" algn="l">
              <a:lnSpc>
                <a:spcPts val="3500"/>
              </a:lnSpc>
            </a:pPr>
            <a:r>
              <a:rPr lang="en-US" sz="2500">
                <a:solidFill>
                  <a:srgbClr val="000000"/>
                </a:solidFill>
                <a:latin typeface="TS Tarek"/>
                <a:ea typeface="TS Tarek"/>
                <a:cs typeface="TS Tarek"/>
                <a:sym typeface="TS Tarek"/>
              </a:rPr>
              <a:t>• Croissance exponentielle des cyberattaques ciblant les applications web et les infrastructures critiques</a:t>
            </a:r>
          </a:p>
          <a:p>
            <a:pPr marL="0" lvl="0" indent="0" algn="l">
              <a:lnSpc>
                <a:spcPts val="3500"/>
              </a:lnSpc>
            </a:pPr>
            <a:r>
              <a:rPr lang="en-US" sz="2500">
                <a:solidFill>
                  <a:srgbClr val="000000"/>
                </a:solidFill>
                <a:latin typeface="TS Tarek"/>
                <a:ea typeface="TS Tarek"/>
                <a:cs typeface="TS Tarek"/>
                <a:sym typeface="TS Tarek"/>
              </a:rPr>
              <a:t>• OWASP Top 10 : référence mondiale pour identifier les vulnérabilités les plus critiques</a:t>
            </a:r>
          </a:p>
        </p:txBody>
      </p:sp>
      <p:sp>
        <p:nvSpPr>
          <p:cNvPr id="4" name="TextBox 4"/>
          <p:cNvSpPr txBox="1"/>
          <p:nvPr/>
        </p:nvSpPr>
        <p:spPr>
          <a:xfrm>
            <a:off x="1028700" y="5903955"/>
            <a:ext cx="7334654" cy="2622550"/>
          </a:xfrm>
          <a:prstGeom prst="rect">
            <a:avLst/>
          </a:prstGeom>
        </p:spPr>
        <p:txBody>
          <a:bodyPr lIns="0" tIns="0" rIns="0" bIns="0" rtlCol="0" anchor="t">
            <a:spAutoFit/>
          </a:bodyPr>
          <a:lstStyle/>
          <a:p>
            <a:pPr marL="0" lvl="0" indent="0" algn="l">
              <a:lnSpc>
                <a:spcPts val="3500"/>
              </a:lnSpc>
            </a:pPr>
            <a:r>
              <a:rPr lang="en-US" sz="2500" dirty="0">
                <a:solidFill>
                  <a:srgbClr val="000000"/>
                </a:solidFill>
                <a:latin typeface="TS Tarek"/>
                <a:ea typeface="TS Tarek"/>
                <a:cs typeface="TS Tarek"/>
                <a:sym typeface="TS Tarek"/>
              </a:rPr>
              <a:t>• </a:t>
            </a:r>
            <a:r>
              <a:rPr lang="en-US" sz="2500" dirty="0" err="1">
                <a:solidFill>
                  <a:srgbClr val="000000"/>
                </a:solidFill>
                <a:latin typeface="TS Tarek"/>
                <a:ea typeface="TS Tarek"/>
                <a:cs typeface="TS Tarek"/>
                <a:sym typeface="TS Tarek"/>
              </a:rPr>
              <a:t>Vulnérabilités</a:t>
            </a:r>
            <a:r>
              <a:rPr lang="en-US" sz="2500" dirty="0">
                <a:solidFill>
                  <a:srgbClr val="000000"/>
                </a:solidFill>
                <a:latin typeface="TS Tarek"/>
                <a:ea typeface="TS Tarek"/>
                <a:cs typeface="TS Tarek"/>
                <a:sym typeface="TS Tarek"/>
              </a:rPr>
              <a:t> </a:t>
            </a:r>
            <a:r>
              <a:rPr lang="en-US" sz="2500" dirty="0" err="1">
                <a:solidFill>
                  <a:srgbClr val="000000"/>
                </a:solidFill>
                <a:latin typeface="TS Tarek"/>
                <a:ea typeface="TS Tarek"/>
                <a:cs typeface="TS Tarek"/>
                <a:sym typeface="TS Tarek"/>
              </a:rPr>
              <a:t>fréquentes</a:t>
            </a:r>
            <a:r>
              <a:rPr lang="en-US" sz="2500" dirty="0">
                <a:solidFill>
                  <a:srgbClr val="000000"/>
                </a:solidFill>
                <a:latin typeface="TS Tarek"/>
                <a:ea typeface="TS Tarek"/>
                <a:cs typeface="TS Tarek"/>
                <a:sym typeface="TS Tarek"/>
              </a:rPr>
              <a:t> dans les applications web : injection SQL, XSS, </a:t>
            </a:r>
            <a:r>
              <a:rPr lang="en-US" sz="2500" dirty="0" err="1">
                <a:solidFill>
                  <a:srgbClr val="000000"/>
                </a:solidFill>
                <a:latin typeface="TS Tarek"/>
                <a:ea typeface="TS Tarek"/>
                <a:cs typeface="TS Tarek"/>
                <a:sym typeface="TS Tarek"/>
              </a:rPr>
              <a:t>authentification</a:t>
            </a:r>
            <a:r>
              <a:rPr lang="en-US" sz="2500" dirty="0">
                <a:solidFill>
                  <a:srgbClr val="000000"/>
                </a:solidFill>
                <a:latin typeface="TS Tarek"/>
                <a:ea typeface="TS Tarek"/>
                <a:cs typeface="TS Tarek"/>
                <a:sym typeface="TS Tarek"/>
              </a:rPr>
              <a:t> </a:t>
            </a:r>
            <a:r>
              <a:rPr lang="en-US" sz="2500" dirty="0" err="1">
                <a:solidFill>
                  <a:srgbClr val="000000"/>
                </a:solidFill>
                <a:latin typeface="TS Tarek"/>
                <a:ea typeface="TS Tarek"/>
                <a:cs typeface="TS Tarek"/>
                <a:sym typeface="TS Tarek"/>
              </a:rPr>
              <a:t>défaillante</a:t>
            </a:r>
            <a:endParaRPr lang="en-US" sz="2500" dirty="0">
              <a:solidFill>
                <a:srgbClr val="000000"/>
              </a:solidFill>
              <a:latin typeface="TS Tarek"/>
              <a:ea typeface="TS Tarek"/>
              <a:cs typeface="TS Tarek"/>
              <a:sym typeface="TS Tarek"/>
            </a:endParaRPr>
          </a:p>
          <a:p>
            <a:pPr marL="0" lvl="0" indent="0" algn="l">
              <a:lnSpc>
                <a:spcPts val="3500"/>
              </a:lnSpc>
            </a:pPr>
            <a:r>
              <a:rPr lang="en-US" sz="2500" dirty="0">
                <a:solidFill>
                  <a:srgbClr val="000000"/>
                </a:solidFill>
                <a:latin typeface="TS Tarek"/>
                <a:ea typeface="TS Tarek"/>
                <a:cs typeface="TS Tarek"/>
                <a:sym typeface="TS Tarek"/>
              </a:rPr>
              <a:t>• </a:t>
            </a:r>
            <a:r>
              <a:rPr lang="en-US" sz="2500" dirty="0" err="1">
                <a:solidFill>
                  <a:srgbClr val="000000"/>
                </a:solidFill>
                <a:latin typeface="TS Tarek"/>
                <a:ea typeface="TS Tarek"/>
                <a:cs typeface="TS Tarek"/>
                <a:sym typeface="TS Tarek"/>
              </a:rPr>
              <a:t>Nécessité</a:t>
            </a:r>
            <a:r>
              <a:rPr lang="en-US" sz="2500" dirty="0">
                <a:solidFill>
                  <a:srgbClr val="000000"/>
                </a:solidFill>
                <a:latin typeface="TS Tarek"/>
                <a:ea typeface="TS Tarek"/>
                <a:cs typeface="TS Tarek"/>
                <a:sym typeface="TS Tarek"/>
              </a:rPr>
              <a:t> </a:t>
            </a:r>
            <a:r>
              <a:rPr lang="en-US" sz="2500" dirty="0" err="1">
                <a:solidFill>
                  <a:srgbClr val="000000"/>
                </a:solidFill>
                <a:latin typeface="TS Tarek"/>
                <a:ea typeface="TS Tarek"/>
                <a:cs typeface="TS Tarek"/>
                <a:sym typeface="TS Tarek"/>
              </a:rPr>
              <a:t>d'audits</a:t>
            </a:r>
            <a:r>
              <a:rPr lang="en-US" sz="2500" dirty="0">
                <a:solidFill>
                  <a:srgbClr val="000000"/>
                </a:solidFill>
                <a:latin typeface="TS Tarek"/>
                <a:ea typeface="TS Tarek"/>
                <a:cs typeface="TS Tarek"/>
                <a:sym typeface="TS Tarek"/>
              </a:rPr>
              <a:t> </a:t>
            </a:r>
            <a:r>
              <a:rPr lang="en-US" sz="2500" dirty="0" err="1">
                <a:solidFill>
                  <a:srgbClr val="000000"/>
                </a:solidFill>
                <a:latin typeface="TS Tarek"/>
                <a:ea typeface="TS Tarek"/>
                <a:cs typeface="TS Tarek"/>
                <a:sym typeface="TS Tarek"/>
              </a:rPr>
              <a:t>réguliers</a:t>
            </a:r>
            <a:r>
              <a:rPr lang="en-US" sz="2500" dirty="0">
                <a:solidFill>
                  <a:srgbClr val="000000"/>
                </a:solidFill>
                <a:latin typeface="TS Tarek"/>
                <a:ea typeface="TS Tarek"/>
                <a:cs typeface="TS Tarek"/>
                <a:sym typeface="TS Tarek"/>
              </a:rPr>
              <a:t> et de </a:t>
            </a:r>
            <a:r>
              <a:rPr lang="en-US" sz="2500" dirty="0" err="1">
                <a:solidFill>
                  <a:srgbClr val="000000"/>
                </a:solidFill>
                <a:latin typeface="TS Tarek"/>
                <a:ea typeface="TS Tarek"/>
                <a:cs typeface="TS Tarek"/>
                <a:sym typeface="TS Tarek"/>
              </a:rPr>
              <a:t>stratégies</a:t>
            </a:r>
            <a:r>
              <a:rPr lang="en-US" sz="2500" dirty="0">
                <a:solidFill>
                  <a:srgbClr val="000000"/>
                </a:solidFill>
                <a:latin typeface="TS Tarek"/>
                <a:ea typeface="TS Tarek"/>
                <a:cs typeface="TS Tarek"/>
                <a:sym typeface="TS Tarek"/>
              </a:rPr>
              <a:t> de </a:t>
            </a:r>
            <a:r>
              <a:rPr lang="en-US" sz="2500" dirty="0" err="1">
                <a:solidFill>
                  <a:srgbClr val="000000"/>
                </a:solidFill>
                <a:latin typeface="TS Tarek"/>
                <a:ea typeface="TS Tarek"/>
                <a:cs typeface="TS Tarek"/>
                <a:sym typeface="TS Tarek"/>
              </a:rPr>
              <a:t>remédiation</a:t>
            </a:r>
            <a:r>
              <a:rPr lang="en-US" sz="2500" dirty="0">
                <a:solidFill>
                  <a:srgbClr val="000000"/>
                </a:solidFill>
                <a:latin typeface="TS Tarek"/>
                <a:ea typeface="TS Tarek"/>
                <a:cs typeface="TS Tarek"/>
                <a:sym typeface="TS Tarek"/>
              </a:rPr>
              <a:t> </a:t>
            </a:r>
            <a:r>
              <a:rPr lang="en-US" sz="2500" dirty="0" err="1">
                <a:solidFill>
                  <a:srgbClr val="000000"/>
                </a:solidFill>
                <a:latin typeface="TS Tarek"/>
                <a:ea typeface="TS Tarek"/>
                <a:cs typeface="TS Tarek"/>
                <a:sym typeface="TS Tarek"/>
              </a:rPr>
              <a:t>proactives</a:t>
            </a:r>
            <a:endParaRPr lang="en-US" sz="2500" dirty="0">
              <a:solidFill>
                <a:srgbClr val="000000"/>
              </a:solidFill>
              <a:latin typeface="TS Tarek"/>
              <a:ea typeface="TS Tarek"/>
              <a:cs typeface="TS Tarek"/>
              <a:sym typeface="TS Tarek"/>
            </a:endParaRPr>
          </a:p>
          <a:p>
            <a:pPr marL="0" lvl="0" indent="0" algn="l">
              <a:lnSpc>
                <a:spcPts val="3500"/>
              </a:lnSpc>
            </a:pPr>
            <a:r>
              <a:rPr lang="en-US" sz="2500" dirty="0">
                <a:solidFill>
                  <a:srgbClr val="000000"/>
                </a:solidFill>
                <a:latin typeface="TS Tarek"/>
                <a:ea typeface="TS Tarek"/>
                <a:cs typeface="TS Tarek"/>
                <a:sym typeface="TS Tarek"/>
              </a:rPr>
              <a:t>• Protection des données </a:t>
            </a:r>
            <a:r>
              <a:rPr lang="en-US" sz="2500" dirty="0" err="1">
                <a:solidFill>
                  <a:srgbClr val="000000"/>
                </a:solidFill>
                <a:latin typeface="TS Tarek"/>
                <a:ea typeface="TS Tarek"/>
                <a:cs typeface="TS Tarek"/>
                <a:sym typeface="TS Tarek"/>
              </a:rPr>
              <a:t>sensibles</a:t>
            </a:r>
            <a:r>
              <a:rPr lang="en-US" sz="2500" dirty="0">
                <a:solidFill>
                  <a:srgbClr val="000000"/>
                </a:solidFill>
                <a:latin typeface="TS Tarek"/>
                <a:ea typeface="TS Tarek"/>
                <a:cs typeface="TS Tarek"/>
                <a:sym typeface="TS Tarek"/>
              </a:rPr>
              <a:t> et </a:t>
            </a:r>
            <a:r>
              <a:rPr lang="en-US" sz="2500" dirty="0" err="1">
                <a:solidFill>
                  <a:srgbClr val="000000"/>
                </a:solidFill>
                <a:latin typeface="TS Tarek"/>
                <a:ea typeface="TS Tarek"/>
                <a:cs typeface="TS Tarek"/>
                <a:sym typeface="TS Tarek"/>
              </a:rPr>
              <a:t>conformité</a:t>
            </a:r>
            <a:r>
              <a:rPr lang="en-US" sz="2500" dirty="0">
                <a:solidFill>
                  <a:srgbClr val="000000"/>
                </a:solidFill>
                <a:latin typeface="TS Tarek"/>
                <a:ea typeface="TS Tarek"/>
                <a:cs typeface="TS Tarek"/>
                <a:sym typeface="TS Tarek"/>
              </a:rPr>
              <a:t> </a:t>
            </a:r>
            <a:r>
              <a:rPr lang="en-US" sz="2500" dirty="0" err="1">
                <a:solidFill>
                  <a:srgbClr val="000000"/>
                </a:solidFill>
                <a:latin typeface="TS Tarek"/>
                <a:ea typeface="TS Tarek"/>
                <a:cs typeface="TS Tarek"/>
                <a:sym typeface="TS Tarek"/>
              </a:rPr>
              <a:t>réglementaire</a:t>
            </a:r>
            <a:endParaRPr lang="en-US" sz="2500" dirty="0">
              <a:solidFill>
                <a:srgbClr val="000000"/>
              </a:solidFill>
              <a:latin typeface="TS Tarek"/>
              <a:ea typeface="TS Tarek"/>
              <a:cs typeface="TS Tarek"/>
              <a:sym typeface="TS Tarek"/>
            </a:endParaRPr>
          </a:p>
        </p:txBody>
      </p:sp>
      <p:grpSp>
        <p:nvGrpSpPr>
          <p:cNvPr id="5" name="Group 5"/>
          <p:cNvGrpSpPr>
            <a:grpSpLocks noChangeAspect="1"/>
          </p:cNvGrpSpPr>
          <p:nvPr/>
        </p:nvGrpSpPr>
        <p:grpSpPr>
          <a:xfrm>
            <a:off x="10896600" y="2476500"/>
            <a:ext cx="5622711" cy="5646426"/>
            <a:chOff x="0" y="0"/>
            <a:chExt cx="6323330" cy="6350000"/>
          </a:xfrm>
        </p:grpSpPr>
        <p:sp>
          <p:nvSpPr>
            <p:cNvPr id="6" name="Freeform 6"/>
            <p:cNvSpPr/>
            <p:nvPr/>
          </p:nvSpPr>
          <p:spPr>
            <a:xfrm>
              <a:off x="0" y="0"/>
              <a:ext cx="6323330" cy="6350000"/>
            </a:xfrm>
            <a:custGeom>
              <a:avLst/>
              <a:gdLst/>
              <a:ahLst/>
              <a:cxnLst/>
              <a:rect l="l" t="t" r="r" b="b"/>
              <a:pathLst>
                <a:path w="6323330" h="6350000">
                  <a:moveTo>
                    <a:pt x="6320790" y="2887980"/>
                  </a:moveTo>
                  <a:lnTo>
                    <a:pt x="6320790" y="1596390"/>
                  </a:lnTo>
                  <a:cubicBezTo>
                    <a:pt x="6320790" y="715010"/>
                    <a:pt x="5605780" y="0"/>
                    <a:pt x="4724400" y="0"/>
                  </a:cubicBezTo>
                  <a:lnTo>
                    <a:pt x="4724400" y="0"/>
                  </a:lnTo>
                  <a:cubicBezTo>
                    <a:pt x="3967480" y="0"/>
                    <a:pt x="3314700" y="530860"/>
                    <a:pt x="3161030" y="1271270"/>
                  </a:cubicBezTo>
                  <a:cubicBezTo>
                    <a:pt x="3006090" y="530860"/>
                    <a:pt x="2353310" y="0"/>
                    <a:pt x="1596390" y="0"/>
                  </a:cubicBezTo>
                  <a:lnTo>
                    <a:pt x="1596390" y="0"/>
                  </a:lnTo>
                  <a:cubicBezTo>
                    <a:pt x="715010" y="0"/>
                    <a:pt x="0" y="715010"/>
                    <a:pt x="0" y="1596390"/>
                  </a:cubicBezTo>
                  <a:lnTo>
                    <a:pt x="0" y="3462020"/>
                  </a:lnTo>
                  <a:lnTo>
                    <a:pt x="2540" y="3462020"/>
                  </a:lnTo>
                  <a:lnTo>
                    <a:pt x="2540" y="4752340"/>
                  </a:lnTo>
                  <a:cubicBezTo>
                    <a:pt x="2540" y="5634990"/>
                    <a:pt x="717550" y="6350000"/>
                    <a:pt x="1598930" y="6350000"/>
                  </a:cubicBezTo>
                  <a:lnTo>
                    <a:pt x="1598930" y="6350000"/>
                  </a:lnTo>
                  <a:cubicBezTo>
                    <a:pt x="2354580" y="6350000"/>
                    <a:pt x="3007360" y="5819140"/>
                    <a:pt x="3162300" y="5078730"/>
                  </a:cubicBezTo>
                  <a:cubicBezTo>
                    <a:pt x="3317240" y="5819140"/>
                    <a:pt x="3970020" y="6350000"/>
                    <a:pt x="4726940" y="6350000"/>
                  </a:cubicBezTo>
                  <a:lnTo>
                    <a:pt x="4726940" y="6350000"/>
                  </a:lnTo>
                  <a:cubicBezTo>
                    <a:pt x="5608320" y="6350000"/>
                    <a:pt x="6323330" y="5634990"/>
                    <a:pt x="6323330" y="4753610"/>
                  </a:cubicBezTo>
                  <a:lnTo>
                    <a:pt x="6323330" y="2887980"/>
                  </a:lnTo>
                  <a:lnTo>
                    <a:pt x="6320790" y="2887980"/>
                  </a:lnTo>
                  <a:close/>
                </a:path>
              </a:pathLst>
            </a:custGeom>
            <a:blipFill>
              <a:blip r:embed="rId3"/>
              <a:stretch>
                <a:fillRect l="-210" r="-210"/>
              </a:stretch>
            </a:blipFill>
          </p:spPr>
          <p:txBody>
            <a:bodyPr/>
            <a:lstStyle/>
            <a:p>
              <a:endParaRPr lang="fr-MA"/>
            </a:p>
          </p:txBody>
        </p:sp>
      </p:grpSp>
      <p:sp>
        <p:nvSpPr>
          <p:cNvPr id="9" name="AutoShape 9"/>
          <p:cNvSpPr/>
          <p:nvPr/>
        </p:nvSpPr>
        <p:spPr>
          <a:xfrm flipV="1">
            <a:off x="997022" y="9254563"/>
            <a:ext cx="15746573" cy="0"/>
          </a:xfrm>
          <a:prstGeom prst="line">
            <a:avLst/>
          </a:prstGeom>
          <a:ln w="9525" cap="flat">
            <a:solidFill>
              <a:srgbClr val="6D745F"/>
            </a:solidFill>
            <a:prstDash val="solid"/>
            <a:headEnd type="none" w="sm" len="sm"/>
            <a:tailEnd type="none" w="sm" len="sm"/>
          </a:ln>
        </p:spPr>
        <p:txBody>
          <a:bodyPr/>
          <a:lstStyle/>
          <a:p>
            <a:endParaRPr lang="fr-MA"/>
          </a:p>
        </p:txBody>
      </p:sp>
      <p:sp>
        <p:nvSpPr>
          <p:cNvPr id="10" name="Freeform 10"/>
          <p:cNvSpPr/>
          <p:nvPr/>
        </p:nvSpPr>
        <p:spPr>
          <a:xfrm>
            <a:off x="16227891" y="8742595"/>
            <a:ext cx="1031409" cy="1031409"/>
          </a:xfrm>
          <a:custGeom>
            <a:avLst/>
            <a:gdLst/>
            <a:ahLst/>
            <a:cxnLst/>
            <a:rect l="l" t="t" r="r" b="b"/>
            <a:pathLst>
              <a:path w="1031409" h="1031409">
                <a:moveTo>
                  <a:pt x="0" y="0"/>
                </a:moveTo>
                <a:lnTo>
                  <a:pt x="1031409" y="0"/>
                </a:lnTo>
                <a:lnTo>
                  <a:pt x="1031409" y="1031410"/>
                </a:lnTo>
                <a:lnTo>
                  <a:pt x="0" y="1031410"/>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fr-MA"/>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316052" y="2227660"/>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Présentation du projet</a:t>
            </a:r>
          </a:p>
        </p:txBody>
      </p:sp>
      <p:sp>
        <p:nvSpPr>
          <p:cNvPr id="3" name="TextBox 3"/>
          <p:cNvSpPr txBox="1"/>
          <p:nvPr/>
        </p:nvSpPr>
        <p:spPr>
          <a:xfrm>
            <a:off x="2316052" y="3013368"/>
            <a:ext cx="6317644" cy="2371769"/>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OWASP Juice Shop : Application volontairement vulnérable</a:t>
            </a:r>
          </a:p>
          <a:p>
            <a:pPr marL="0" lvl="0" indent="0" algn="l">
              <a:lnSpc>
                <a:spcPts val="3140"/>
              </a:lnSpc>
            </a:pPr>
            <a:r>
              <a:rPr lang="en-US" sz="2243">
                <a:solidFill>
                  <a:srgbClr val="000000"/>
                </a:solidFill>
                <a:latin typeface="TS Tarek"/>
                <a:ea typeface="TS Tarek"/>
                <a:cs typeface="TS Tarek"/>
                <a:sym typeface="TS Tarek"/>
              </a:rPr>
              <a:t>Plateforme de référence pour les tests de pentesting et l'apprentissage de la sécurité applicative. Conçue par OWASP, elle intègre intentionnellement des failles de sécurité réalistes.</a:t>
            </a:r>
          </a:p>
        </p:txBody>
      </p:sp>
      <p:sp>
        <p:nvSpPr>
          <p:cNvPr id="4" name="TextBox 4"/>
          <p:cNvSpPr txBox="1"/>
          <p:nvPr/>
        </p:nvSpPr>
        <p:spPr>
          <a:xfrm>
            <a:off x="2316052" y="6155857"/>
            <a:ext cx="6317644" cy="2371769"/>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 Simulation d'attaques réelles en environnement contrôlé</a:t>
            </a:r>
          </a:p>
          <a:p>
            <a:pPr marL="0" lvl="0" indent="0" algn="l">
              <a:lnSpc>
                <a:spcPts val="3140"/>
              </a:lnSpc>
            </a:pPr>
            <a:r>
              <a:rPr lang="en-US" sz="2243">
                <a:solidFill>
                  <a:srgbClr val="000000"/>
                </a:solidFill>
                <a:latin typeface="TS Tarek"/>
                <a:ea typeface="TS Tarek"/>
                <a:cs typeface="TS Tarek"/>
                <a:sym typeface="TS Tarek"/>
              </a:rPr>
              <a:t>• Audit complet de sécurité pour formation académique</a:t>
            </a:r>
          </a:p>
          <a:p>
            <a:pPr marL="0" lvl="0" indent="0" algn="l">
              <a:lnSpc>
                <a:spcPts val="3140"/>
              </a:lnSpc>
            </a:pPr>
            <a:r>
              <a:rPr lang="en-US" sz="2243">
                <a:solidFill>
                  <a:srgbClr val="000000"/>
                </a:solidFill>
                <a:latin typeface="TS Tarek"/>
                <a:ea typeface="TS Tarek"/>
                <a:cs typeface="TS Tarek"/>
                <a:sym typeface="TS Tarek"/>
              </a:rPr>
              <a:t>• Identification et exploitation des vulnérabilités web courantes</a:t>
            </a:r>
          </a:p>
        </p:txBody>
      </p:sp>
      <p:sp>
        <p:nvSpPr>
          <p:cNvPr id="5" name="Freeform 5"/>
          <p:cNvSpPr/>
          <p:nvPr/>
        </p:nvSpPr>
        <p:spPr>
          <a:xfrm>
            <a:off x="1352337" y="2282720"/>
            <a:ext cx="416829" cy="501528"/>
          </a:xfrm>
          <a:custGeom>
            <a:avLst/>
            <a:gdLst/>
            <a:ahLst/>
            <a:cxnLst/>
            <a:rect l="l" t="t" r="r" b="b"/>
            <a:pathLst>
              <a:path w="416829" h="501528">
                <a:moveTo>
                  <a:pt x="0" y="0"/>
                </a:moveTo>
                <a:lnTo>
                  <a:pt x="416829" y="0"/>
                </a:lnTo>
                <a:lnTo>
                  <a:pt x="416829" y="501528"/>
                </a:lnTo>
                <a:lnTo>
                  <a:pt x="0" y="501528"/>
                </a:lnTo>
                <a:lnTo>
                  <a:pt x="0" y="0"/>
                </a:lnTo>
                <a:close/>
              </a:path>
            </a:pathLst>
          </a:custGeom>
          <a:blipFill>
            <a:blip r:embed="rId3"/>
            <a:stretch>
              <a:fillRect/>
            </a:stretch>
          </a:blipFill>
        </p:spPr>
        <p:txBody>
          <a:bodyPr/>
          <a:lstStyle/>
          <a:p>
            <a:endParaRPr lang="fr-MA"/>
          </a:p>
        </p:txBody>
      </p:sp>
      <p:sp>
        <p:nvSpPr>
          <p:cNvPr id="6" name="AutoShape 6"/>
          <p:cNvSpPr/>
          <p:nvPr/>
        </p:nvSpPr>
        <p:spPr>
          <a:xfrm flipV="1">
            <a:off x="997022" y="9254563"/>
            <a:ext cx="15746573" cy="0"/>
          </a:xfrm>
          <a:prstGeom prst="line">
            <a:avLst/>
          </a:prstGeom>
          <a:ln w="9525" cap="flat">
            <a:solidFill>
              <a:srgbClr val="6D745F"/>
            </a:solidFill>
            <a:prstDash val="solid"/>
            <a:headEnd type="none" w="sm" len="sm"/>
            <a:tailEnd type="none" w="sm" len="sm"/>
          </a:ln>
        </p:spPr>
        <p:txBody>
          <a:bodyPr/>
          <a:lstStyle/>
          <a:p>
            <a:endParaRPr lang="fr-MA"/>
          </a:p>
        </p:txBody>
      </p:sp>
      <p:sp>
        <p:nvSpPr>
          <p:cNvPr id="7" name="Freeform 7"/>
          <p:cNvSpPr/>
          <p:nvPr/>
        </p:nvSpPr>
        <p:spPr>
          <a:xfrm>
            <a:off x="16432815" y="8946781"/>
            <a:ext cx="618808" cy="618808"/>
          </a:xfrm>
          <a:custGeom>
            <a:avLst/>
            <a:gdLst/>
            <a:ahLst/>
            <a:cxnLst/>
            <a:rect l="l" t="t" r="r" b="b"/>
            <a:pathLst>
              <a:path w="618808" h="618808">
                <a:moveTo>
                  <a:pt x="0" y="0"/>
                </a:moveTo>
                <a:lnTo>
                  <a:pt x="618808" y="0"/>
                </a:lnTo>
                <a:lnTo>
                  <a:pt x="618808" y="618808"/>
                </a:lnTo>
                <a:lnTo>
                  <a:pt x="0" y="618808"/>
                </a:lnTo>
                <a:lnTo>
                  <a:pt x="0" y="0"/>
                </a:lnTo>
                <a:close/>
              </a:path>
            </a:pathLst>
          </a:custGeom>
          <a:blipFill>
            <a:blip r:embed="rId4"/>
            <a:stretch>
              <a:fillRect/>
            </a:stretch>
          </a:blipFill>
        </p:spPr>
        <p:txBody>
          <a:bodyPr/>
          <a:lstStyle/>
          <a:p>
            <a:endParaRPr lang="fr-MA"/>
          </a:p>
        </p:txBody>
      </p:sp>
      <p:grpSp>
        <p:nvGrpSpPr>
          <p:cNvPr id="8" name="Group 8"/>
          <p:cNvGrpSpPr>
            <a:grpSpLocks noChangeAspect="1"/>
          </p:cNvGrpSpPr>
          <p:nvPr/>
        </p:nvGrpSpPr>
        <p:grpSpPr>
          <a:xfrm>
            <a:off x="10136536" y="2284810"/>
            <a:ext cx="6153893" cy="6153893"/>
            <a:chOff x="0" y="0"/>
            <a:chExt cx="3331210" cy="3331210"/>
          </a:xfrm>
        </p:grpSpPr>
        <p:sp>
          <p:nvSpPr>
            <p:cNvPr id="9" name="Freeform 9"/>
            <p:cNvSpPr/>
            <p:nvPr/>
          </p:nvSpPr>
          <p:spPr>
            <a:xfrm>
              <a:off x="0" y="0"/>
              <a:ext cx="3331210" cy="3331210"/>
            </a:xfrm>
            <a:custGeom>
              <a:avLst/>
              <a:gdLst/>
              <a:ahLst/>
              <a:cxnLst/>
              <a:rect l="l" t="t" r="r" b="b"/>
              <a:pathLst>
                <a:path w="3331210" h="3331210">
                  <a:moveTo>
                    <a:pt x="0" y="3331210"/>
                  </a:moveTo>
                  <a:lnTo>
                    <a:pt x="0" y="0"/>
                  </a:lnTo>
                  <a:cubicBezTo>
                    <a:pt x="1840230" y="0"/>
                    <a:pt x="3331210" y="1490980"/>
                    <a:pt x="3331210" y="3331210"/>
                  </a:cubicBezTo>
                  <a:lnTo>
                    <a:pt x="0" y="3331210"/>
                  </a:lnTo>
                  <a:close/>
                </a:path>
              </a:pathLst>
            </a:custGeom>
            <a:blipFill>
              <a:blip r:embed="rId5"/>
              <a:stretch>
                <a:fillRect/>
              </a:stretch>
            </a:blipFill>
          </p:spPr>
          <p:txBody>
            <a:bodyPr/>
            <a:lstStyle/>
            <a:p>
              <a:endParaRPr lang="fr-MA"/>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42975"/>
            <a:ext cx="8388000" cy="688631"/>
          </a:xfrm>
          <a:prstGeom prst="rect">
            <a:avLst/>
          </a:prstGeom>
        </p:spPr>
        <p:txBody>
          <a:bodyPr lIns="0" tIns="0" rIns="0" bIns="0" rtlCol="0" anchor="t">
            <a:spAutoFit/>
          </a:bodyPr>
          <a:lstStyle/>
          <a:p>
            <a:pPr marL="0" lvl="0" indent="0" algn="l">
              <a:lnSpc>
                <a:spcPts val="5618"/>
              </a:lnSpc>
            </a:pPr>
            <a:r>
              <a:rPr lang="en-US" sz="4013">
                <a:solidFill>
                  <a:srgbClr val="6D745F"/>
                </a:solidFill>
                <a:latin typeface="TAN Mon Cheri"/>
                <a:ea typeface="TAN Mon Cheri"/>
                <a:cs typeface="TAN Mon Cheri"/>
                <a:sym typeface="TAN Mon Cheri"/>
              </a:rPr>
              <a:t>OBJECTIFS</a:t>
            </a:r>
          </a:p>
        </p:txBody>
      </p:sp>
      <p:sp>
        <p:nvSpPr>
          <p:cNvPr id="3" name="TextBox 3"/>
          <p:cNvSpPr txBox="1"/>
          <p:nvPr/>
        </p:nvSpPr>
        <p:spPr>
          <a:xfrm>
            <a:off x="2316052" y="2227660"/>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Identifier les vulnérabilités</a:t>
            </a:r>
          </a:p>
        </p:txBody>
      </p:sp>
      <p:sp>
        <p:nvSpPr>
          <p:cNvPr id="4" name="TextBox 4"/>
          <p:cNvSpPr txBox="1"/>
          <p:nvPr/>
        </p:nvSpPr>
        <p:spPr>
          <a:xfrm>
            <a:off x="10431352" y="2227660"/>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Exploiter les failles</a:t>
            </a:r>
          </a:p>
        </p:txBody>
      </p:sp>
      <p:sp>
        <p:nvSpPr>
          <p:cNvPr id="5" name="TextBox 5"/>
          <p:cNvSpPr txBox="1"/>
          <p:nvPr/>
        </p:nvSpPr>
        <p:spPr>
          <a:xfrm>
            <a:off x="2316052" y="5856573"/>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Proposer des solutions</a:t>
            </a:r>
          </a:p>
        </p:txBody>
      </p:sp>
      <p:sp>
        <p:nvSpPr>
          <p:cNvPr id="6" name="TextBox 6"/>
          <p:cNvSpPr txBox="1"/>
          <p:nvPr/>
        </p:nvSpPr>
        <p:spPr>
          <a:xfrm>
            <a:off x="10431352" y="5856573"/>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Cycle d'audit complet</a:t>
            </a:r>
          </a:p>
        </p:txBody>
      </p:sp>
      <p:sp>
        <p:nvSpPr>
          <p:cNvPr id="7" name="TextBox 7"/>
          <p:cNvSpPr txBox="1"/>
          <p:nvPr/>
        </p:nvSpPr>
        <p:spPr>
          <a:xfrm>
            <a:off x="2316052" y="3013368"/>
            <a:ext cx="6317644" cy="1578059"/>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Effectuer un scan approfondi de l'application OWASP Juice Shop pour détecter toutes les failles de sécurité potentielles. Utiliser des outils spécialisés comme OWASP ZAP pour une analyse complète.</a:t>
            </a:r>
          </a:p>
        </p:txBody>
      </p:sp>
      <p:sp>
        <p:nvSpPr>
          <p:cNvPr id="8" name="TextBox 8"/>
          <p:cNvSpPr txBox="1"/>
          <p:nvPr/>
        </p:nvSpPr>
        <p:spPr>
          <a:xfrm>
            <a:off x="10431352" y="3013368"/>
            <a:ext cx="6317644" cy="1578059"/>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Tester activement les vulnérabilités découvertes pour évaluer leur exploitabilité réelle. Simuler des attaques contrôlées pour mesurer l'impact potentiel sur le système.</a:t>
            </a:r>
          </a:p>
        </p:txBody>
      </p:sp>
      <p:sp>
        <p:nvSpPr>
          <p:cNvPr id="9" name="TextBox 9"/>
          <p:cNvSpPr txBox="1"/>
          <p:nvPr/>
        </p:nvSpPr>
        <p:spPr>
          <a:xfrm>
            <a:off x="2316052" y="6642280"/>
            <a:ext cx="6317644" cy="1578059"/>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Élaborer des recommandations concrètes et des correctifs adaptés pour chaque vulnérabilité identifiée. Prioriser les actions selon le niveau de risque.</a:t>
            </a:r>
          </a:p>
        </p:txBody>
      </p:sp>
      <p:sp>
        <p:nvSpPr>
          <p:cNvPr id="10" name="TextBox 10"/>
          <p:cNvSpPr txBox="1"/>
          <p:nvPr/>
        </p:nvSpPr>
        <p:spPr>
          <a:xfrm>
            <a:off x="10431352" y="6642280"/>
            <a:ext cx="6317644" cy="1181205"/>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Mettre en place un processus itératif d'amélioration continue de la sécurité. Valider les corrections et documenter les résultats pour référence future.</a:t>
            </a:r>
          </a:p>
        </p:txBody>
      </p:sp>
      <p:sp>
        <p:nvSpPr>
          <p:cNvPr id="11" name="Freeform 11"/>
          <p:cNvSpPr/>
          <p:nvPr/>
        </p:nvSpPr>
        <p:spPr>
          <a:xfrm>
            <a:off x="1290358" y="2239733"/>
            <a:ext cx="533629" cy="551925"/>
          </a:xfrm>
          <a:custGeom>
            <a:avLst/>
            <a:gdLst/>
            <a:ahLst/>
            <a:cxnLst/>
            <a:rect l="l" t="t" r="r" b="b"/>
            <a:pathLst>
              <a:path w="533629" h="551925">
                <a:moveTo>
                  <a:pt x="0" y="0"/>
                </a:moveTo>
                <a:lnTo>
                  <a:pt x="533629" y="0"/>
                </a:lnTo>
                <a:lnTo>
                  <a:pt x="533629" y="551925"/>
                </a:lnTo>
                <a:lnTo>
                  <a:pt x="0" y="551925"/>
                </a:lnTo>
                <a:lnTo>
                  <a:pt x="0" y="0"/>
                </a:lnTo>
                <a:close/>
              </a:path>
            </a:pathLst>
          </a:custGeom>
          <a:blipFill>
            <a:blip r:embed="rId3"/>
            <a:stretch>
              <a:fillRect/>
            </a:stretch>
          </a:blipFill>
        </p:spPr>
        <p:txBody>
          <a:bodyPr/>
          <a:lstStyle/>
          <a:p>
            <a:endParaRPr lang="fr-MA"/>
          </a:p>
        </p:txBody>
      </p:sp>
      <p:sp>
        <p:nvSpPr>
          <p:cNvPr id="12" name="Freeform 12"/>
          <p:cNvSpPr/>
          <p:nvPr/>
        </p:nvSpPr>
        <p:spPr>
          <a:xfrm>
            <a:off x="9480247" y="2330077"/>
            <a:ext cx="393044" cy="371722"/>
          </a:xfrm>
          <a:custGeom>
            <a:avLst/>
            <a:gdLst/>
            <a:ahLst/>
            <a:cxnLst/>
            <a:rect l="l" t="t" r="r" b="b"/>
            <a:pathLst>
              <a:path w="393044" h="371722">
                <a:moveTo>
                  <a:pt x="0" y="0"/>
                </a:moveTo>
                <a:lnTo>
                  <a:pt x="393044" y="0"/>
                </a:lnTo>
                <a:lnTo>
                  <a:pt x="393044" y="371722"/>
                </a:lnTo>
                <a:lnTo>
                  <a:pt x="0" y="371722"/>
                </a:lnTo>
                <a:lnTo>
                  <a:pt x="0" y="0"/>
                </a:lnTo>
                <a:close/>
              </a:path>
            </a:pathLst>
          </a:custGeom>
          <a:blipFill>
            <a:blip r:embed="rId4"/>
            <a:stretch>
              <a:fillRect/>
            </a:stretch>
          </a:blipFill>
        </p:spPr>
        <p:txBody>
          <a:bodyPr/>
          <a:lstStyle/>
          <a:p>
            <a:endParaRPr lang="fr-MA"/>
          </a:p>
        </p:txBody>
      </p:sp>
      <p:sp>
        <p:nvSpPr>
          <p:cNvPr id="13" name="Freeform 13"/>
          <p:cNvSpPr/>
          <p:nvPr/>
        </p:nvSpPr>
        <p:spPr>
          <a:xfrm>
            <a:off x="1351621" y="5901423"/>
            <a:ext cx="418595" cy="493501"/>
          </a:xfrm>
          <a:custGeom>
            <a:avLst/>
            <a:gdLst/>
            <a:ahLst/>
            <a:cxnLst/>
            <a:rect l="l" t="t" r="r" b="b"/>
            <a:pathLst>
              <a:path w="418595" h="493501">
                <a:moveTo>
                  <a:pt x="0" y="0"/>
                </a:moveTo>
                <a:lnTo>
                  <a:pt x="418595" y="0"/>
                </a:lnTo>
                <a:lnTo>
                  <a:pt x="418595" y="493502"/>
                </a:lnTo>
                <a:lnTo>
                  <a:pt x="0" y="493502"/>
                </a:lnTo>
                <a:lnTo>
                  <a:pt x="0" y="0"/>
                </a:lnTo>
                <a:close/>
              </a:path>
            </a:pathLst>
          </a:custGeom>
          <a:blipFill>
            <a:blip r:embed="rId5"/>
            <a:stretch>
              <a:fillRect/>
            </a:stretch>
          </a:blipFill>
        </p:spPr>
        <p:txBody>
          <a:bodyPr/>
          <a:lstStyle/>
          <a:p>
            <a:endParaRPr lang="fr-MA"/>
          </a:p>
        </p:txBody>
      </p:sp>
      <p:sp>
        <p:nvSpPr>
          <p:cNvPr id="14" name="Freeform 14"/>
          <p:cNvSpPr/>
          <p:nvPr/>
        </p:nvSpPr>
        <p:spPr>
          <a:xfrm>
            <a:off x="9468514" y="5912137"/>
            <a:ext cx="415415" cy="481641"/>
          </a:xfrm>
          <a:custGeom>
            <a:avLst/>
            <a:gdLst/>
            <a:ahLst/>
            <a:cxnLst/>
            <a:rect l="l" t="t" r="r" b="b"/>
            <a:pathLst>
              <a:path w="415415" h="481641">
                <a:moveTo>
                  <a:pt x="0" y="0"/>
                </a:moveTo>
                <a:lnTo>
                  <a:pt x="415415" y="0"/>
                </a:lnTo>
                <a:lnTo>
                  <a:pt x="415415" y="481641"/>
                </a:lnTo>
                <a:lnTo>
                  <a:pt x="0" y="481641"/>
                </a:lnTo>
                <a:lnTo>
                  <a:pt x="0" y="0"/>
                </a:lnTo>
                <a:close/>
              </a:path>
            </a:pathLst>
          </a:custGeom>
          <a:blipFill>
            <a:blip r:embed="rId6"/>
            <a:stretch>
              <a:fillRect/>
            </a:stretch>
          </a:blipFill>
        </p:spPr>
        <p:txBody>
          <a:bodyPr/>
          <a:lstStyle/>
          <a:p>
            <a:endParaRPr lang="fr-MA"/>
          </a:p>
        </p:txBody>
      </p:sp>
      <p:sp>
        <p:nvSpPr>
          <p:cNvPr id="15" name="AutoShape 15"/>
          <p:cNvSpPr/>
          <p:nvPr/>
        </p:nvSpPr>
        <p:spPr>
          <a:xfrm flipV="1">
            <a:off x="997022" y="9254563"/>
            <a:ext cx="15746573" cy="0"/>
          </a:xfrm>
          <a:prstGeom prst="line">
            <a:avLst/>
          </a:prstGeom>
          <a:ln w="9525" cap="flat">
            <a:solidFill>
              <a:srgbClr val="6D745F"/>
            </a:solidFill>
            <a:prstDash val="solid"/>
            <a:headEnd type="none" w="sm" len="sm"/>
            <a:tailEnd type="none" w="sm" len="sm"/>
          </a:ln>
        </p:spPr>
        <p:txBody>
          <a:bodyPr/>
          <a:lstStyle/>
          <a:p>
            <a:endParaRPr lang="fr-MA"/>
          </a:p>
        </p:txBody>
      </p:sp>
      <p:sp>
        <p:nvSpPr>
          <p:cNvPr id="16" name="Freeform 16"/>
          <p:cNvSpPr/>
          <p:nvPr/>
        </p:nvSpPr>
        <p:spPr>
          <a:xfrm>
            <a:off x="16444586" y="8959185"/>
            <a:ext cx="595254" cy="595254"/>
          </a:xfrm>
          <a:custGeom>
            <a:avLst/>
            <a:gdLst/>
            <a:ahLst/>
            <a:cxnLst/>
            <a:rect l="l" t="t" r="r" b="b"/>
            <a:pathLst>
              <a:path w="595254" h="595254">
                <a:moveTo>
                  <a:pt x="0" y="0"/>
                </a:moveTo>
                <a:lnTo>
                  <a:pt x="595254" y="0"/>
                </a:lnTo>
                <a:lnTo>
                  <a:pt x="595254" y="595254"/>
                </a:lnTo>
                <a:lnTo>
                  <a:pt x="0" y="595254"/>
                </a:lnTo>
                <a:lnTo>
                  <a:pt x="0" y="0"/>
                </a:lnTo>
                <a:close/>
              </a:path>
            </a:pathLst>
          </a:custGeom>
          <a:blipFill>
            <a:blip r:embed="rId7"/>
            <a:stretch>
              <a:fillRect/>
            </a:stretch>
          </a:blipFill>
        </p:spPr>
        <p:txBody>
          <a:bodyPr/>
          <a:lstStyle/>
          <a:p>
            <a:endParaRPr lang="fr-MA"/>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flipV="1">
            <a:off x="997022" y="9254563"/>
            <a:ext cx="15746573" cy="0"/>
          </a:xfrm>
          <a:prstGeom prst="line">
            <a:avLst/>
          </a:prstGeom>
          <a:ln w="9525" cap="flat">
            <a:solidFill>
              <a:srgbClr val="6D745F"/>
            </a:solidFill>
            <a:prstDash val="solid"/>
            <a:headEnd type="none" w="sm" len="sm"/>
            <a:tailEnd type="none" w="sm" len="sm"/>
          </a:ln>
        </p:spPr>
        <p:txBody>
          <a:bodyPr/>
          <a:lstStyle/>
          <a:p>
            <a:endParaRPr lang="fr-MA"/>
          </a:p>
        </p:txBody>
      </p:sp>
      <p:sp>
        <p:nvSpPr>
          <p:cNvPr id="4" name="Freeform 4"/>
          <p:cNvSpPr/>
          <p:nvPr/>
        </p:nvSpPr>
        <p:spPr>
          <a:xfrm>
            <a:off x="16227891" y="8742595"/>
            <a:ext cx="1031409" cy="1031409"/>
          </a:xfrm>
          <a:custGeom>
            <a:avLst/>
            <a:gdLst/>
            <a:ahLst/>
            <a:cxnLst/>
            <a:rect l="l" t="t" r="r" b="b"/>
            <a:pathLst>
              <a:path w="1031409" h="1031409">
                <a:moveTo>
                  <a:pt x="0" y="0"/>
                </a:moveTo>
                <a:lnTo>
                  <a:pt x="1031409" y="0"/>
                </a:lnTo>
                <a:lnTo>
                  <a:pt x="1031409" y="1031410"/>
                </a:lnTo>
                <a:lnTo>
                  <a:pt x="0" y="1031410"/>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fr-MA"/>
          </a:p>
        </p:txBody>
      </p:sp>
      <p:sp>
        <p:nvSpPr>
          <p:cNvPr id="5" name="Freeform 5"/>
          <p:cNvSpPr/>
          <p:nvPr/>
        </p:nvSpPr>
        <p:spPr>
          <a:xfrm>
            <a:off x="2983066" y="3792971"/>
            <a:ext cx="11301259" cy="3800048"/>
          </a:xfrm>
          <a:custGeom>
            <a:avLst/>
            <a:gdLst/>
            <a:ahLst/>
            <a:cxnLst/>
            <a:rect l="l" t="t" r="r" b="b"/>
            <a:pathLst>
              <a:path w="11301259" h="3800048">
                <a:moveTo>
                  <a:pt x="0" y="0"/>
                </a:moveTo>
                <a:lnTo>
                  <a:pt x="11301259" y="0"/>
                </a:lnTo>
                <a:lnTo>
                  <a:pt x="11301259" y="3800048"/>
                </a:lnTo>
                <a:lnTo>
                  <a:pt x="0" y="3800048"/>
                </a:lnTo>
                <a:lnTo>
                  <a:pt x="0" y="0"/>
                </a:lnTo>
                <a:close/>
              </a:path>
            </a:pathLst>
          </a:custGeom>
          <a:blipFill>
            <a:blip r:embed="rId5"/>
            <a:stretch>
              <a:fillRect/>
            </a:stretch>
          </a:blipFill>
        </p:spPr>
        <p:txBody>
          <a:bodyPr/>
          <a:lstStyle/>
          <a:p>
            <a:endParaRPr lang="fr-MA"/>
          </a:p>
        </p:txBody>
      </p:sp>
      <p:sp>
        <p:nvSpPr>
          <p:cNvPr id="6" name="TextBox 6"/>
          <p:cNvSpPr txBox="1"/>
          <p:nvPr/>
        </p:nvSpPr>
        <p:spPr>
          <a:xfrm>
            <a:off x="1028700" y="952500"/>
            <a:ext cx="8388000" cy="671254"/>
          </a:xfrm>
          <a:prstGeom prst="rect">
            <a:avLst/>
          </a:prstGeom>
        </p:spPr>
        <p:txBody>
          <a:bodyPr lIns="0" tIns="0" rIns="0" bIns="0" rtlCol="0" anchor="t">
            <a:spAutoFit/>
          </a:bodyPr>
          <a:lstStyle/>
          <a:p>
            <a:pPr marL="0" lvl="0" indent="0" algn="l">
              <a:lnSpc>
                <a:spcPts val="5526"/>
              </a:lnSpc>
            </a:pPr>
            <a:r>
              <a:rPr lang="en-US" sz="3947">
                <a:solidFill>
                  <a:srgbClr val="6D745F"/>
                </a:solidFill>
                <a:latin typeface="TAN Mon Cheri"/>
                <a:ea typeface="TAN Mon Cheri"/>
                <a:cs typeface="TAN Mon Cheri"/>
                <a:sym typeface="TAN Mon Cheri"/>
              </a:rPr>
              <a:t>ARCHITECTURE SYSTÈME</a:t>
            </a:r>
          </a:p>
        </p:txBody>
      </p:sp>
      <p:sp>
        <p:nvSpPr>
          <p:cNvPr id="7" name="TextBox 7"/>
          <p:cNvSpPr txBox="1"/>
          <p:nvPr/>
        </p:nvSpPr>
        <p:spPr>
          <a:xfrm>
            <a:off x="2316052" y="2237185"/>
            <a:ext cx="6317644" cy="452658"/>
          </a:xfrm>
          <a:prstGeom prst="rect">
            <a:avLst/>
          </a:prstGeom>
        </p:spPr>
        <p:txBody>
          <a:bodyPr lIns="0" tIns="0" rIns="0" bIns="0" rtlCol="0" anchor="t">
            <a:spAutoFit/>
          </a:bodyPr>
          <a:lstStyle/>
          <a:p>
            <a:pPr marL="0" lvl="0" indent="0" algn="l">
              <a:lnSpc>
                <a:spcPts val="3755"/>
              </a:lnSpc>
            </a:pPr>
            <a:r>
              <a:rPr lang="en-US" sz="2682">
                <a:solidFill>
                  <a:srgbClr val="000000"/>
                </a:solidFill>
                <a:latin typeface="TAN Mon Cheri"/>
                <a:ea typeface="TAN Mon Cheri"/>
                <a:cs typeface="TAN Mon Cheri"/>
                <a:sym typeface="TAN Mon Cheri"/>
              </a:rPr>
              <a:t>Flux de données et composants</a:t>
            </a:r>
          </a:p>
        </p:txBody>
      </p:sp>
      <p:sp>
        <p:nvSpPr>
          <p:cNvPr id="8" name="Freeform 11"/>
          <p:cNvSpPr/>
          <p:nvPr/>
        </p:nvSpPr>
        <p:spPr>
          <a:xfrm>
            <a:off x="304800" y="190500"/>
            <a:ext cx="854119" cy="854119"/>
          </a:xfrm>
          <a:custGeom>
            <a:avLst/>
            <a:gdLst/>
            <a:ahLst/>
            <a:cxnLst/>
            <a:rect l="l" t="t" r="r" b="b"/>
            <a:pathLst>
              <a:path w="854119" h="854119">
                <a:moveTo>
                  <a:pt x="0" y="0"/>
                </a:moveTo>
                <a:lnTo>
                  <a:pt x="854119" y="0"/>
                </a:lnTo>
                <a:lnTo>
                  <a:pt x="854119" y="854118"/>
                </a:lnTo>
                <a:lnTo>
                  <a:pt x="0" y="854118"/>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42975"/>
            <a:ext cx="8388000" cy="688631"/>
          </a:xfrm>
          <a:prstGeom prst="rect">
            <a:avLst/>
          </a:prstGeom>
        </p:spPr>
        <p:txBody>
          <a:bodyPr lIns="0" tIns="0" rIns="0" bIns="0" rtlCol="0" anchor="t">
            <a:spAutoFit/>
          </a:bodyPr>
          <a:lstStyle/>
          <a:p>
            <a:pPr marL="0" lvl="0" indent="0" algn="l">
              <a:lnSpc>
                <a:spcPts val="5618"/>
              </a:lnSpc>
            </a:pPr>
            <a:r>
              <a:rPr lang="en-US" sz="4013">
                <a:solidFill>
                  <a:srgbClr val="6D745F"/>
                </a:solidFill>
                <a:latin typeface="TAN Mon Cheri"/>
                <a:ea typeface="TAN Mon Cheri"/>
                <a:cs typeface="TAN Mon Cheri"/>
                <a:sym typeface="TAN Mon Cheri"/>
              </a:rPr>
              <a:t>MÉTHODOLOGIE</a:t>
            </a:r>
          </a:p>
        </p:txBody>
      </p:sp>
      <p:sp>
        <p:nvSpPr>
          <p:cNvPr id="3" name="TextBox 3"/>
          <p:cNvSpPr txBox="1"/>
          <p:nvPr/>
        </p:nvSpPr>
        <p:spPr>
          <a:xfrm>
            <a:off x="2316052" y="2227660"/>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Reconnaissance</a:t>
            </a:r>
          </a:p>
        </p:txBody>
      </p:sp>
      <p:sp>
        <p:nvSpPr>
          <p:cNvPr id="4" name="TextBox 4"/>
          <p:cNvSpPr txBox="1"/>
          <p:nvPr/>
        </p:nvSpPr>
        <p:spPr>
          <a:xfrm>
            <a:off x="10431352" y="2227660"/>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Scan OWASP ZAP</a:t>
            </a:r>
          </a:p>
        </p:txBody>
      </p:sp>
      <p:sp>
        <p:nvSpPr>
          <p:cNvPr id="5" name="TextBox 5"/>
          <p:cNvSpPr txBox="1"/>
          <p:nvPr/>
        </p:nvSpPr>
        <p:spPr>
          <a:xfrm>
            <a:off x="2316052" y="5856573"/>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Analyse des résultats</a:t>
            </a:r>
          </a:p>
        </p:txBody>
      </p:sp>
      <p:sp>
        <p:nvSpPr>
          <p:cNvPr id="6" name="TextBox 6"/>
          <p:cNvSpPr txBox="1"/>
          <p:nvPr/>
        </p:nvSpPr>
        <p:spPr>
          <a:xfrm>
            <a:off x="10431352" y="5856573"/>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Validation des failles</a:t>
            </a:r>
          </a:p>
        </p:txBody>
      </p:sp>
      <p:sp>
        <p:nvSpPr>
          <p:cNvPr id="7" name="TextBox 7"/>
          <p:cNvSpPr txBox="1"/>
          <p:nvPr/>
        </p:nvSpPr>
        <p:spPr>
          <a:xfrm>
            <a:off x="2316052" y="3013368"/>
            <a:ext cx="6317644" cy="1181205"/>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Collecte d'informations sur l'application cible. Identification des points d'entrée, des technologies utilisées et cartographie de la surface d'attaque.</a:t>
            </a:r>
          </a:p>
        </p:txBody>
      </p:sp>
      <p:sp>
        <p:nvSpPr>
          <p:cNvPr id="8" name="TextBox 8"/>
          <p:cNvSpPr txBox="1"/>
          <p:nvPr/>
        </p:nvSpPr>
        <p:spPr>
          <a:xfrm>
            <a:off x="10431352" y="3013368"/>
            <a:ext cx="6317644" cy="1181205"/>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Analyse automatisée avec OWASP ZAP pour détecter les vulnérabilités connues. Scan actif et passif des endpoints et formulaires de l'application.</a:t>
            </a:r>
          </a:p>
        </p:txBody>
      </p:sp>
      <p:sp>
        <p:nvSpPr>
          <p:cNvPr id="9" name="TextBox 9"/>
          <p:cNvSpPr txBox="1"/>
          <p:nvPr/>
        </p:nvSpPr>
        <p:spPr>
          <a:xfrm>
            <a:off x="2316052" y="6642280"/>
            <a:ext cx="6317644" cy="1181205"/>
          </a:xfrm>
          <a:prstGeom prst="rect">
            <a:avLst/>
          </a:prstGeom>
        </p:spPr>
        <p:txBody>
          <a:bodyPr lIns="0" tIns="0" rIns="0" bIns="0" rtlCol="0" anchor="t">
            <a:spAutoFit/>
          </a:bodyPr>
          <a:lstStyle/>
          <a:p>
            <a:pPr marL="0" lvl="0" indent="0" algn="l">
              <a:lnSpc>
                <a:spcPts val="3140"/>
              </a:lnSpc>
            </a:pPr>
            <a:r>
              <a:rPr lang="en-US" sz="2243" dirty="0">
                <a:solidFill>
                  <a:srgbClr val="000000"/>
                </a:solidFill>
                <a:latin typeface="TS Tarek"/>
                <a:ea typeface="TS Tarek"/>
                <a:cs typeface="TS Tarek"/>
                <a:sym typeface="TS Tarek"/>
              </a:rPr>
              <a:t>Tri et </a:t>
            </a:r>
            <a:r>
              <a:rPr lang="en-US" sz="2243" dirty="0" err="1">
                <a:solidFill>
                  <a:srgbClr val="000000"/>
                </a:solidFill>
                <a:latin typeface="TS Tarek"/>
                <a:ea typeface="TS Tarek"/>
                <a:cs typeface="TS Tarek"/>
                <a:sym typeface="TS Tarek"/>
              </a:rPr>
              <a:t>priorisation</a:t>
            </a:r>
            <a:r>
              <a:rPr lang="en-US" sz="2243" dirty="0">
                <a:solidFill>
                  <a:srgbClr val="000000"/>
                </a:solidFill>
                <a:latin typeface="TS Tarek"/>
                <a:ea typeface="TS Tarek"/>
                <a:cs typeface="TS Tarek"/>
                <a:sym typeface="TS Tarek"/>
              </a:rPr>
              <a:t> des </a:t>
            </a:r>
            <a:r>
              <a:rPr lang="en-US" sz="2243" dirty="0" err="1">
                <a:solidFill>
                  <a:srgbClr val="000000"/>
                </a:solidFill>
                <a:latin typeface="TS Tarek"/>
                <a:ea typeface="TS Tarek"/>
                <a:cs typeface="TS Tarek"/>
                <a:sym typeface="TS Tarek"/>
              </a:rPr>
              <a:t>alertes</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générées</a:t>
            </a:r>
            <a:r>
              <a:rPr lang="en-US" sz="2243" dirty="0">
                <a:solidFill>
                  <a:srgbClr val="000000"/>
                </a:solidFill>
                <a:latin typeface="TS Tarek"/>
                <a:ea typeface="TS Tarek"/>
                <a:cs typeface="TS Tarek"/>
                <a:sym typeface="TS Tarek"/>
              </a:rPr>
              <a:t>. Classification par </a:t>
            </a:r>
            <a:r>
              <a:rPr lang="en-US" sz="2243" dirty="0" err="1">
                <a:solidFill>
                  <a:srgbClr val="000000"/>
                </a:solidFill>
                <a:latin typeface="TS Tarek"/>
                <a:ea typeface="TS Tarek"/>
                <a:cs typeface="TS Tarek"/>
                <a:sym typeface="TS Tarek"/>
              </a:rPr>
              <a:t>niveau</a:t>
            </a:r>
            <a:r>
              <a:rPr lang="en-US" sz="2243" dirty="0">
                <a:solidFill>
                  <a:srgbClr val="000000"/>
                </a:solidFill>
                <a:latin typeface="TS Tarek"/>
                <a:ea typeface="TS Tarek"/>
                <a:cs typeface="TS Tarek"/>
                <a:sym typeface="TS Tarek"/>
              </a:rPr>
              <a:t> de </a:t>
            </a:r>
            <a:r>
              <a:rPr lang="en-US" sz="2243" dirty="0" err="1">
                <a:solidFill>
                  <a:srgbClr val="000000"/>
                </a:solidFill>
                <a:latin typeface="TS Tarek"/>
                <a:ea typeface="TS Tarek"/>
                <a:cs typeface="TS Tarek"/>
                <a:sym typeface="TS Tarek"/>
              </a:rPr>
              <a:t>criticité</a:t>
            </a:r>
            <a:r>
              <a:rPr lang="en-US" sz="2243" dirty="0">
                <a:solidFill>
                  <a:srgbClr val="000000"/>
                </a:solidFill>
                <a:latin typeface="TS Tarek"/>
                <a:ea typeface="TS Tarek"/>
                <a:cs typeface="TS Tarek"/>
                <a:sym typeface="TS Tarek"/>
              </a:rPr>
              <a:t> et </a:t>
            </a:r>
            <a:r>
              <a:rPr lang="en-US" sz="2243" dirty="0" err="1">
                <a:solidFill>
                  <a:srgbClr val="000000"/>
                </a:solidFill>
                <a:latin typeface="TS Tarek"/>
                <a:ea typeface="TS Tarek"/>
                <a:cs typeface="TS Tarek"/>
                <a:sym typeface="TS Tarek"/>
              </a:rPr>
              <a:t>élimination</a:t>
            </a:r>
            <a:r>
              <a:rPr lang="en-US" sz="2243" dirty="0">
                <a:solidFill>
                  <a:srgbClr val="000000"/>
                </a:solidFill>
                <a:latin typeface="TS Tarek"/>
                <a:ea typeface="TS Tarek"/>
                <a:cs typeface="TS Tarek"/>
                <a:sym typeface="TS Tarek"/>
              </a:rPr>
              <a:t> des faux </a:t>
            </a:r>
            <a:r>
              <a:rPr lang="en-US" sz="2243" dirty="0" err="1">
                <a:solidFill>
                  <a:srgbClr val="000000"/>
                </a:solidFill>
                <a:latin typeface="TS Tarek"/>
                <a:ea typeface="TS Tarek"/>
                <a:cs typeface="TS Tarek"/>
                <a:sym typeface="TS Tarek"/>
              </a:rPr>
              <a:t>positifs</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identifiés</a:t>
            </a:r>
            <a:r>
              <a:rPr lang="en-US" sz="2243" dirty="0">
                <a:solidFill>
                  <a:srgbClr val="000000"/>
                </a:solidFill>
                <a:latin typeface="TS Tarek"/>
                <a:ea typeface="TS Tarek"/>
                <a:cs typeface="TS Tarek"/>
                <a:sym typeface="TS Tarek"/>
              </a:rPr>
              <a:t>.</a:t>
            </a:r>
          </a:p>
        </p:txBody>
      </p:sp>
      <p:sp>
        <p:nvSpPr>
          <p:cNvPr id="10" name="TextBox 10"/>
          <p:cNvSpPr txBox="1"/>
          <p:nvPr/>
        </p:nvSpPr>
        <p:spPr>
          <a:xfrm>
            <a:off x="10431352" y="6642280"/>
            <a:ext cx="6317644" cy="1181205"/>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Exploitation manuelle des failles détectées pour confirmer leur exploitabilité. Documentation des preuves de concept et évaluation de l'impact réel.</a:t>
            </a:r>
          </a:p>
        </p:txBody>
      </p:sp>
      <p:sp>
        <p:nvSpPr>
          <p:cNvPr id="11" name="Freeform 11"/>
          <p:cNvSpPr/>
          <p:nvPr/>
        </p:nvSpPr>
        <p:spPr>
          <a:xfrm>
            <a:off x="1303216" y="2265028"/>
            <a:ext cx="553561" cy="590048"/>
          </a:xfrm>
          <a:custGeom>
            <a:avLst/>
            <a:gdLst/>
            <a:ahLst/>
            <a:cxnLst/>
            <a:rect l="l" t="t" r="r" b="b"/>
            <a:pathLst>
              <a:path w="553561" h="590048">
                <a:moveTo>
                  <a:pt x="0" y="0"/>
                </a:moveTo>
                <a:lnTo>
                  <a:pt x="553561" y="0"/>
                </a:lnTo>
                <a:lnTo>
                  <a:pt x="553561" y="590049"/>
                </a:lnTo>
                <a:lnTo>
                  <a:pt x="0" y="590049"/>
                </a:lnTo>
                <a:lnTo>
                  <a:pt x="0" y="0"/>
                </a:lnTo>
                <a:close/>
              </a:path>
            </a:pathLst>
          </a:custGeom>
          <a:blipFill>
            <a:blip r:embed="rId3"/>
            <a:stretch>
              <a:fillRect/>
            </a:stretch>
          </a:blipFill>
        </p:spPr>
        <p:txBody>
          <a:bodyPr/>
          <a:lstStyle/>
          <a:p>
            <a:endParaRPr lang="fr-MA"/>
          </a:p>
        </p:txBody>
      </p:sp>
      <p:sp>
        <p:nvSpPr>
          <p:cNvPr id="12" name="Freeform 12"/>
          <p:cNvSpPr/>
          <p:nvPr/>
        </p:nvSpPr>
        <p:spPr>
          <a:xfrm>
            <a:off x="9456685" y="2125245"/>
            <a:ext cx="440845" cy="804449"/>
          </a:xfrm>
          <a:custGeom>
            <a:avLst/>
            <a:gdLst/>
            <a:ahLst/>
            <a:cxnLst/>
            <a:rect l="l" t="t" r="r" b="b"/>
            <a:pathLst>
              <a:path w="440845" h="804449">
                <a:moveTo>
                  <a:pt x="0" y="0"/>
                </a:moveTo>
                <a:lnTo>
                  <a:pt x="440846" y="0"/>
                </a:lnTo>
                <a:lnTo>
                  <a:pt x="440846" y="804448"/>
                </a:lnTo>
                <a:lnTo>
                  <a:pt x="0" y="804448"/>
                </a:lnTo>
                <a:lnTo>
                  <a:pt x="0" y="0"/>
                </a:lnTo>
                <a:close/>
              </a:path>
            </a:pathLst>
          </a:custGeom>
          <a:blipFill>
            <a:blip r:embed="rId4"/>
            <a:stretch>
              <a:fillRect/>
            </a:stretch>
          </a:blipFill>
        </p:spPr>
        <p:txBody>
          <a:bodyPr/>
          <a:lstStyle/>
          <a:p>
            <a:endParaRPr lang="fr-MA"/>
          </a:p>
        </p:txBody>
      </p:sp>
      <p:sp>
        <p:nvSpPr>
          <p:cNvPr id="13" name="Freeform 13"/>
          <p:cNvSpPr/>
          <p:nvPr/>
        </p:nvSpPr>
        <p:spPr>
          <a:xfrm>
            <a:off x="1361896" y="5894185"/>
            <a:ext cx="405791" cy="505589"/>
          </a:xfrm>
          <a:custGeom>
            <a:avLst/>
            <a:gdLst/>
            <a:ahLst/>
            <a:cxnLst/>
            <a:rect l="l" t="t" r="r" b="b"/>
            <a:pathLst>
              <a:path w="405791" h="505589">
                <a:moveTo>
                  <a:pt x="0" y="0"/>
                </a:moveTo>
                <a:lnTo>
                  <a:pt x="405791" y="0"/>
                </a:lnTo>
                <a:lnTo>
                  <a:pt x="405791" y="505590"/>
                </a:lnTo>
                <a:lnTo>
                  <a:pt x="0" y="505590"/>
                </a:lnTo>
                <a:lnTo>
                  <a:pt x="0" y="0"/>
                </a:lnTo>
                <a:close/>
              </a:path>
            </a:pathLst>
          </a:custGeom>
          <a:blipFill>
            <a:blip r:embed="rId5"/>
            <a:stretch>
              <a:fillRect/>
            </a:stretch>
          </a:blipFill>
        </p:spPr>
        <p:txBody>
          <a:bodyPr/>
          <a:lstStyle/>
          <a:p>
            <a:endParaRPr lang="fr-MA"/>
          </a:p>
        </p:txBody>
      </p:sp>
      <p:sp>
        <p:nvSpPr>
          <p:cNvPr id="14" name="Freeform 14"/>
          <p:cNvSpPr/>
          <p:nvPr/>
        </p:nvSpPr>
        <p:spPr>
          <a:xfrm>
            <a:off x="9466252" y="5919359"/>
            <a:ext cx="419894" cy="494587"/>
          </a:xfrm>
          <a:custGeom>
            <a:avLst/>
            <a:gdLst/>
            <a:ahLst/>
            <a:cxnLst/>
            <a:rect l="l" t="t" r="r" b="b"/>
            <a:pathLst>
              <a:path w="419894" h="494587">
                <a:moveTo>
                  <a:pt x="0" y="0"/>
                </a:moveTo>
                <a:lnTo>
                  <a:pt x="419894" y="0"/>
                </a:lnTo>
                <a:lnTo>
                  <a:pt x="419894" y="494587"/>
                </a:lnTo>
                <a:lnTo>
                  <a:pt x="0" y="494587"/>
                </a:lnTo>
                <a:lnTo>
                  <a:pt x="0" y="0"/>
                </a:lnTo>
                <a:close/>
              </a:path>
            </a:pathLst>
          </a:custGeom>
          <a:blipFill>
            <a:blip r:embed="rId6"/>
            <a:stretch>
              <a:fillRect/>
            </a:stretch>
          </a:blipFill>
        </p:spPr>
        <p:txBody>
          <a:bodyPr/>
          <a:lstStyle/>
          <a:p>
            <a:endParaRPr lang="fr-MA"/>
          </a:p>
        </p:txBody>
      </p:sp>
      <p:sp>
        <p:nvSpPr>
          <p:cNvPr id="15" name="AutoShape 15"/>
          <p:cNvSpPr/>
          <p:nvPr/>
        </p:nvSpPr>
        <p:spPr>
          <a:xfrm flipV="1">
            <a:off x="997022" y="9254563"/>
            <a:ext cx="15746573" cy="0"/>
          </a:xfrm>
          <a:prstGeom prst="line">
            <a:avLst/>
          </a:prstGeom>
          <a:ln w="9525" cap="flat">
            <a:solidFill>
              <a:srgbClr val="6D745F"/>
            </a:solidFill>
            <a:prstDash val="solid"/>
            <a:headEnd type="none" w="sm" len="sm"/>
            <a:tailEnd type="none" w="sm" len="sm"/>
          </a:ln>
        </p:spPr>
        <p:txBody>
          <a:bodyPr/>
          <a:lstStyle/>
          <a:p>
            <a:endParaRPr lang="fr-MA"/>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42975"/>
            <a:ext cx="8388000" cy="688631"/>
          </a:xfrm>
          <a:prstGeom prst="rect">
            <a:avLst/>
          </a:prstGeom>
        </p:spPr>
        <p:txBody>
          <a:bodyPr lIns="0" tIns="0" rIns="0" bIns="0" rtlCol="0" anchor="t">
            <a:spAutoFit/>
          </a:bodyPr>
          <a:lstStyle/>
          <a:p>
            <a:pPr marL="0" lvl="0" indent="0" algn="l">
              <a:lnSpc>
                <a:spcPts val="5618"/>
              </a:lnSpc>
            </a:pPr>
            <a:r>
              <a:rPr lang="en-US" sz="4013">
                <a:solidFill>
                  <a:srgbClr val="6D745F"/>
                </a:solidFill>
                <a:latin typeface="TAN Mon Cheri"/>
                <a:ea typeface="TAN Mon Cheri"/>
                <a:cs typeface="TAN Mon Cheri"/>
                <a:sym typeface="TAN Mon Cheri"/>
              </a:rPr>
              <a:t>OUTILS UTILISÉS</a:t>
            </a:r>
          </a:p>
        </p:txBody>
      </p:sp>
      <p:sp>
        <p:nvSpPr>
          <p:cNvPr id="3" name="TextBox 3"/>
          <p:cNvSpPr txBox="1"/>
          <p:nvPr/>
        </p:nvSpPr>
        <p:spPr>
          <a:xfrm>
            <a:off x="2316052" y="2227660"/>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OWASP Juice Shop</a:t>
            </a:r>
          </a:p>
        </p:txBody>
      </p:sp>
      <p:sp>
        <p:nvSpPr>
          <p:cNvPr id="4" name="TextBox 4"/>
          <p:cNvSpPr txBox="1"/>
          <p:nvPr/>
        </p:nvSpPr>
        <p:spPr>
          <a:xfrm>
            <a:off x="10431352" y="2227660"/>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OWASP ZAP</a:t>
            </a:r>
          </a:p>
        </p:txBody>
      </p:sp>
      <p:sp>
        <p:nvSpPr>
          <p:cNvPr id="5" name="TextBox 5"/>
          <p:cNvSpPr txBox="1"/>
          <p:nvPr/>
        </p:nvSpPr>
        <p:spPr>
          <a:xfrm>
            <a:off x="2316052" y="5856573"/>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Docker</a:t>
            </a:r>
          </a:p>
        </p:txBody>
      </p:sp>
      <p:sp>
        <p:nvSpPr>
          <p:cNvPr id="6" name="TextBox 6"/>
          <p:cNvSpPr txBox="1"/>
          <p:nvPr/>
        </p:nvSpPr>
        <p:spPr>
          <a:xfrm>
            <a:off x="10431352" y="5856573"/>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Outils complémentaires</a:t>
            </a:r>
          </a:p>
        </p:txBody>
      </p:sp>
      <p:sp>
        <p:nvSpPr>
          <p:cNvPr id="7" name="TextBox 7"/>
          <p:cNvSpPr txBox="1"/>
          <p:nvPr/>
        </p:nvSpPr>
        <p:spPr>
          <a:xfrm>
            <a:off x="2316052" y="3013368"/>
            <a:ext cx="6317644" cy="1578059"/>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Application web volontairement vulnérable servant de cible pour les tests de pénétration. Plateforme d'entraînement officielle OWASP pour l'apprentissage de la sécurité applicative.</a:t>
            </a:r>
          </a:p>
        </p:txBody>
      </p:sp>
      <p:sp>
        <p:nvSpPr>
          <p:cNvPr id="8" name="TextBox 8"/>
          <p:cNvSpPr txBox="1"/>
          <p:nvPr/>
        </p:nvSpPr>
        <p:spPr>
          <a:xfrm>
            <a:off x="10431352" y="3013368"/>
            <a:ext cx="6317644" cy="1578059"/>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Scanner de sécurité automatisé open-source. Détection des vulnérabilités web, analyse passive et active, génération de rapports détaillés sur les failles identifiées.</a:t>
            </a:r>
          </a:p>
        </p:txBody>
      </p:sp>
      <p:sp>
        <p:nvSpPr>
          <p:cNvPr id="9" name="TextBox 9"/>
          <p:cNvSpPr txBox="1"/>
          <p:nvPr/>
        </p:nvSpPr>
        <p:spPr>
          <a:xfrm>
            <a:off x="2316052" y="6642280"/>
            <a:ext cx="6317644" cy="1181205"/>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Plateforme de conteneurisation permettant le déploiement isolé de l'environnement de test. Facilite la reproductibilité et la portabilité de l'audit.</a:t>
            </a:r>
          </a:p>
        </p:txBody>
      </p:sp>
      <p:sp>
        <p:nvSpPr>
          <p:cNvPr id="10" name="TextBox 10"/>
          <p:cNvSpPr txBox="1"/>
          <p:nvPr/>
        </p:nvSpPr>
        <p:spPr>
          <a:xfrm>
            <a:off x="10431352" y="6642280"/>
            <a:ext cx="6317644" cy="1181205"/>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Navigateur avec outils développeur, Postman pour tests API, scripts personnalisés pour exploitation manuelle des vulnérabilités identifiées.</a:t>
            </a:r>
          </a:p>
        </p:txBody>
      </p:sp>
      <p:sp>
        <p:nvSpPr>
          <p:cNvPr id="11" name="Freeform 11"/>
          <p:cNvSpPr/>
          <p:nvPr/>
        </p:nvSpPr>
        <p:spPr>
          <a:xfrm>
            <a:off x="1176366" y="2118527"/>
            <a:ext cx="645081" cy="794804"/>
          </a:xfrm>
          <a:custGeom>
            <a:avLst/>
            <a:gdLst/>
            <a:ahLst/>
            <a:cxnLst/>
            <a:rect l="l" t="t" r="r" b="b"/>
            <a:pathLst>
              <a:path w="645081" h="794804">
                <a:moveTo>
                  <a:pt x="0" y="0"/>
                </a:moveTo>
                <a:lnTo>
                  <a:pt x="645081" y="0"/>
                </a:lnTo>
                <a:lnTo>
                  <a:pt x="645081" y="794804"/>
                </a:lnTo>
                <a:lnTo>
                  <a:pt x="0" y="794804"/>
                </a:lnTo>
                <a:lnTo>
                  <a:pt x="0" y="0"/>
                </a:lnTo>
                <a:close/>
              </a:path>
            </a:pathLst>
          </a:custGeom>
          <a:blipFill>
            <a:blip r:embed="rId3"/>
            <a:stretch>
              <a:fillRect/>
            </a:stretch>
          </a:blipFill>
        </p:spPr>
        <p:txBody>
          <a:bodyPr/>
          <a:lstStyle/>
          <a:p>
            <a:endParaRPr lang="fr-MA"/>
          </a:p>
        </p:txBody>
      </p:sp>
      <p:sp>
        <p:nvSpPr>
          <p:cNvPr id="12" name="Freeform 12"/>
          <p:cNvSpPr/>
          <p:nvPr/>
        </p:nvSpPr>
        <p:spPr>
          <a:xfrm>
            <a:off x="9258016" y="2178300"/>
            <a:ext cx="770925" cy="734808"/>
          </a:xfrm>
          <a:custGeom>
            <a:avLst/>
            <a:gdLst/>
            <a:ahLst/>
            <a:cxnLst/>
            <a:rect l="l" t="t" r="r" b="b"/>
            <a:pathLst>
              <a:path w="770925" h="734808">
                <a:moveTo>
                  <a:pt x="0" y="0"/>
                </a:moveTo>
                <a:lnTo>
                  <a:pt x="770926" y="0"/>
                </a:lnTo>
                <a:lnTo>
                  <a:pt x="770926" y="734808"/>
                </a:lnTo>
                <a:lnTo>
                  <a:pt x="0" y="734808"/>
                </a:lnTo>
                <a:lnTo>
                  <a:pt x="0" y="0"/>
                </a:lnTo>
                <a:close/>
              </a:path>
            </a:pathLst>
          </a:custGeom>
          <a:blipFill>
            <a:blip r:embed="rId4"/>
            <a:stretch>
              <a:fillRect/>
            </a:stretch>
          </a:blipFill>
        </p:spPr>
        <p:txBody>
          <a:bodyPr/>
          <a:lstStyle/>
          <a:p>
            <a:endParaRPr lang="fr-MA"/>
          </a:p>
        </p:txBody>
      </p:sp>
      <p:sp>
        <p:nvSpPr>
          <p:cNvPr id="13" name="Freeform 13"/>
          <p:cNvSpPr/>
          <p:nvPr/>
        </p:nvSpPr>
        <p:spPr>
          <a:xfrm>
            <a:off x="1259309" y="5936830"/>
            <a:ext cx="737994" cy="379600"/>
          </a:xfrm>
          <a:custGeom>
            <a:avLst/>
            <a:gdLst/>
            <a:ahLst/>
            <a:cxnLst/>
            <a:rect l="l" t="t" r="r" b="b"/>
            <a:pathLst>
              <a:path w="737994" h="379600">
                <a:moveTo>
                  <a:pt x="0" y="0"/>
                </a:moveTo>
                <a:lnTo>
                  <a:pt x="737993" y="0"/>
                </a:lnTo>
                <a:lnTo>
                  <a:pt x="737993" y="379601"/>
                </a:lnTo>
                <a:lnTo>
                  <a:pt x="0" y="379601"/>
                </a:lnTo>
                <a:lnTo>
                  <a:pt x="0" y="0"/>
                </a:lnTo>
                <a:close/>
              </a:path>
            </a:pathLst>
          </a:custGeom>
          <a:blipFill>
            <a:blip r:embed="rId5"/>
            <a:stretch>
              <a:fillRect/>
            </a:stretch>
          </a:blipFill>
        </p:spPr>
        <p:txBody>
          <a:bodyPr/>
          <a:lstStyle/>
          <a:p>
            <a:endParaRPr lang="fr-MA"/>
          </a:p>
        </p:txBody>
      </p:sp>
      <p:sp>
        <p:nvSpPr>
          <p:cNvPr id="14" name="Freeform 14"/>
          <p:cNvSpPr/>
          <p:nvPr/>
        </p:nvSpPr>
        <p:spPr>
          <a:xfrm>
            <a:off x="9334902" y="5851659"/>
            <a:ext cx="655202" cy="602932"/>
          </a:xfrm>
          <a:custGeom>
            <a:avLst/>
            <a:gdLst/>
            <a:ahLst/>
            <a:cxnLst/>
            <a:rect l="l" t="t" r="r" b="b"/>
            <a:pathLst>
              <a:path w="655202" h="602932">
                <a:moveTo>
                  <a:pt x="0" y="0"/>
                </a:moveTo>
                <a:lnTo>
                  <a:pt x="655203" y="0"/>
                </a:lnTo>
                <a:lnTo>
                  <a:pt x="655203" y="602932"/>
                </a:lnTo>
                <a:lnTo>
                  <a:pt x="0" y="602932"/>
                </a:lnTo>
                <a:lnTo>
                  <a:pt x="0" y="0"/>
                </a:lnTo>
                <a:close/>
              </a:path>
            </a:pathLst>
          </a:custGeom>
          <a:blipFill>
            <a:blip r:embed="rId6"/>
            <a:stretch>
              <a:fillRect/>
            </a:stretch>
          </a:blipFill>
        </p:spPr>
        <p:txBody>
          <a:bodyPr/>
          <a:lstStyle/>
          <a:p>
            <a:endParaRPr lang="fr-MA"/>
          </a:p>
        </p:txBody>
      </p:sp>
      <p:sp>
        <p:nvSpPr>
          <p:cNvPr id="15" name="AutoShape 15"/>
          <p:cNvSpPr/>
          <p:nvPr/>
        </p:nvSpPr>
        <p:spPr>
          <a:xfrm flipV="1">
            <a:off x="997022" y="9254563"/>
            <a:ext cx="15746573" cy="0"/>
          </a:xfrm>
          <a:prstGeom prst="line">
            <a:avLst/>
          </a:prstGeom>
          <a:ln w="9525" cap="flat">
            <a:solidFill>
              <a:srgbClr val="6D745F"/>
            </a:solidFill>
            <a:prstDash val="solid"/>
            <a:headEnd type="none" w="sm" len="sm"/>
            <a:tailEnd type="none" w="sm" len="sm"/>
          </a:ln>
        </p:spPr>
        <p:txBody>
          <a:bodyPr/>
          <a:lstStyle/>
          <a:p>
            <a:endParaRPr lang="fr-MA"/>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9878"/>
          <p:cNvGrpSpPr/>
          <p:nvPr/>
        </p:nvGrpSpPr>
        <p:grpSpPr>
          <a:xfrm>
            <a:off x="7086600" y="2476500"/>
            <a:ext cx="10591800" cy="7239000"/>
            <a:chOff x="0" y="0"/>
            <a:chExt cx="4982071" cy="4668520"/>
          </a:xfrm>
        </p:grpSpPr>
        <p:pic>
          <p:nvPicPr>
            <p:cNvPr id="3" name="Picture 1077"/>
            <p:cNvPicPr/>
            <p:nvPr/>
          </p:nvPicPr>
          <p:blipFill>
            <a:blip r:embed="rId3"/>
            <a:stretch>
              <a:fillRect/>
            </a:stretch>
          </p:blipFill>
          <p:spPr>
            <a:xfrm>
              <a:off x="43028" y="40499"/>
              <a:ext cx="4896263" cy="4587533"/>
            </a:xfrm>
            <a:prstGeom prst="rect">
              <a:avLst/>
            </a:prstGeom>
          </p:spPr>
        </p:pic>
        <p:sp>
          <p:nvSpPr>
            <p:cNvPr id="4" name="Shape 1078"/>
            <p:cNvSpPr/>
            <p:nvPr/>
          </p:nvSpPr>
          <p:spPr>
            <a:xfrm>
              <a:off x="0" y="0"/>
              <a:ext cx="4982071" cy="0"/>
            </a:xfrm>
            <a:custGeom>
              <a:avLst/>
              <a:gdLst/>
              <a:ahLst/>
              <a:cxnLst/>
              <a:rect l="0" t="0" r="0" b="0"/>
              <a:pathLst>
                <a:path w="4982071">
                  <a:moveTo>
                    <a:pt x="0" y="0"/>
                  </a:moveTo>
                  <a:lnTo>
                    <a:pt x="4982071" y="0"/>
                  </a:lnTo>
                </a:path>
              </a:pathLst>
            </a:custGeom>
            <a:ln w="5055" cap="flat">
              <a:miter lim="127000"/>
            </a:ln>
          </p:spPr>
          <p:style>
            <a:lnRef idx="1">
              <a:srgbClr val="000000"/>
            </a:lnRef>
            <a:fillRef idx="0">
              <a:srgbClr val="000000">
                <a:alpha val="0"/>
              </a:srgbClr>
            </a:fillRef>
            <a:effectRef idx="0">
              <a:scrgbClr r="0" g="0" b="0"/>
            </a:effectRef>
            <a:fontRef idx="none"/>
          </p:style>
          <p:txBody>
            <a:bodyPr/>
            <a:lstStyle/>
            <a:p>
              <a:endParaRPr lang="fr-FR"/>
            </a:p>
          </p:txBody>
        </p:sp>
        <p:sp>
          <p:nvSpPr>
            <p:cNvPr id="5" name="Shape 1079"/>
            <p:cNvSpPr/>
            <p:nvPr/>
          </p:nvSpPr>
          <p:spPr>
            <a:xfrm>
              <a:off x="2527" y="0"/>
              <a:ext cx="0" cy="4668520"/>
            </a:xfrm>
            <a:custGeom>
              <a:avLst/>
              <a:gdLst/>
              <a:ahLst/>
              <a:cxnLst/>
              <a:rect l="0" t="0" r="0" b="0"/>
              <a:pathLst>
                <a:path h="4668520">
                  <a:moveTo>
                    <a:pt x="0" y="4668520"/>
                  </a:moveTo>
                  <a:lnTo>
                    <a:pt x="0" y="0"/>
                  </a:lnTo>
                </a:path>
              </a:pathLst>
            </a:custGeom>
            <a:ln w="5055" cap="flat">
              <a:miter lim="127000"/>
            </a:ln>
          </p:spPr>
          <p:style>
            <a:lnRef idx="1">
              <a:srgbClr val="000000"/>
            </a:lnRef>
            <a:fillRef idx="0">
              <a:srgbClr val="000000">
                <a:alpha val="0"/>
              </a:srgbClr>
            </a:fillRef>
            <a:effectRef idx="0">
              <a:scrgbClr r="0" g="0" b="0"/>
            </a:effectRef>
            <a:fontRef idx="none"/>
          </p:style>
          <p:txBody>
            <a:bodyPr/>
            <a:lstStyle/>
            <a:p>
              <a:endParaRPr lang="fr-FR"/>
            </a:p>
          </p:txBody>
        </p:sp>
        <p:sp>
          <p:nvSpPr>
            <p:cNvPr id="6" name="Shape 1080"/>
            <p:cNvSpPr/>
            <p:nvPr/>
          </p:nvSpPr>
          <p:spPr>
            <a:xfrm>
              <a:off x="4979544" y="0"/>
              <a:ext cx="0" cy="4668520"/>
            </a:xfrm>
            <a:custGeom>
              <a:avLst/>
              <a:gdLst/>
              <a:ahLst/>
              <a:cxnLst/>
              <a:rect l="0" t="0" r="0" b="0"/>
              <a:pathLst>
                <a:path h="4668520">
                  <a:moveTo>
                    <a:pt x="0" y="4668520"/>
                  </a:moveTo>
                  <a:lnTo>
                    <a:pt x="0" y="0"/>
                  </a:lnTo>
                </a:path>
              </a:pathLst>
            </a:custGeom>
            <a:ln w="5055" cap="flat">
              <a:miter lim="127000"/>
            </a:ln>
          </p:spPr>
          <p:style>
            <a:lnRef idx="1">
              <a:srgbClr val="000000"/>
            </a:lnRef>
            <a:fillRef idx="0">
              <a:srgbClr val="000000">
                <a:alpha val="0"/>
              </a:srgbClr>
            </a:fillRef>
            <a:effectRef idx="0">
              <a:scrgbClr r="0" g="0" b="0"/>
            </a:effectRef>
            <a:fontRef idx="none"/>
          </p:style>
          <p:txBody>
            <a:bodyPr/>
            <a:lstStyle/>
            <a:p>
              <a:endParaRPr lang="fr-FR"/>
            </a:p>
          </p:txBody>
        </p:sp>
        <p:sp>
          <p:nvSpPr>
            <p:cNvPr id="7" name="Shape 1081"/>
            <p:cNvSpPr/>
            <p:nvPr/>
          </p:nvSpPr>
          <p:spPr>
            <a:xfrm>
              <a:off x="0" y="4668520"/>
              <a:ext cx="4982071" cy="0"/>
            </a:xfrm>
            <a:custGeom>
              <a:avLst/>
              <a:gdLst/>
              <a:ahLst/>
              <a:cxnLst/>
              <a:rect l="0" t="0" r="0" b="0"/>
              <a:pathLst>
                <a:path w="4982071">
                  <a:moveTo>
                    <a:pt x="0" y="0"/>
                  </a:moveTo>
                  <a:lnTo>
                    <a:pt x="4982071" y="0"/>
                  </a:lnTo>
                </a:path>
              </a:pathLst>
            </a:custGeom>
            <a:ln w="5055" cap="flat">
              <a:miter lim="127000"/>
            </a:ln>
          </p:spPr>
          <p:style>
            <a:lnRef idx="1">
              <a:srgbClr val="000000"/>
            </a:lnRef>
            <a:fillRef idx="0">
              <a:srgbClr val="000000">
                <a:alpha val="0"/>
              </a:srgbClr>
            </a:fillRef>
            <a:effectRef idx="0">
              <a:scrgbClr r="0" g="0" b="0"/>
            </a:effectRef>
            <a:fontRef idx="none"/>
          </p:style>
          <p:txBody>
            <a:bodyPr/>
            <a:lstStyle/>
            <a:p>
              <a:endParaRPr lang="fr-FR"/>
            </a:p>
          </p:txBody>
        </p:sp>
      </p:grpSp>
      <p:sp>
        <p:nvSpPr>
          <p:cNvPr id="8" name="Rectangle 7"/>
          <p:cNvSpPr/>
          <p:nvPr/>
        </p:nvSpPr>
        <p:spPr>
          <a:xfrm>
            <a:off x="1219200" y="1257300"/>
            <a:ext cx="7952626" cy="584775"/>
          </a:xfrm>
          <a:prstGeom prst="rect">
            <a:avLst/>
          </a:prstGeom>
        </p:spPr>
        <p:txBody>
          <a:bodyPr wrap="none">
            <a:spAutoFit/>
          </a:bodyPr>
          <a:lstStyle/>
          <a:p>
            <a:r>
              <a:rPr lang="fr-FR" sz="3200" dirty="0">
                <a:latin typeface="TAN Mon Cheri" panose="020B0604020202020204" charset="0"/>
              </a:rPr>
              <a:t>Déploiement OWASP Juice Shop</a:t>
            </a:r>
          </a:p>
        </p:txBody>
      </p:sp>
      <p:sp>
        <p:nvSpPr>
          <p:cNvPr id="9" name="Rectangle 1"/>
          <p:cNvSpPr>
            <a:spLocks noChangeArrowheads="1"/>
          </p:cNvSpPr>
          <p:nvPr/>
        </p:nvSpPr>
        <p:spPr bwMode="auto">
          <a:xfrm>
            <a:off x="304800" y="3221796"/>
            <a:ext cx="65532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Déploiement via Docker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Téléchargement automatique de l’image officielle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Exposition sur le port 3000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Accès via : </a:t>
            </a: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hlinkClick r:id="rId4"/>
              </a:rPr>
              <a:t>http://localhost:3000</a:t>
            </a: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 </a:t>
            </a:r>
          </a:p>
        </p:txBody>
      </p:sp>
      <p:sp>
        <p:nvSpPr>
          <p:cNvPr id="11" name="Freeform 11"/>
          <p:cNvSpPr/>
          <p:nvPr/>
        </p:nvSpPr>
        <p:spPr>
          <a:xfrm>
            <a:off x="330200" y="674401"/>
            <a:ext cx="854119" cy="854119"/>
          </a:xfrm>
          <a:custGeom>
            <a:avLst/>
            <a:gdLst/>
            <a:ahLst/>
            <a:cxnLst/>
            <a:rect l="l" t="t" r="r" b="b"/>
            <a:pathLst>
              <a:path w="854119" h="854119">
                <a:moveTo>
                  <a:pt x="0" y="0"/>
                </a:moveTo>
                <a:lnTo>
                  <a:pt x="854119" y="0"/>
                </a:lnTo>
                <a:lnTo>
                  <a:pt x="854119" y="854118"/>
                </a:lnTo>
                <a:lnTo>
                  <a:pt x="0" y="85411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Tree>
    <p:extLst>
      <p:ext uri="{BB962C8B-B14F-4D97-AF65-F5344CB8AC3E}">
        <p14:creationId xmlns:p14="http://schemas.microsoft.com/office/powerpoint/2010/main" val="38784584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0008"/>
          <p:cNvGrpSpPr/>
          <p:nvPr/>
        </p:nvGrpSpPr>
        <p:grpSpPr>
          <a:xfrm>
            <a:off x="914400" y="2324100"/>
            <a:ext cx="7696200" cy="4386236"/>
            <a:chOff x="0" y="0"/>
            <a:chExt cx="4982071" cy="2689251"/>
          </a:xfrm>
        </p:grpSpPr>
        <p:pic>
          <p:nvPicPr>
            <p:cNvPr id="3" name="Picture 1106"/>
            <p:cNvPicPr/>
            <p:nvPr/>
          </p:nvPicPr>
          <p:blipFill>
            <a:blip r:embed="rId3"/>
            <a:stretch>
              <a:fillRect/>
            </a:stretch>
          </p:blipFill>
          <p:spPr>
            <a:xfrm>
              <a:off x="43028" y="40476"/>
              <a:ext cx="4896032" cy="2608287"/>
            </a:xfrm>
            <a:prstGeom prst="rect">
              <a:avLst/>
            </a:prstGeom>
          </p:spPr>
        </p:pic>
        <p:sp>
          <p:nvSpPr>
            <p:cNvPr id="4" name="Shape 1107"/>
            <p:cNvSpPr/>
            <p:nvPr/>
          </p:nvSpPr>
          <p:spPr>
            <a:xfrm>
              <a:off x="0" y="1"/>
              <a:ext cx="4982071" cy="0"/>
            </a:xfrm>
            <a:custGeom>
              <a:avLst/>
              <a:gdLst/>
              <a:ahLst/>
              <a:cxnLst/>
              <a:rect l="0" t="0" r="0" b="0"/>
              <a:pathLst>
                <a:path w="4982071">
                  <a:moveTo>
                    <a:pt x="0" y="0"/>
                  </a:moveTo>
                  <a:lnTo>
                    <a:pt x="4982071" y="0"/>
                  </a:lnTo>
                </a:path>
              </a:pathLst>
            </a:custGeom>
            <a:ln w="5055" cap="flat">
              <a:miter lim="127000"/>
            </a:ln>
          </p:spPr>
          <p:style>
            <a:lnRef idx="1">
              <a:srgbClr val="000000"/>
            </a:lnRef>
            <a:fillRef idx="0">
              <a:srgbClr val="000000">
                <a:alpha val="0"/>
              </a:srgbClr>
            </a:fillRef>
            <a:effectRef idx="0">
              <a:scrgbClr r="0" g="0" b="0"/>
            </a:effectRef>
            <a:fontRef idx="none"/>
          </p:style>
          <p:txBody>
            <a:bodyPr/>
            <a:lstStyle/>
            <a:p>
              <a:endParaRPr lang="fr-FR"/>
            </a:p>
          </p:txBody>
        </p:sp>
        <p:sp>
          <p:nvSpPr>
            <p:cNvPr id="5" name="Shape 1108"/>
            <p:cNvSpPr/>
            <p:nvPr/>
          </p:nvSpPr>
          <p:spPr>
            <a:xfrm>
              <a:off x="2527" y="0"/>
              <a:ext cx="0" cy="2689251"/>
            </a:xfrm>
            <a:custGeom>
              <a:avLst/>
              <a:gdLst/>
              <a:ahLst/>
              <a:cxnLst/>
              <a:rect l="0" t="0" r="0" b="0"/>
              <a:pathLst>
                <a:path h="2689251">
                  <a:moveTo>
                    <a:pt x="0" y="2689251"/>
                  </a:moveTo>
                  <a:lnTo>
                    <a:pt x="0" y="0"/>
                  </a:lnTo>
                </a:path>
              </a:pathLst>
            </a:custGeom>
            <a:ln w="5055" cap="flat">
              <a:miter lim="127000"/>
            </a:ln>
          </p:spPr>
          <p:style>
            <a:lnRef idx="1">
              <a:srgbClr val="000000"/>
            </a:lnRef>
            <a:fillRef idx="0">
              <a:srgbClr val="000000">
                <a:alpha val="0"/>
              </a:srgbClr>
            </a:fillRef>
            <a:effectRef idx="0">
              <a:scrgbClr r="0" g="0" b="0"/>
            </a:effectRef>
            <a:fontRef idx="none"/>
          </p:style>
          <p:txBody>
            <a:bodyPr/>
            <a:lstStyle/>
            <a:p>
              <a:endParaRPr lang="fr-FR"/>
            </a:p>
          </p:txBody>
        </p:sp>
        <p:sp>
          <p:nvSpPr>
            <p:cNvPr id="6" name="Shape 1109"/>
            <p:cNvSpPr/>
            <p:nvPr/>
          </p:nvSpPr>
          <p:spPr>
            <a:xfrm>
              <a:off x="4979544" y="0"/>
              <a:ext cx="0" cy="2689251"/>
            </a:xfrm>
            <a:custGeom>
              <a:avLst/>
              <a:gdLst/>
              <a:ahLst/>
              <a:cxnLst/>
              <a:rect l="0" t="0" r="0" b="0"/>
              <a:pathLst>
                <a:path h="2689251">
                  <a:moveTo>
                    <a:pt x="0" y="2689251"/>
                  </a:moveTo>
                  <a:lnTo>
                    <a:pt x="0" y="0"/>
                  </a:lnTo>
                </a:path>
              </a:pathLst>
            </a:custGeom>
            <a:ln w="5055" cap="flat">
              <a:miter lim="127000"/>
            </a:ln>
          </p:spPr>
          <p:style>
            <a:lnRef idx="1">
              <a:srgbClr val="000000"/>
            </a:lnRef>
            <a:fillRef idx="0">
              <a:srgbClr val="000000">
                <a:alpha val="0"/>
              </a:srgbClr>
            </a:fillRef>
            <a:effectRef idx="0">
              <a:scrgbClr r="0" g="0" b="0"/>
            </a:effectRef>
            <a:fontRef idx="none"/>
          </p:style>
          <p:txBody>
            <a:bodyPr/>
            <a:lstStyle/>
            <a:p>
              <a:endParaRPr lang="fr-FR"/>
            </a:p>
          </p:txBody>
        </p:sp>
        <p:sp>
          <p:nvSpPr>
            <p:cNvPr id="7" name="Shape 1110"/>
            <p:cNvSpPr/>
            <p:nvPr/>
          </p:nvSpPr>
          <p:spPr>
            <a:xfrm>
              <a:off x="0" y="2689251"/>
              <a:ext cx="4982071" cy="0"/>
            </a:xfrm>
            <a:custGeom>
              <a:avLst/>
              <a:gdLst/>
              <a:ahLst/>
              <a:cxnLst/>
              <a:rect l="0" t="0" r="0" b="0"/>
              <a:pathLst>
                <a:path w="4982071">
                  <a:moveTo>
                    <a:pt x="0" y="0"/>
                  </a:moveTo>
                  <a:lnTo>
                    <a:pt x="4982071" y="0"/>
                  </a:lnTo>
                </a:path>
              </a:pathLst>
            </a:custGeom>
            <a:ln w="5055" cap="flat">
              <a:miter lim="127000"/>
            </a:ln>
          </p:spPr>
          <p:style>
            <a:lnRef idx="1">
              <a:srgbClr val="000000"/>
            </a:lnRef>
            <a:fillRef idx="0">
              <a:srgbClr val="000000">
                <a:alpha val="0"/>
              </a:srgbClr>
            </a:fillRef>
            <a:effectRef idx="0">
              <a:scrgbClr r="0" g="0" b="0"/>
            </a:effectRef>
            <a:fontRef idx="none"/>
          </p:style>
          <p:txBody>
            <a:bodyPr/>
            <a:lstStyle/>
            <a:p>
              <a:endParaRPr lang="fr-FR"/>
            </a:p>
          </p:txBody>
        </p:sp>
      </p:grpSp>
      <p:grpSp>
        <p:nvGrpSpPr>
          <p:cNvPr id="8" name="Group 40526"/>
          <p:cNvGrpSpPr/>
          <p:nvPr/>
        </p:nvGrpSpPr>
        <p:grpSpPr>
          <a:xfrm>
            <a:off x="8793292" y="5469102"/>
            <a:ext cx="9376504" cy="4457700"/>
            <a:chOff x="0" y="0"/>
            <a:chExt cx="4982071" cy="3143415"/>
          </a:xfrm>
        </p:grpSpPr>
        <p:pic>
          <p:nvPicPr>
            <p:cNvPr id="9" name="Picture 1171"/>
            <p:cNvPicPr/>
            <p:nvPr/>
          </p:nvPicPr>
          <p:blipFill>
            <a:blip r:embed="rId4"/>
            <a:stretch>
              <a:fillRect/>
            </a:stretch>
          </p:blipFill>
          <p:spPr>
            <a:xfrm>
              <a:off x="43028" y="40490"/>
              <a:ext cx="4896041" cy="3062438"/>
            </a:xfrm>
            <a:prstGeom prst="rect">
              <a:avLst/>
            </a:prstGeom>
          </p:spPr>
        </p:pic>
        <p:sp>
          <p:nvSpPr>
            <p:cNvPr id="10" name="Shape 1172"/>
            <p:cNvSpPr/>
            <p:nvPr/>
          </p:nvSpPr>
          <p:spPr>
            <a:xfrm>
              <a:off x="0" y="0"/>
              <a:ext cx="4982071" cy="0"/>
            </a:xfrm>
            <a:custGeom>
              <a:avLst/>
              <a:gdLst/>
              <a:ahLst/>
              <a:cxnLst/>
              <a:rect l="0" t="0" r="0" b="0"/>
              <a:pathLst>
                <a:path w="4982071">
                  <a:moveTo>
                    <a:pt x="0" y="0"/>
                  </a:moveTo>
                  <a:lnTo>
                    <a:pt x="4982071" y="0"/>
                  </a:lnTo>
                </a:path>
              </a:pathLst>
            </a:custGeom>
            <a:ln w="5055" cap="flat">
              <a:miter lim="127000"/>
            </a:ln>
          </p:spPr>
          <p:style>
            <a:lnRef idx="1">
              <a:srgbClr val="000000"/>
            </a:lnRef>
            <a:fillRef idx="0">
              <a:srgbClr val="000000">
                <a:alpha val="0"/>
              </a:srgbClr>
            </a:fillRef>
            <a:effectRef idx="0">
              <a:scrgbClr r="0" g="0" b="0"/>
            </a:effectRef>
            <a:fontRef idx="none"/>
          </p:style>
          <p:txBody>
            <a:bodyPr/>
            <a:lstStyle/>
            <a:p>
              <a:endParaRPr lang="fr-FR"/>
            </a:p>
          </p:txBody>
        </p:sp>
        <p:sp>
          <p:nvSpPr>
            <p:cNvPr id="11" name="Shape 1173"/>
            <p:cNvSpPr/>
            <p:nvPr/>
          </p:nvSpPr>
          <p:spPr>
            <a:xfrm>
              <a:off x="2527" y="0"/>
              <a:ext cx="0" cy="3143415"/>
            </a:xfrm>
            <a:custGeom>
              <a:avLst/>
              <a:gdLst/>
              <a:ahLst/>
              <a:cxnLst/>
              <a:rect l="0" t="0" r="0" b="0"/>
              <a:pathLst>
                <a:path h="3143415">
                  <a:moveTo>
                    <a:pt x="0" y="3143415"/>
                  </a:moveTo>
                  <a:lnTo>
                    <a:pt x="0" y="0"/>
                  </a:lnTo>
                </a:path>
              </a:pathLst>
            </a:custGeom>
            <a:ln w="5055" cap="flat">
              <a:miter lim="127000"/>
            </a:ln>
          </p:spPr>
          <p:style>
            <a:lnRef idx="1">
              <a:srgbClr val="000000"/>
            </a:lnRef>
            <a:fillRef idx="0">
              <a:srgbClr val="000000">
                <a:alpha val="0"/>
              </a:srgbClr>
            </a:fillRef>
            <a:effectRef idx="0">
              <a:scrgbClr r="0" g="0" b="0"/>
            </a:effectRef>
            <a:fontRef idx="none"/>
          </p:style>
          <p:txBody>
            <a:bodyPr/>
            <a:lstStyle/>
            <a:p>
              <a:endParaRPr lang="fr-FR"/>
            </a:p>
          </p:txBody>
        </p:sp>
        <p:sp>
          <p:nvSpPr>
            <p:cNvPr id="12" name="Shape 1174"/>
            <p:cNvSpPr/>
            <p:nvPr/>
          </p:nvSpPr>
          <p:spPr>
            <a:xfrm>
              <a:off x="4979544" y="0"/>
              <a:ext cx="0" cy="3143415"/>
            </a:xfrm>
            <a:custGeom>
              <a:avLst/>
              <a:gdLst/>
              <a:ahLst/>
              <a:cxnLst/>
              <a:rect l="0" t="0" r="0" b="0"/>
              <a:pathLst>
                <a:path h="3143415">
                  <a:moveTo>
                    <a:pt x="0" y="3143415"/>
                  </a:moveTo>
                  <a:lnTo>
                    <a:pt x="0" y="0"/>
                  </a:lnTo>
                </a:path>
              </a:pathLst>
            </a:custGeom>
            <a:ln w="5055" cap="flat">
              <a:miter lim="127000"/>
            </a:ln>
          </p:spPr>
          <p:style>
            <a:lnRef idx="1">
              <a:srgbClr val="000000"/>
            </a:lnRef>
            <a:fillRef idx="0">
              <a:srgbClr val="000000">
                <a:alpha val="0"/>
              </a:srgbClr>
            </a:fillRef>
            <a:effectRef idx="0">
              <a:scrgbClr r="0" g="0" b="0"/>
            </a:effectRef>
            <a:fontRef idx="none"/>
          </p:style>
          <p:txBody>
            <a:bodyPr/>
            <a:lstStyle/>
            <a:p>
              <a:endParaRPr lang="fr-FR"/>
            </a:p>
          </p:txBody>
        </p:sp>
        <p:sp>
          <p:nvSpPr>
            <p:cNvPr id="13" name="Shape 1175"/>
            <p:cNvSpPr/>
            <p:nvPr/>
          </p:nvSpPr>
          <p:spPr>
            <a:xfrm>
              <a:off x="0" y="3143415"/>
              <a:ext cx="4982071" cy="0"/>
            </a:xfrm>
            <a:custGeom>
              <a:avLst/>
              <a:gdLst/>
              <a:ahLst/>
              <a:cxnLst/>
              <a:rect l="0" t="0" r="0" b="0"/>
              <a:pathLst>
                <a:path w="4982071">
                  <a:moveTo>
                    <a:pt x="0" y="0"/>
                  </a:moveTo>
                  <a:lnTo>
                    <a:pt x="4982071" y="0"/>
                  </a:lnTo>
                </a:path>
              </a:pathLst>
            </a:custGeom>
            <a:ln w="5055" cap="flat">
              <a:miter lim="127000"/>
            </a:ln>
          </p:spPr>
          <p:style>
            <a:lnRef idx="1">
              <a:srgbClr val="000000"/>
            </a:lnRef>
            <a:fillRef idx="0">
              <a:srgbClr val="000000">
                <a:alpha val="0"/>
              </a:srgbClr>
            </a:fillRef>
            <a:effectRef idx="0">
              <a:scrgbClr r="0" g="0" b="0"/>
            </a:effectRef>
            <a:fontRef idx="none"/>
          </p:style>
          <p:txBody>
            <a:bodyPr/>
            <a:lstStyle/>
            <a:p>
              <a:endParaRPr lang="fr-FR"/>
            </a:p>
          </p:txBody>
        </p:sp>
      </p:grpSp>
      <p:sp>
        <p:nvSpPr>
          <p:cNvPr id="14" name="Rectangle 13"/>
          <p:cNvSpPr/>
          <p:nvPr/>
        </p:nvSpPr>
        <p:spPr>
          <a:xfrm>
            <a:off x="1322962" y="1439694"/>
            <a:ext cx="7201943" cy="584775"/>
          </a:xfrm>
          <a:prstGeom prst="rect">
            <a:avLst/>
          </a:prstGeom>
        </p:spPr>
        <p:txBody>
          <a:bodyPr wrap="square">
            <a:spAutoFit/>
          </a:bodyPr>
          <a:lstStyle/>
          <a:p>
            <a:r>
              <a:rPr lang="fr-FR" sz="3200" dirty="0">
                <a:latin typeface="TAN Mon Cheri" panose="020B0604020202020204" charset="0"/>
              </a:rPr>
              <a:t>Vérification du fonctionnement</a:t>
            </a:r>
          </a:p>
        </p:txBody>
      </p:sp>
      <p:sp>
        <p:nvSpPr>
          <p:cNvPr id="15" name="Rectangle 1"/>
          <p:cNvSpPr>
            <a:spLocks noChangeArrowheads="1"/>
          </p:cNvSpPr>
          <p:nvPr/>
        </p:nvSpPr>
        <p:spPr bwMode="auto">
          <a:xfrm>
            <a:off x="10668000" y="2972154"/>
            <a:ext cx="562708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Accès à l’interface web réussi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Conteneur Docker stable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err="1">
                <a:ln>
                  <a:noFill/>
                </a:ln>
                <a:solidFill>
                  <a:schemeClr val="tx1"/>
                </a:solidFill>
                <a:effectLst/>
                <a:latin typeface="TS Tarek" panose="020B0604020202020204" charset="-78"/>
                <a:cs typeface="TS Tarek" panose="020B0604020202020204" charset="-78"/>
              </a:rPr>
              <a:t>Backend</a:t>
            </a: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 fonctionnel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Application accessible sur localhost:3000 </a:t>
            </a:r>
          </a:p>
        </p:txBody>
      </p:sp>
      <p:sp>
        <p:nvSpPr>
          <p:cNvPr id="16" name="Flèche courbée vers la gauche 15"/>
          <p:cNvSpPr/>
          <p:nvPr/>
        </p:nvSpPr>
        <p:spPr>
          <a:xfrm>
            <a:off x="8793292" y="3696605"/>
            <a:ext cx="1385261" cy="1493519"/>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8" name="Rectangle 17"/>
          <p:cNvSpPr/>
          <p:nvPr/>
        </p:nvSpPr>
        <p:spPr>
          <a:xfrm>
            <a:off x="1160274" y="6776374"/>
            <a:ext cx="6248400" cy="2917978"/>
          </a:xfrm>
          <a:prstGeom prst="rect">
            <a:avLst/>
          </a:prstGeom>
        </p:spPr>
        <p:txBody>
          <a:bodyPr wrap="square">
            <a:spAutoFit/>
          </a:bodyPr>
          <a:lstStyle/>
          <a:p>
            <a:pPr marL="6350" marR="596265" indent="-6350" algn="r">
              <a:lnSpc>
                <a:spcPct val="107000"/>
              </a:lnSpc>
              <a:spcAft>
                <a:spcPts val="985"/>
              </a:spcAft>
            </a:pPr>
            <a:r>
              <a:rPr lang="fr-FR" sz="2400" dirty="0">
                <a:solidFill>
                  <a:srgbClr val="000000"/>
                </a:solidFill>
                <a:latin typeface="TS Tarek" panose="020B0604020202020204" charset="-78"/>
                <a:ea typeface="Calibri" panose="020F0502020204030204" pitchFamily="34" charset="0"/>
                <a:cs typeface="TS Tarek" panose="020B0604020202020204" charset="-78"/>
              </a:rPr>
              <a:t>plusieurs fonctionnalités ont été identifiées </a:t>
            </a:r>
          </a:p>
          <a:p>
            <a:pPr marL="481965" indent="-342900" algn="just">
              <a:lnSpc>
                <a:spcPct val="108000"/>
              </a:lnSpc>
              <a:spcAft>
                <a:spcPts val="815"/>
              </a:spcAft>
              <a:buFont typeface="Arial" panose="020B0604020202020204" pitchFamily="34" charset="0"/>
              <a:buChar char="•"/>
            </a:pPr>
            <a:r>
              <a:rPr lang="fr-FR" sz="2400" dirty="0">
                <a:solidFill>
                  <a:srgbClr val="000000"/>
                </a:solidFill>
                <a:latin typeface="TS Tarek" panose="020B0604020202020204" charset="-78"/>
                <a:ea typeface="Calibri" panose="020F0502020204030204" pitchFamily="34" charset="0"/>
                <a:cs typeface="TS Tarek" panose="020B0604020202020204" charset="-78"/>
              </a:rPr>
              <a:t>Système d’authentification utilisateur</a:t>
            </a:r>
          </a:p>
          <a:p>
            <a:pPr marL="481965" indent="-342900" algn="just">
              <a:lnSpc>
                <a:spcPct val="108000"/>
              </a:lnSpc>
              <a:spcAft>
                <a:spcPts val="815"/>
              </a:spcAft>
              <a:buFont typeface="Arial" panose="020B0604020202020204" pitchFamily="34" charset="0"/>
              <a:buChar char="•"/>
            </a:pPr>
            <a:r>
              <a:rPr lang="fr-FR" sz="2400" dirty="0">
                <a:solidFill>
                  <a:srgbClr val="000000"/>
                </a:solidFill>
                <a:latin typeface="TS Tarek" panose="020B0604020202020204" charset="-78"/>
                <a:ea typeface="Calibri" panose="020F0502020204030204" pitchFamily="34" charset="0"/>
                <a:cs typeface="TS Tarek" panose="020B0604020202020204" charset="-78"/>
              </a:rPr>
              <a:t>Catalogue de produits Recherche dynamique</a:t>
            </a:r>
          </a:p>
          <a:p>
            <a:pPr marL="481965" indent="-342900" algn="just">
              <a:lnSpc>
                <a:spcPct val="108000"/>
              </a:lnSpc>
              <a:spcAft>
                <a:spcPts val="815"/>
              </a:spcAft>
              <a:buFont typeface="Arial" panose="020B0604020202020204" pitchFamily="34" charset="0"/>
              <a:buChar char="•"/>
            </a:pPr>
            <a:r>
              <a:rPr lang="fr-FR" sz="2400" dirty="0">
                <a:solidFill>
                  <a:srgbClr val="000000"/>
                </a:solidFill>
                <a:latin typeface="TS Tarek" panose="020B0604020202020204" charset="-78"/>
                <a:ea typeface="Calibri" panose="020F0502020204030204" pitchFamily="34" charset="0"/>
                <a:cs typeface="TS Tarek" panose="020B0604020202020204" charset="-78"/>
              </a:rPr>
              <a:t>Gestion du </a:t>
            </a:r>
            <a:r>
              <a:rPr lang="fr-FR" sz="2400" dirty="0" err="1">
                <a:solidFill>
                  <a:srgbClr val="000000"/>
                </a:solidFill>
                <a:latin typeface="TS Tarek" panose="020B0604020202020204" charset="-78"/>
                <a:ea typeface="Calibri" panose="020F0502020204030204" pitchFamily="34" charset="0"/>
                <a:cs typeface="TS Tarek" panose="020B0604020202020204" charset="-78"/>
              </a:rPr>
              <a:t>panierProcessus</a:t>
            </a:r>
            <a:r>
              <a:rPr lang="fr-FR" sz="2400" dirty="0">
                <a:solidFill>
                  <a:srgbClr val="000000"/>
                </a:solidFill>
                <a:latin typeface="TS Tarek" panose="020B0604020202020204" charset="-78"/>
                <a:ea typeface="Calibri" panose="020F0502020204030204" pitchFamily="34" charset="0"/>
                <a:cs typeface="TS Tarek" panose="020B0604020202020204" charset="-78"/>
              </a:rPr>
              <a:t> de commande</a:t>
            </a:r>
          </a:p>
          <a:p>
            <a:pPr marL="481965" indent="-342900" algn="just">
              <a:lnSpc>
                <a:spcPct val="108000"/>
              </a:lnSpc>
              <a:spcAft>
                <a:spcPts val="815"/>
              </a:spcAft>
              <a:buFont typeface="Arial" panose="020B0604020202020204" pitchFamily="34" charset="0"/>
              <a:buChar char="•"/>
            </a:pPr>
            <a:r>
              <a:rPr lang="fr-FR" sz="2400" dirty="0">
                <a:solidFill>
                  <a:srgbClr val="000000"/>
                </a:solidFill>
                <a:latin typeface="TS Tarek" panose="020B0604020202020204" charset="-78"/>
                <a:ea typeface="Calibri" panose="020F0502020204030204" pitchFamily="34" charset="0"/>
                <a:cs typeface="TS Tarek" panose="020B0604020202020204" charset="-78"/>
              </a:rPr>
              <a:t>Module de feedback utilisateur ; API REST interne</a:t>
            </a:r>
          </a:p>
        </p:txBody>
      </p:sp>
      <p:sp>
        <p:nvSpPr>
          <p:cNvPr id="19" name="Flèche courbée vers la gauche 18"/>
          <p:cNvSpPr/>
          <p:nvPr/>
        </p:nvSpPr>
        <p:spPr>
          <a:xfrm flipH="1">
            <a:off x="7413429" y="7328362"/>
            <a:ext cx="1288944" cy="1269071"/>
          </a:xfrm>
          <a:prstGeom prst="curvedLeftArrow">
            <a:avLst>
              <a:gd name="adj1" fmla="val 25000"/>
              <a:gd name="adj2" fmla="val 47169"/>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1" name="Freeform 11"/>
          <p:cNvSpPr/>
          <p:nvPr/>
        </p:nvSpPr>
        <p:spPr>
          <a:xfrm>
            <a:off x="553809" y="776298"/>
            <a:ext cx="854119" cy="854119"/>
          </a:xfrm>
          <a:custGeom>
            <a:avLst/>
            <a:gdLst/>
            <a:ahLst/>
            <a:cxnLst/>
            <a:rect l="l" t="t" r="r" b="b"/>
            <a:pathLst>
              <a:path w="854119" h="854119">
                <a:moveTo>
                  <a:pt x="0" y="0"/>
                </a:moveTo>
                <a:lnTo>
                  <a:pt x="854119" y="0"/>
                </a:lnTo>
                <a:lnTo>
                  <a:pt x="854119" y="854118"/>
                </a:lnTo>
                <a:lnTo>
                  <a:pt x="0" y="85411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Tree>
    <p:extLst>
      <p:ext uri="{BB962C8B-B14F-4D97-AF65-F5344CB8AC3E}">
        <p14:creationId xmlns:p14="http://schemas.microsoft.com/office/powerpoint/2010/main" val="3429078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276600" y="5524829"/>
            <a:ext cx="0" cy="2305592"/>
          </a:xfrm>
          <a:prstGeom prst="line">
            <a:avLst/>
          </a:prstGeom>
          <a:ln w="9525" cap="flat">
            <a:solidFill>
              <a:srgbClr val="6D745F"/>
            </a:solidFill>
            <a:prstDash val="solid"/>
            <a:headEnd type="none" w="sm" len="sm"/>
            <a:tailEnd type="none" w="sm" len="sm"/>
          </a:ln>
        </p:spPr>
        <p:txBody>
          <a:bodyPr/>
          <a:lstStyle/>
          <a:p>
            <a:endParaRPr lang="fr-MA"/>
          </a:p>
        </p:txBody>
      </p:sp>
      <p:sp>
        <p:nvSpPr>
          <p:cNvPr id="3" name="TextBox 3"/>
          <p:cNvSpPr txBox="1"/>
          <p:nvPr/>
        </p:nvSpPr>
        <p:spPr>
          <a:xfrm>
            <a:off x="1198905" y="1248802"/>
            <a:ext cx="7945095" cy="2903220"/>
          </a:xfrm>
          <a:prstGeom prst="rect">
            <a:avLst/>
          </a:prstGeom>
        </p:spPr>
        <p:txBody>
          <a:bodyPr lIns="0" tIns="0" rIns="0" bIns="0" rtlCol="0" anchor="t">
            <a:spAutoFit/>
          </a:bodyPr>
          <a:lstStyle/>
          <a:p>
            <a:pPr marL="0" lvl="0" indent="0" algn="l">
              <a:lnSpc>
                <a:spcPts val="11655"/>
              </a:lnSpc>
            </a:pPr>
            <a:r>
              <a:rPr lang="en-US" sz="8325">
                <a:solidFill>
                  <a:srgbClr val="6D745F"/>
                </a:solidFill>
                <a:latin typeface="TAN Mon Cheri"/>
                <a:ea typeface="TAN Mon Cheri"/>
                <a:cs typeface="TAN Mon Cheri"/>
                <a:sym typeface="TAN Mon Cheri"/>
              </a:rPr>
              <a:t>Vulnérabilités identifiées</a:t>
            </a:r>
          </a:p>
        </p:txBody>
      </p:sp>
      <p:sp>
        <p:nvSpPr>
          <p:cNvPr id="4" name="Freeform 4"/>
          <p:cNvSpPr/>
          <p:nvPr/>
        </p:nvSpPr>
        <p:spPr>
          <a:xfrm>
            <a:off x="4197298" y="5223786"/>
            <a:ext cx="343191" cy="338387"/>
          </a:xfrm>
          <a:custGeom>
            <a:avLst/>
            <a:gdLst/>
            <a:ahLst/>
            <a:cxnLst/>
            <a:rect l="l" t="t" r="r" b="b"/>
            <a:pathLst>
              <a:path w="343191" h="338387">
                <a:moveTo>
                  <a:pt x="0" y="0"/>
                </a:moveTo>
                <a:lnTo>
                  <a:pt x="343191" y="0"/>
                </a:lnTo>
                <a:lnTo>
                  <a:pt x="343191" y="338387"/>
                </a:lnTo>
                <a:lnTo>
                  <a:pt x="0" y="338387"/>
                </a:lnTo>
                <a:lnTo>
                  <a:pt x="0" y="0"/>
                </a:lnTo>
                <a:close/>
              </a:path>
            </a:pathLst>
          </a:custGeom>
          <a:blipFill>
            <a:blip r:embed="rId3"/>
            <a:stretch>
              <a:fillRect/>
            </a:stretch>
          </a:blipFill>
        </p:spPr>
        <p:txBody>
          <a:bodyPr/>
          <a:lstStyle/>
          <a:p>
            <a:endParaRPr lang="fr-MA"/>
          </a:p>
        </p:txBody>
      </p:sp>
      <p:sp>
        <p:nvSpPr>
          <p:cNvPr id="5" name="Freeform 5"/>
          <p:cNvSpPr/>
          <p:nvPr/>
        </p:nvSpPr>
        <p:spPr>
          <a:xfrm>
            <a:off x="4161640" y="7879801"/>
            <a:ext cx="420993" cy="343627"/>
          </a:xfrm>
          <a:custGeom>
            <a:avLst/>
            <a:gdLst/>
            <a:ahLst/>
            <a:cxnLst/>
            <a:rect l="l" t="t" r="r" b="b"/>
            <a:pathLst>
              <a:path w="420993" h="343627">
                <a:moveTo>
                  <a:pt x="0" y="0"/>
                </a:moveTo>
                <a:lnTo>
                  <a:pt x="420993" y="0"/>
                </a:lnTo>
                <a:lnTo>
                  <a:pt x="420993" y="343626"/>
                </a:lnTo>
                <a:lnTo>
                  <a:pt x="0" y="343626"/>
                </a:lnTo>
                <a:lnTo>
                  <a:pt x="0" y="0"/>
                </a:lnTo>
                <a:close/>
              </a:path>
            </a:pathLst>
          </a:custGeom>
          <a:blipFill>
            <a:blip r:embed="rId4"/>
            <a:stretch>
              <a:fillRect/>
            </a:stretch>
          </a:blipFill>
        </p:spPr>
        <p:txBody>
          <a:bodyPr/>
          <a:lstStyle/>
          <a:p>
            <a:endParaRPr lang="fr-MA"/>
          </a:p>
        </p:txBody>
      </p:sp>
      <p:sp>
        <p:nvSpPr>
          <p:cNvPr id="6" name="Freeform 6"/>
          <p:cNvSpPr/>
          <p:nvPr/>
        </p:nvSpPr>
        <p:spPr>
          <a:xfrm>
            <a:off x="11462228" y="6460257"/>
            <a:ext cx="349783" cy="432459"/>
          </a:xfrm>
          <a:custGeom>
            <a:avLst/>
            <a:gdLst/>
            <a:ahLst/>
            <a:cxnLst/>
            <a:rect l="l" t="t" r="r" b="b"/>
            <a:pathLst>
              <a:path w="349783" h="432459">
                <a:moveTo>
                  <a:pt x="0" y="0"/>
                </a:moveTo>
                <a:lnTo>
                  <a:pt x="349784" y="0"/>
                </a:lnTo>
                <a:lnTo>
                  <a:pt x="349784" y="432460"/>
                </a:lnTo>
                <a:lnTo>
                  <a:pt x="0" y="432460"/>
                </a:lnTo>
                <a:lnTo>
                  <a:pt x="0" y="0"/>
                </a:lnTo>
                <a:close/>
              </a:path>
            </a:pathLst>
          </a:custGeom>
          <a:blipFill>
            <a:blip r:embed="rId5"/>
            <a:stretch>
              <a:fillRect/>
            </a:stretch>
          </a:blipFill>
        </p:spPr>
        <p:txBody>
          <a:bodyPr/>
          <a:lstStyle/>
          <a:p>
            <a:endParaRPr lang="fr-MA"/>
          </a:p>
        </p:txBody>
      </p:sp>
      <p:sp>
        <p:nvSpPr>
          <p:cNvPr id="7" name="Freeform 7"/>
          <p:cNvSpPr/>
          <p:nvPr/>
        </p:nvSpPr>
        <p:spPr>
          <a:xfrm>
            <a:off x="4233206" y="6548533"/>
            <a:ext cx="272057" cy="344661"/>
          </a:xfrm>
          <a:custGeom>
            <a:avLst/>
            <a:gdLst/>
            <a:ahLst/>
            <a:cxnLst/>
            <a:rect l="l" t="t" r="r" b="b"/>
            <a:pathLst>
              <a:path w="272057" h="344661">
                <a:moveTo>
                  <a:pt x="0" y="0"/>
                </a:moveTo>
                <a:lnTo>
                  <a:pt x="272057" y="0"/>
                </a:lnTo>
                <a:lnTo>
                  <a:pt x="272057" y="344662"/>
                </a:lnTo>
                <a:lnTo>
                  <a:pt x="0" y="344662"/>
                </a:lnTo>
                <a:lnTo>
                  <a:pt x="0" y="0"/>
                </a:lnTo>
                <a:close/>
              </a:path>
            </a:pathLst>
          </a:custGeom>
          <a:blipFill>
            <a:blip r:embed="rId6"/>
            <a:stretch>
              <a:fillRect/>
            </a:stretch>
          </a:blipFill>
        </p:spPr>
        <p:txBody>
          <a:bodyPr/>
          <a:lstStyle/>
          <a:p>
            <a:endParaRPr lang="fr-MA"/>
          </a:p>
        </p:txBody>
      </p:sp>
      <p:sp>
        <p:nvSpPr>
          <p:cNvPr id="8" name="Freeform 8"/>
          <p:cNvSpPr/>
          <p:nvPr/>
        </p:nvSpPr>
        <p:spPr>
          <a:xfrm>
            <a:off x="11525837" y="5224585"/>
            <a:ext cx="220792" cy="300244"/>
          </a:xfrm>
          <a:custGeom>
            <a:avLst/>
            <a:gdLst/>
            <a:ahLst/>
            <a:cxnLst/>
            <a:rect l="l" t="t" r="r" b="b"/>
            <a:pathLst>
              <a:path w="220792" h="300244">
                <a:moveTo>
                  <a:pt x="0" y="0"/>
                </a:moveTo>
                <a:lnTo>
                  <a:pt x="220792" y="0"/>
                </a:lnTo>
                <a:lnTo>
                  <a:pt x="220792" y="300243"/>
                </a:lnTo>
                <a:lnTo>
                  <a:pt x="0" y="300243"/>
                </a:lnTo>
                <a:lnTo>
                  <a:pt x="0" y="0"/>
                </a:lnTo>
                <a:close/>
              </a:path>
            </a:pathLst>
          </a:custGeom>
          <a:blipFill>
            <a:blip r:embed="rId7"/>
            <a:stretch>
              <a:fillRect/>
            </a:stretch>
          </a:blipFill>
        </p:spPr>
        <p:txBody>
          <a:bodyPr/>
          <a:lstStyle/>
          <a:p>
            <a:endParaRPr lang="fr-MA"/>
          </a:p>
        </p:txBody>
      </p:sp>
      <p:sp>
        <p:nvSpPr>
          <p:cNvPr id="9" name="TextBox 9"/>
          <p:cNvSpPr txBox="1"/>
          <p:nvPr/>
        </p:nvSpPr>
        <p:spPr>
          <a:xfrm>
            <a:off x="4797238" y="5085472"/>
            <a:ext cx="5212926" cy="547529"/>
          </a:xfrm>
          <a:prstGeom prst="rect">
            <a:avLst/>
          </a:prstGeom>
        </p:spPr>
        <p:txBody>
          <a:bodyPr lIns="0" tIns="0" rIns="0" bIns="0" rtlCol="0" anchor="t">
            <a:spAutoFit/>
          </a:bodyPr>
          <a:lstStyle/>
          <a:p>
            <a:pPr marL="0" lvl="0" indent="0" algn="l">
              <a:lnSpc>
                <a:spcPts val="4599"/>
              </a:lnSpc>
            </a:pPr>
            <a:r>
              <a:rPr lang="en-US" sz="3285">
                <a:solidFill>
                  <a:srgbClr val="000000"/>
                </a:solidFill>
                <a:latin typeface="TS Tarek"/>
                <a:ea typeface="TS Tarek"/>
                <a:cs typeface="TS Tarek"/>
                <a:sym typeface="TS Tarek"/>
              </a:rPr>
              <a:t>SQL Injection – Critique</a:t>
            </a:r>
          </a:p>
        </p:txBody>
      </p:sp>
      <p:sp>
        <p:nvSpPr>
          <p:cNvPr id="10" name="TextBox 10"/>
          <p:cNvSpPr txBox="1"/>
          <p:nvPr/>
        </p:nvSpPr>
        <p:spPr>
          <a:xfrm>
            <a:off x="4797238" y="6413141"/>
            <a:ext cx="4709251" cy="547529"/>
          </a:xfrm>
          <a:prstGeom prst="rect">
            <a:avLst/>
          </a:prstGeom>
        </p:spPr>
        <p:txBody>
          <a:bodyPr lIns="0" tIns="0" rIns="0" bIns="0" rtlCol="0" anchor="t">
            <a:spAutoFit/>
          </a:bodyPr>
          <a:lstStyle/>
          <a:p>
            <a:pPr marL="0" lvl="0" indent="0" algn="l">
              <a:lnSpc>
                <a:spcPts val="4599"/>
              </a:lnSpc>
            </a:pPr>
            <a:r>
              <a:rPr lang="en-US" sz="3285">
                <a:solidFill>
                  <a:srgbClr val="000000"/>
                </a:solidFill>
                <a:latin typeface="TS Tarek"/>
                <a:ea typeface="TS Tarek"/>
                <a:cs typeface="TS Tarek"/>
                <a:sym typeface="TS Tarek"/>
              </a:rPr>
              <a:t>XSS – Élevé</a:t>
            </a:r>
          </a:p>
        </p:txBody>
      </p:sp>
      <p:sp>
        <p:nvSpPr>
          <p:cNvPr id="11" name="TextBox 11"/>
          <p:cNvSpPr txBox="1"/>
          <p:nvPr/>
        </p:nvSpPr>
        <p:spPr>
          <a:xfrm>
            <a:off x="4797238" y="7740810"/>
            <a:ext cx="4709251" cy="547529"/>
          </a:xfrm>
          <a:prstGeom prst="rect">
            <a:avLst/>
          </a:prstGeom>
        </p:spPr>
        <p:txBody>
          <a:bodyPr lIns="0" tIns="0" rIns="0" bIns="0" rtlCol="0" anchor="t">
            <a:spAutoFit/>
          </a:bodyPr>
          <a:lstStyle/>
          <a:p>
            <a:pPr marL="0" lvl="0" indent="0" algn="l">
              <a:lnSpc>
                <a:spcPts val="4599"/>
              </a:lnSpc>
            </a:pPr>
            <a:r>
              <a:rPr lang="en-US" sz="3285">
                <a:solidFill>
                  <a:srgbClr val="000000"/>
                </a:solidFill>
                <a:latin typeface="TS Tarek"/>
                <a:ea typeface="TS Tarek"/>
                <a:cs typeface="TS Tarek"/>
                <a:sym typeface="TS Tarek"/>
              </a:rPr>
              <a:t>CSRF – Moyen</a:t>
            </a:r>
          </a:p>
        </p:txBody>
      </p:sp>
      <p:sp>
        <p:nvSpPr>
          <p:cNvPr id="12" name="TextBox 12"/>
          <p:cNvSpPr txBox="1"/>
          <p:nvPr/>
        </p:nvSpPr>
        <p:spPr>
          <a:xfrm>
            <a:off x="12064626" y="5081467"/>
            <a:ext cx="4709251" cy="547529"/>
          </a:xfrm>
          <a:prstGeom prst="rect">
            <a:avLst/>
          </a:prstGeom>
        </p:spPr>
        <p:txBody>
          <a:bodyPr lIns="0" tIns="0" rIns="0" bIns="0" rtlCol="0" anchor="t">
            <a:spAutoFit/>
          </a:bodyPr>
          <a:lstStyle/>
          <a:p>
            <a:pPr marL="0" lvl="0" indent="0" algn="l">
              <a:lnSpc>
                <a:spcPts val="4599"/>
              </a:lnSpc>
            </a:pPr>
            <a:r>
              <a:rPr lang="en-US" sz="3285">
                <a:solidFill>
                  <a:srgbClr val="000000"/>
                </a:solidFill>
                <a:latin typeface="TS Tarek"/>
                <a:ea typeface="TS Tarek"/>
                <a:cs typeface="TS Tarek"/>
                <a:sym typeface="TS Tarek"/>
              </a:rPr>
              <a:t>API exposée – Élevé</a:t>
            </a:r>
          </a:p>
        </p:txBody>
      </p:sp>
      <p:sp>
        <p:nvSpPr>
          <p:cNvPr id="13" name="TextBox 13"/>
          <p:cNvSpPr txBox="1"/>
          <p:nvPr/>
        </p:nvSpPr>
        <p:spPr>
          <a:xfrm>
            <a:off x="12064626" y="6409137"/>
            <a:ext cx="4709251" cy="547529"/>
          </a:xfrm>
          <a:prstGeom prst="rect">
            <a:avLst/>
          </a:prstGeom>
        </p:spPr>
        <p:txBody>
          <a:bodyPr lIns="0" tIns="0" rIns="0" bIns="0" rtlCol="0" anchor="t">
            <a:spAutoFit/>
          </a:bodyPr>
          <a:lstStyle/>
          <a:p>
            <a:pPr marL="0" lvl="0" indent="0" algn="l">
              <a:lnSpc>
                <a:spcPts val="4599"/>
              </a:lnSpc>
            </a:pPr>
            <a:r>
              <a:rPr lang="en-US" sz="3285">
                <a:solidFill>
                  <a:srgbClr val="000000"/>
                </a:solidFill>
                <a:latin typeface="TS Tarek"/>
                <a:ea typeface="TS Tarek"/>
                <a:cs typeface="TS Tarek"/>
                <a:sym typeface="TS Tarek"/>
              </a:rPr>
              <a:t>Force brute – Moyen</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45425" y="1509937"/>
            <a:ext cx="515839" cy="541508"/>
          </a:xfrm>
          <a:custGeom>
            <a:avLst/>
            <a:gdLst/>
            <a:ahLst/>
            <a:cxnLst/>
            <a:rect l="l" t="t" r="r" b="b"/>
            <a:pathLst>
              <a:path w="515839" h="541508">
                <a:moveTo>
                  <a:pt x="0" y="0"/>
                </a:moveTo>
                <a:lnTo>
                  <a:pt x="515839" y="0"/>
                </a:lnTo>
                <a:lnTo>
                  <a:pt x="515839" y="541508"/>
                </a:lnTo>
                <a:lnTo>
                  <a:pt x="0" y="541508"/>
                </a:lnTo>
                <a:lnTo>
                  <a:pt x="0" y="0"/>
                </a:lnTo>
                <a:close/>
              </a:path>
            </a:pathLst>
          </a:custGeom>
          <a:blipFill>
            <a:blip r:embed="rId3"/>
            <a:stretch>
              <a:fillRect/>
            </a:stretch>
          </a:blipFill>
        </p:spPr>
        <p:txBody>
          <a:bodyPr/>
          <a:lstStyle/>
          <a:p>
            <a:endParaRPr lang="fr-MA"/>
          </a:p>
        </p:txBody>
      </p:sp>
      <p:sp>
        <p:nvSpPr>
          <p:cNvPr id="3" name="AutoShape 3"/>
          <p:cNvSpPr/>
          <p:nvPr/>
        </p:nvSpPr>
        <p:spPr>
          <a:xfrm flipV="1">
            <a:off x="997022" y="9254563"/>
            <a:ext cx="15746573" cy="0"/>
          </a:xfrm>
          <a:prstGeom prst="line">
            <a:avLst/>
          </a:prstGeom>
          <a:ln w="9525" cap="flat">
            <a:solidFill>
              <a:srgbClr val="6D745F"/>
            </a:solidFill>
            <a:prstDash val="solid"/>
            <a:headEnd type="none" w="sm" len="sm"/>
            <a:tailEnd type="none" w="sm" len="sm"/>
          </a:ln>
        </p:spPr>
        <p:txBody>
          <a:bodyPr/>
          <a:lstStyle/>
          <a:p>
            <a:endParaRPr lang="fr-MA"/>
          </a:p>
        </p:txBody>
      </p:sp>
      <p:sp>
        <p:nvSpPr>
          <p:cNvPr id="4" name="Freeform 4"/>
          <p:cNvSpPr/>
          <p:nvPr/>
        </p:nvSpPr>
        <p:spPr>
          <a:xfrm>
            <a:off x="16603264" y="9117912"/>
            <a:ext cx="281883" cy="281883"/>
          </a:xfrm>
          <a:custGeom>
            <a:avLst/>
            <a:gdLst/>
            <a:ahLst/>
            <a:cxnLst/>
            <a:rect l="l" t="t" r="r" b="b"/>
            <a:pathLst>
              <a:path w="281883" h="281883">
                <a:moveTo>
                  <a:pt x="0" y="0"/>
                </a:moveTo>
                <a:lnTo>
                  <a:pt x="281883" y="0"/>
                </a:lnTo>
                <a:lnTo>
                  <a:pt x="281883" y="281883"/>
                </a:lnTo>
                <a:lnTo>
                  <a:pt x="0" y="281883"/>
                </a:lnTo>
                <a:lnTo>
                  <a:pt x="0" y="0"/>
                </a:lnTo>
                <a:close/>
              </a:path>
            </a:pathLst>
          </a:custGeom>
          <a:blipFill>
            <a:blip r:embed="rId4"/>
            <a:stretch>
              <a:fillRect/>
            </a:stretch>
          </a:blipFill>
        </p:spPr>
        <p:txBody>
          <a:bodyPr/>
          <a:lstStyle/>
          <a:p>
            <a:endParaRPr lang="fr-MA"/>
          </a:p>
        </p:txBody>
      </p:sp>
      <p:sp>
        <p:nvSpPr>
          <p:cNvPr id="5" name="Freeform 5"/>
          <p:cNvSpPr/>
          <p:nvPr/>
        </p:nvSpPr>
        <p:spPr>
          <a:xfrm>
            <a:off x="8229600" y="2149997"/>
            <a:ext cx="9144507" cy="5721262"/>
          </a:xfrm>
          <a:custGeom>
            <a:avLst/>
            <a:gdLst/>
            <a:ahLst/>
            <a:cxnLst/>
            <a:rect l="l" t="t" r="r" b="b"/>
            <a:pathLst>
              <a:path w="9144507" h="5721262">
                <a:moveTo>
                  <a:pt x="0" y="0"/>
                </a:moveTo>
                <a:lnTo>
                  <a:pt x="9144507" y="0"/>
                </a:lnTo>
                <a:lnTo>
                  <a:pt x="9144507" y="5721262"/>
                </a:lnTo>
                <a:lnTo>
                  <a:pt x="0" y="5721262"/>
                </a:lnTo>
                <a:lnTo>
                  <a:pt x="0" y="0"/>
                </a:lnTo>
                <a:close/>
              </a:path>
            </a:pathLst>
          </a:custGeom>
          <a:blipFill>
            <a:blip r:embed="rId5"/>
            <a:stretch>
              <a:fillRect l="-23585"/>
            </a:stretch>
          </a:blipFill>
        </p:spPr>
        <p:txBody>
          <a:bodyPr/>
          <a:lstStyle/>
          <a:p>
            <a:endParaRPr lang="fr-MA"/>
          </a:p>
        </p:txBody>
      </p:sp>
      <p:sp>
        <p:nvSpPr>
          <p:cNvPr id="6" name="TextBox 6"/>
          <p:cNvSpPr txBox="1"/>
          <p:nvPr/>
        </p:nvSpPr>
        <p:spPr>
          <a:xfrm>
            <a:off x="2316052" y="1510947"/>
            <a:ext cx="6317644" cy="540499"/>
          </a:xfrm>
          <a:prstGeom prst="rect">
            <a:avLst/>
          </a:prstGeom>
        </p:spPr>
        <p:txBody>
          <a:bodyPr lIns="0" tIns="0" rIns="0" bIns="0" rtlCol="0" anchor="t">
            <a:spAutoFit/>
          </a:bodyPr>
          <a:lstStyle/>
          <a:p>
            <a:pPr marL="0" lvl="0" indent="0" algn="l">
              <a:lnSpc>
                <a:spcPts val="4486"/>
              </a:lnSpc>
            </a:pPr>
            <a:r>
              <a:rPr lang="en-US" sz="3204" dirty="0">
                <a:solidFill>
                  <a:srgbClr val="000000"/>
                </a:solidFill>
                <a:latin typeface="TAN Mon Cheri"/>
                <a:ea typeface="TAN Mon Cheri"/>
                <a:cs typeface="TAN Mon Cheri"/>
                <a:sym typeface="TAN Mon Cheri"/>
              </a:rPr>
              <a:t>SQL Injection</a:t>
            </a:r>
          </a:p>
        </p:txBody>
      </p:sp>
      <p:sp>
        <p:nvSpPr>
          <p:cNvPr id="7" name="TextBox 7"/>
          <p:cNvSpPr txBox="1"/>
          <p:nvPr/>
        </p:nvSpPr>
        <p:spPr>
          <a:xfrm>
            <a:off x="1536589" y="3009900"/>
            <a:ext cx="6317644" cy="3165479"/>
          </a:xfrm>
          <a:prstGeom prst="rect">
            <a:avLst/>
          </a:prstGeom>
        </p:spPr>
        <p:txBody>
          <a:bodyPr lIns="0" tIns="0" rIns="0" bIns="0" rtlCol="0" anchor="t">
            <a:spAutoFit/>
          </a:bodyPr>
          <a:lstStyle/>
          <a:p>
            <a:pPr marL="0" lvl="0" indent="0" algn="l">
              <a:lnSpc>
                <a:spcPts val="3140"/>
              </a:lnSpc>
            </a:pPr>
            <a:r>
              <a:rPr lang="en-US" sz="2243" dirty="0" err="1">
                <a:solidFill>
                  <a:srgbClr val="000000"/>
                </a:solidFill>
                <a:latin typeface="TS Tarek"/>
                <a:ea typeface="TS Tarek"/>
                <a:cs typeface="TS Tarek"/>
                <a:sym typeface="TS Tarek"/>
              </a:rPr>
              <a:t>Vulnérabilité</a:t>
            </a:r>
            <a:r>
              <a:rPr lang="en-US" sz="2243" dirty="0">
                <a:solidFill>
                  <a:srgbClr val="000000"/>
                </a:solidFill>
                <a:latin typeface="TS Tarek"/>
                <a:ea typeface="TS Tarek"/>
                <a:cs typeface="TS Tarek"/>
                <a:sym typeface="TS Tarek"/>
              </a:rPr>
              <a:t> critique </a:t>
            </a:r>
            <a:r>
              <a:rPr lang="en-US" sz="2243" dirty="0" err="1">
                <a:solidFill>
                  <a:srgbClr val="000000"/>
                </a:solidFill>
                <a:latin typeface="TS Tarek"/>
                <a:ea typeface="TS Tarek"/>
                <a:cs typeface="TS Tarek"/>
                <a:sym typeface="TS Tarek"/>
              </a:rPr>
              <a:t>permettant</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l'accès</a:t>
            </a:r>
            <a:r>
              <a:rPr lang="en-US" sz="2243" dirty="0">
                <a:solidFill>
                  <a:srgbClr val="000000"/>
                </a:solidFill>
                <a:latin typeface="TS Tarek"/>
                <a:ea typeface="TS Tarek"/>
                <a:cs typeface="TS Tarek"/>
                <a:sym typeface="TS Tarek"/>
              </a:rPr>
              <a:t> non </a:t>
            </a:r>
            <a:r>
              <a:rPr lang="en-US" sz="2243" dirty="0" err="1">
                <a:solidFill>
                  <a:srgbClr val="000000"/>
                </a:solidFill>
                <a:latin typeface="TS Tarek"/>
                <a:ea typeface="TS Tarek"/>
                <a:cs typeface="TS Tarek"/>
                <a:sym typeface="TS Tarek"/>
              </a:rPr>
              <a:t>autorisé</a:t>
            </a:r>
            <a:r>
              <a:rPr lang="en-US" sz="2243" dirty="0">
                <a:solidFill>
                  <a:srgbClr val="000000"/>
                </a:solidFill>
                <a:latin typeface="TS Tarek"/>
                <a:ea typeface="TS Tarek"/>
                <a:cs typeface="TS Tarek"/>
                <a:sym typeface="TS Tarek"/>
              </a:rPr>
              <a:t> à la base de </a:t>
            </a:r>
            <a:r>
              <a:rPr lang="en-US" sz="2243" dirty="0" err="1">
                <a:solidFill>
                  <a:srgbClr val="000000"/>
                </a:solidFill>
                <a:latin typeface="TS Tarek"/>
                <a:ea typeface="TS Tarek"/>
                <a:cs typeface="TS Tarek"/>
                <a:sym typeface="TS Tarek"/>
              </a:rPr>
              <a:t>données</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L'injection</a:t>
            </a:r>
            <a:r>
              <a:rPr lang="en-US" sz="2243" dirty="0">
                <a:solidFill>
                  <a:srgbClr val="000000"/>
                </a:solidFill>
                <a:latin typeface="TS Tarek"/>
                <a:ea typeface="TS Tarek"/>
                <a:cs typeface="TS Tarek"/>
                <a:sym typeface="TS Tarek"/>
              </a:rPr>
              <a:t> de </a:t>
            </a:r>
            <a:r>
              <a:rPr lang="en-US" sz="2243" dirty="0" err="1">
                <a:solidFill>
                  <a:srgbClr val="000000"/>
                </a:solidFill>
                <a:latin typeface="TS Tarek"/>
                <a:ea typeface="TS Tarek"/>
                <a:cs typeface="TS Tarek"/>
                <a:sym typeface="TS Tarek"/>
              </a:rPr>
              <a:t>requêtes</a:t>
            </a:r>
            <a:r>
              <a:rPr lang="en-US" sz="2243" dirty="0">
                <a:solidFill>
                  <a:srgbClr val="000000"/>
                </a:solidFill>
                <a:latin typeface="TS Tarek"/>
                <a:ea typeface="TS Tarek"/>
                <a:cs typeface="TS Tarek"/>
                <a:sym typeface="TS Tarek"/>
              </a:rPr>
              <a:t> SQL </a:t>
            </a:r>
            <a:r>
              <a:rPr lang="en-US" sz="2243" dirty="0" err="1">
                <a:solidFill>
                  <a:srgbClr val="000000"/>
                </a:solidFill>
                <a:latin typeface="TS Tarek"/>
                <a:ea typeface="TS Tarek"/>
                <a:cs typeface="TS Tarek"/>
                <a:sym typeface="TS Tarek"/>
              </a:rPr>
              <a:t>malveillantes</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contourne</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l'authentification</a:t>
            </a:r>
            <a:r>
              <a:rPr lang="en-US" sz="2243" dirty="0">
                <a:solidFill>
                  <a:srgbClr val="000000"/>
                </a:solidFill>
                <a:latin typeface="TS Tarek"/>
                <a:ea typeface="TS Tarek"/>
                <a:cs typeface="TS Tarek"/>
                <a:sym typeface="TS Tarek"/>
              </a:rPr>
              <a:t> et expose les </a:t>
            </a:r>
            <a:r>
              <a:rPr lang="en-US" sz="2243" dirty="0" err="1">
                <a:solidFill>
                  <a:srgbClr val="000000"/>
                </a:solidFill>
                <a:latin typeface="TS Tarek"/>
                <a:ea typeface="TS Tarek"/>
                <a:cs typeface="TS Tarek"/>
                <a:sym typeface="TS Tarek"/>
              </a:rPr>
              <a:t>données</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sensibles</a:t>
            </a:r>
            <a:r>
              <a:rPr lang="en-US" sz="2243" dirty="0">
                <a:solidFill>
                  <a:srgbClr val="000000"/>
                </a:solidFill>
                <a:latin typeface="TS Tarek"/>
                <a:ea typeface="TS Tarek"/>
                <a:cs typeface="TS Tarek"/>
                <a:sym typeface="TS Tarek"/>
              </a:rPr>
              <a:t>.</a:t>
            </a:r>
          </a:p>
          <a:p>
            <a:pPr marL="0" lvl="0" indent="0" algn="l">
              <a:lnSpc>
                <a:spcPts val="3140"/>
              </a:lnSpc>
            </a:pPr>
            <a:endParaRPr lang="en-US" sz="2243" dirty="0">
              <a:solidFill>
                <a:srgbClr val="000000"/>
              </a:solidFill>
              <a:latin typeface="TS Tarek"/>
              <a:ea typeface="TS Tarek"/>
              <a:cs typeface="TS Tarek"/>
              <a:sym typeface="TS Tarek"/>
            </a:endParaRPr>
          </a:p>
          <a:p>
            <a:pPr marL="0" lvl="0" indent="0" algn="l">
              <a:lnSpc>
                <a:spcPts val="3140"/>
              </a:lnSpc>
            </a:pP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Risque</a:t>
            </a:r>
            <a:r>
              <a:rPr lang="en-US" sz="2243" dirty="0">
                <a:solidFill>
                  <a:srgbClr val="000000"/>
                </a:solidFill>
                <a:latin typeface="TS Tarek"/>
                <a:ea typeface="TS Tarek"/>
                <a:cs typeface="TS Tarek"/>
                <a:sym typeface="TS Tarek"/>
              </a:rPr>
              <a:t> de </a:t>
            </a:r>
            <a:r>
              <a:rPr lang="en-US" sz="2243" dirty="0" err="1">
                <a:solidFill>
                  <a:srgbClr val="000000"/>
                </a:solidFill>
                <a:latin typeface="TS Tarek"/>
                <a:ea typeface="TS Tarek"/>
                <a:cs typeface="TS Tarek"/>
                <a:sym typeface="TS Tarek"/>
              </a:rPr>
              <a:t>compromission</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totale</a:t>
            </a:r>
            <a:r>
              <a:rPr lang="en-US" sz="2243" dirty="0">
                <a:solidFill>
                  <a:srgbClr val="000000"/>
                </a:solidFill>
                <a:latin typeface="TS Tarek"/>
                <a:ea typeface="TS Tarek"/>
                <a:cs typeface="TS Tarek"/>
                <a:sym typeface="TS Tarek"/>
              </a:rPr>
              <a:t> du </a:t>
            </a:r>
            <a:r>
              <a:rPr lang="en-US" sz="2243" dirty="0" err="1">
                <a:solidFill>
                  <a:srgbClr val="000000"/>
                </a:solidFill>
                <a:latin typeface="TS Tarek"/>
                <a:ea typeface="TS Tarek"/>
                <a:cs typeface="TS Tarek"/>
                <a:sym typeface="TS Tarek"/>
              </a:rPr>
              <a:t>système</a:t>
            </a:r>
            <a:endParaRPr lang="en-US" sz="2243" dirty="0">
              <a:solidFill>
                <a:srgbClr val="000000"/>
              </a:solidFill>
              <a:latin typeface="TS Tarek"/>
              <a:ea typeface="TS Tarek"/>
              <a:cs typeface="TS Tarek"/>
              <a:sym typeface="TS Tarek"/>
            </a:endParaRPr>
          </a:p>
          <a:p>
            <a:pPr marL="0" lvl="0" indent="0" algn="l">
              <a:lnSpc>
                <a:spcPts val="3140"/>
              </a:lnSpc>
            </a:pPr>
            <a:r>
              <a:rPr lang="en-US" sz="2243" dirty="0">
                <a:solidFill>
                  <a:srgbClr val="000000"/>
                </a:solidFill>
                <a:latin typeface="TS Tarek"/>
                <a:ea typeface="TS Tarek"/>
                <a:cs typeface="TS Tarek"/>
                <a:sym typeface="TS Tarek"/>
              </a:rPr>
              <a:t>• Extraction de </a:t>
            </a:r>
            <a:r>
              <a:rPr lang="en-US" sz="2243" dirty="0" err="1">
                <a:solidFill>
                  <a:srgbClr val="000000"/>
                </a:solidFill>
                <a:latin typeface="TS Tarek"/>
                <a:ea typeface="TS Tarek"/>
                <a:cs typeface="TS Tarek"/>
                <a:sym typeface="TS Tarek"/>
              </a:rPr>
              <a:t>données</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confidentielles</a:t>
            </a:r>
            <a:endParaRPr lang="en-US" sz="2243" dirty="0">
              <a:solidFill>
                <a:srgbClr val="000000"/>
              </a:solidFill>
              <a:latin typeface="TS Tarek"/>
              <a:ea typeface="TS Tarek"/>
              <a:cs typeface="TS Tarek"/>
              <a:sym typeface="TS Tarek"/>
            </a:endParaRPr>
          </a:p>
          <a:p>
            <a:pPr marL="0" lvl="0" indent="0" algn="l">
              <a:lnSpc>
                <a:spcPts val="3140"/>
              </a:lnSpc>
            </a:pPr>
            <a:r>
              <a:rPr lang="en-US" sz="2243" dirty="0">
                <a:solidFill>
                  <a:srgbClr val="000000"/>
                </a:solidFill>
                <a:latin typeface="TS Tarek"/>
                <a:ea typeface="TS Tarek"/>
                <a:cs typeface="TS Tarek"/>
                <a:sym typeface="TS Tarek"/>
              </a:rPr>
              <a:t>• Modification </a:t>
            </a:r>
            <a:r>
              <a:rPr lang="en-US" sz="2243" dirty="0" err="1">
                <a:solidFill>
                  <a:srgbClr val="000000"/>
                </a:solidFill>
                <a:latin typeface="TS Tarek"/>
                <a:ea typeface="TS Tarek"/>
                <a:cs typeface="TS Tarek"/>
                <a:sym typeface="TS Tarek"/>
              </a:rPr>
              <a:t>ou</a:t>
            </a:r>
            <a:r>
              <a:rPr lang="en-US" sz="2243" dirty="0">
                <a:solidFill>
                  <a:srgbClr val="000000"/>
                </a:solidFill>
                <a:latin typeface="TS Tarek"/>
                <a:ea typeface="TS Tarek"/>
                <a:cs typeface="TS Tarek"/>
                <a:sym typeface="TS Tarek"/>
              </a:rPr>
              <a:t> suppression de </a:t>
            </a:r>
            <a:r>
              <a:rPr lang="en-US" sz="2243" dirty="0" err="1">
                <a:solidFill>
                  <a:srgbClr val="000000"/>
                </a:solidFill>
                <a:latin typeface="TS Tarek"/>
                <a:ea typeface="TS Tarek"/>
                <a:cs typeface="TS Tarek"/>
                <a:sym typeface="TS Tarek"/>
              </a:rPr>
              <a:t>données</a:t>
            </a:r>
            <a:endParaRPr lang="en-US" sz="2243" dirty="0">
              <a:solidFill>
                <a:srgbClr val="000000"/>
              </a:solidFill>
              <a:latin typeface="TS Tarek"/>
              <a:ea typeface="TS Tarek"/>
              <a:cs typeface="TS Tarek"/>
              <a:sym typeface="TS Tarek"/>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flipV="1">
            <a:off x="997022" y="9254563"/>
            <a:ext cx="15746573" cy="0"/>
          </a:xfrm>
          <a:prstGeom prst="line">
            <a:avLst/>
          </a:prstGeom>
          <a:ln w="9525" cap="flat">
            <a:solidFill>
              <a:srgbClr val="6D745F"/>
            </a:solidFill>
            <a:prstDash val="solid"/>
            <a:headEnd type="none" w="sm" len="sm"/>
            <a:tailEnd type="none" w="sm" len="sm"/>
          </a:ln>
        </p:spPr>
        <p:txBody>
          <a:bodyPr/>
          <a:lstStyle/>
          <a:p>
            <a:endParaRPr lang="fr-MA"/>
          </a:p>
        </p:txBody>
      </p:sp>
      <p:sp>
        <p:nvSpPr>
          <p:cNvPr id="4" name="Freeform 4"/>
          <p:cNvSpPr/>
          <p:nvPr/>
        </p:nvSpPr>
        <p:spPr>
          <a:xfrm>
            <a:off x="16227891" y="8742595"/>
            <a:ext cx="1031409" cy="1031409"/>
          </a:xfrm>
          <a:custGeom>
            <a:avLst/>
            <a:gdLst/>
            <a:ahLst/>
            <a:cxnLst/>
            <a:rect l="l" t="t" r="r" b="b"/>
            <a:pathLst>
              <a:path w="1031409" h="1031409">
                <a:moveTo>
                  <a:pt x="0" y="0"/>
                </a:moveTo>
                <a:lnTo>
                  <a:pt x="1031409" y="0"/>
                </a:lnTo>
                <a:lnTo>
                  <a:pt x="1031409" y="1031410"/>
                </a:lnTo>
                <a:lnTo>
                  <a:pt x="0" y="1031410"/>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fr-MA"/>
          </a:p>
        </p:txBody>
      </p:sp>
      <p:sp>
        <p:nvSpPr>
          <p:cNvPr id="5" name="Freeform 5"/>
          <p:cNvSpPr/>
          <p:nvPr/>
        </p:nvSpPr>
        <p:spPr>
          <a:xfrm>
            <a:off x="6644865" y="2489666"/>
            <a:ext cx="11301259" cy="5594123"/>
          </a:xfrm>
          <a:custGeom>
            <a:avLst/>
            <a:gdLst/>
            <a:ahLst/>
            <a:cxnLst/>
            <a:rect l="l" t="t" r="r" b="b"/>
            <a:pathLst>
              <a:path w="11301259" h="5594123">
                <a:moveTo>
                  <a:pt x="0" y="0"/>
                </a:moveTo>
                <a:lnTo>
                  <a:pt x="11301259" y="0"/>
                </a:lnTo>
                <a:lnTo>
                  <a:pt x="11301259" y="5594124"/>
                </a:lnTo>
                <a:lnTo>
                  <a:pt x="0" y="5594124"/>
                </a:lnTo>
                <a:lnTo>
                  <a:pt x="0" y="0"/>
                </a:lnTo>
                <a:close/>
              </a:path>
            </a:pathLst>
          </a:custGeom>
          <a:blipFill>
            <a:blip r:embed="rId5"/>
            <a:stretch>
              <a:fillRect/>
            </a:stretch>
          </a:blipFill>
        </p:spPr>
        <p:txBody>
          <a:bodyPr/>
          <a:lstStyle/>
          <a:p>
            <a:endParaRPr lang="fr-MA"/>
          </a:p>
        </p:txBody>
      </p:sp>
      <p:sp>
        <p:nvSpPr>
          <p:cNvPr id="6" name="TextBox 6"/>
          <p:cNvSpPr txBox="1"/>
          <p:nvPr/>
        </p:nvSpPr>
        <p:spPr>
          <a:xfrm>
            <a:off x="2133600" y="1104900"/>
            <a:ext cx="5486400" cy="1154162"/>
          </a:xfrm>
          <a:prstGeom prst="rect">
            <a:avLst/>
          </a:prstGeom>
        </p:spPr>
        <p:txBody>
          <a:bodyPr wrap="square" lIns="0" tIns="0" rIns="0" bIns="0" rtlCol="0" anchor="t">
            <a:spAutoFit/>
          </a:bodyPr>
          <a:lstStyle/>
          <a:p>
            <a:pPr marL="0" lvl="0" indent="0" algn="l">
              <a:lnSpc>
                <a:spcPts val="4486"/>
              </a:lnSpc>
            </a:pPr>
            <a:r>
              <a:rPr lang="en-US" sz="3204" dirty="0">
                <a:solidFill>
                  <a:srgbClr val="000000"/>
                </a:solidFill>
                <a:latin typeface="TAN Mon Cheri"/>
                <a:ea typeface="TAN Mon Cheri"/>
                <a:cs typeface="TAN Mon Cheri"/>
                <a:sym typeface="TAN Mon Cheri"/>
              </a:rPr>
              <a:t>Cross-Site Scripting (XSS)</a:t>
            </a:r>
          </a:p>
        </p:txBody>
      </p:sp>
      <p:sp>
        <p:nvSpPr>
          <p:cNvPr id="7" name="TextBox 7"/>
          <p:cNvSpPr txBox="1"/>
          <p:nvPr/>
        </p:nvSpPr>
        <p:spPr>
          <a:xfrm>
            <a:off x="1247036" y="2616230"/>
            <a:ext cx="5097681" cy="2724315"/>
          </a:xfrm>
          <a:prstGeom prst="rect">
            <a:avLst/>
          </a:prstGeom>
        </p:spPr>
        <p:txBody>
          <a:bodyPr lIns="0" tIns="0" rIns="0" bIns="0" rtlCol="0" anchor="t">
            <a:spAutoFit/>
          </a:bodyPr>
          <a:lstStyle/>
          <a:p>
            <a:pPr marL="0" lvl="0" indent="0" algn="just">
              <a:lnSpc>
                <a:spcPts val="3140"/>
              </a:lnSpc>
            </a:pPr>
            <a:r>
              <a:rPr lang="en-US" sz="2243" dirty="0">
                <a:solidFill>
                  <a:srgbClr val="000000"/>
                </a:solidFill>
                <a:latin typeface="TS Tarek"/>
                <a:ea typeface="TS Tarek"/>
                <a:cs typeface="TS Tarek"/>
                <a:sym typeface="TS Tarek"/>
              </a:rPr>
              <a:t>Le Cross-Site Scripting (XSS) </a:t>
            </a:r>
            <a:r>
              <a:rPr lang="en-US" sz="2243" dirty="0" err="1">
                <a:solidFill>
                  <a:srgbClr val="000000"/>
                </a:solidFill>
                <a:latin typeface="TS Tarek"/>
                <a:ea typeface="TS Tarek"/>
                <a:cs typeface="TS Tarek"/>
                <a:sym typeface="TS Tarek"/>
              </a:rPr>
              <a:t>est</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une</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vulnérabilité</a:t>
            </a:r>
            <a:r>
              <a:rPr lang="en-US" sz="2243" dirty="0">
                <a:solidFill>
                  <a:srgbClr val="000000"/>
                </a:solidFill>
                <a:latin typeface="TS Tarek"/>
                <a:ea typeface="TS Tarek"/>
                <a:cs typeface="TS Tarek"/>
                <a:sym typeface="TS Tarek"/>
              </a:rPr>
              <a:t> web qui </a:t>
            </a:r>
            <a:r>
              <a:rPr lang="en-US" sz="2243" dirty="0" err="1">
                <a:solidFill>
                  <a:srgbClr val="000000"/>
                </a:solidFill>
                <a:latin typeface="TS Tarek"/>
                <a:ea typeface="TS Tarek"/>
                <a:cs typeface="TS Tarek"/>
                <a:sym typeface="TS Tarek"/>
              </a:rPr>
              <a:t>permet</a:t>
            </a:r>
            <a:r>
              <a:rPr lang="en-US" sz="2243" dirty="0">
                <a:solidFill>
                  <a:srgbClr val="000000"/>
                </a:solidFill>
                <a:latin typeface="TS Tarek"/>
                <a:ea typeface="TS Tarek"/>
                <a:cs typeface="TS Tarek"/>
                <a:sym typeface="TS Tarek"/>
              </a:rPr>
              <a:t> à un </a:t>
            </a:r>
            <a:r>
              <a:rPr lang="en-US" sz="2243" dirty="0" err="1">
                <a:solidFill>
                  <a:srgbClr val="000000"/>
                </a:solidFill>
                <a:latin typeface="TS Tarek"/>
                <a:ea typeface="TS Tarek"/>
                <a:cs typeface="TS Tarek"/>
                <a:sym typeface="TS Tarek"/>
              </a:rPr>
              <a:t>attaquant</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d’injecter</a:t>
            </a:r>
            <a:r>
              <a:rPr lang="en-US" sz="2243" dirty="0">
                <a:solidFill>
                  <a:srgbClr val="000000"/>
                </a:solidFill>
                <a:latin typeface="TS Tarek"/>
                <a:ea typeface="TS Tarek"/>
                <a:cs typeface="TS Tarek"/>
                <a:sym typeface="TS Tarek"/>
              </a:rPr>
              <a:t> du code JavaScript </a:t>
            </a:r>
            <a:r>
              <a:rPr lang="en-US" sz="2243" dirty="0" err="1">
                <a:solidFill>
                  <a:srgbClr val="000000"/>
                </a:solidFill>
                <a:latin typeface="TS Tarek"/>
                <a:ea typeface="TS Tarek"/>
                <a:cs typeface="TS Tarek"/>
                <a:sym typeface="TS Tarek"/>
              </a:rPr>
              <a:t>malveillant</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dans</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une</a:t>
            </a:r>
            <a:r>
              <a:rPr lang="en-US" sz="2243" dirty="0">
                <a:solidFill>
                  <a:srgbClr val="000000"/>
                </a:solidFill>
                <a:latin typeface="TS Tarek"/>
                <a:ea typeface="TS Tarek"/>
                <a:cs typeface="TS Tarek"/>
                <a:sym typeface="TS Tarek"/>
              </a:rPr>
              <a:t> page </a:t>
            </a:r>
            <a:r>
              <a:rPr lang="en-US" sz="2243" dirty="0" err="1">
                <a:solidFill>
                  <a:srgbClr val="000000"/>
                </a:solidFill>
                <a:latin typeface="TS Tarek"/>
                <a:ea typeface="TS Tarek"/>
                <a:cs typeface="TS Tarek"/>
                <a:sym typeface="TS Tarek"/>
              </a:rPr>
              <a:t>consultée</a:t>
            </a:r>
            <a:r>
              <a:rPr lang="en-US" sz="2243" dirty="0">
                <a:solidFill>
                  <a:srgbClr val="000000"/>
                </a:solidFill>
                <a:latin typeface="TS Tarek"/>
                <a:ea typeface="TS Tarek"/>
                <a:cs typeface="TS Tarek"/>
                <a:sym typeface="TS Tarek"/>
              </a:rPr>
              <a:t> par un </a:t>
            </a:r>
            <a:r>
              <a:rPr lang="en-US" sz="2243" dirty="0" err="1">
                <a:solidFill>
                  <a:srgbClr val="000000"/>
                </a:solidFill>
                <a:latin typeface="TS Tarek"/>
                <a:ea typeface="TS Tarek"/>
                <a:cs typeface="TS Tarek"/>
                <a:sym typeface="TS Tarek"/>
              </a:rPr>
              <a:t>utilisateur</a:t>
            </a:r>
            <a:r>
              <a:rPr lang="en-US" sz="2243" dirty="0">
                <a:solidFill>
                  <a:srgbClr val="000000"/>
                </a:solidFill>
                <a:latin typeface="TS Tarek"/>
                <a:ea typeface="TS Tarek"/>
                <a:cs typeface="TS Tarek"/>
                <a:sym typeface="TS Tarek"/>
              </a:rPr>
              <a:t>. Elle </a:t>
            </a:r>
            <a:r>
              <a:rPr lang="en-US" sz="2243" dirty="0" err="1">
                <a:solidFill>
                  <a:srgbClr val="000000"/>
                </a:solidFill>
                <a:latin typeface="TS Tarek"/>
                <a:ea typeface="TS Tarek"/>
                <a:cs typeface="TS Tarek"/>
                <a:sym typeface="TS Tarek"/>
              </a:rPr>
              <a:t>exploite</a:t>
            </a:r>
            <a:r>
              <a:rPr lang="en-US" sz="2243" dirty="0">
                <a:solidFill>
                  <a:srgbClr val="000000"/>
                </a:solidFill>
                <a:latin typeface="TS Tarek"/>
                <a:ea typeface="TS Tarek"/>
                <a:cs typeface="TS Tarek"/>
                <a:sym typeface="TS Tarek"/>
              </a:rPr>
              <a:t> la </a:t>
            </a:r>
            <a:r>
              <a:rPr lang="en-US" sz="2243" dirty="0" err="1">
                <a:solidFill>
                  <a:srgbClr val="000000"/>
                </a:solidFill>
                <a:latin typeface="TS Tarek"/>
                <a:ea typeface="TS Tarek"/>
                <a:cs typeface="TS Tarek"/>
                <a:sym typeface="TS Tarek"/>
              </a:rPr>
              <a:t>confiance</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accordée</a:t>
            </a:r>
            <a:r>
              <a:rPr lang="en-US" sz="2243" dirty="0">
                <a:solidFill>
                  <a:srgbClr val="000000"/>
                </a:solidFill>
                <a:latin typeface="TS Tarek"/>
                <a:ea typeface="TS Tarek"/>
                <a:cs typeface="TS Tarek"/>
                <a:sym typeface="TS Tarek"/>
              </a:rPr>
              <a:t> à un site </a:t>
            </a:r>
            <a:r>
              <a:rPr lang="en-US" sz="2243" dirty="0" err="1">
                <a:solidFill>
                  <a:srgbClr val="000000"/>
                </a:solidFill>
                <a:latin typeface="TS Tarek"/>
                <a:ea typeface="TS Tarek"/>
                <a:cs typeface="TS Tarek"/>
                <a:sym typeface="TS Tarek"/>
              </a:rPr>
              <a:t>légitime</a:t>
            </a:r>
            <a:r>
              <a:rPr lang="en-US" sz="2243" dirty="0">
                <a:solidFill>
                  <a:srgbClr val="000000"/>
                </a:solidFill>
                <a:latin typeface="TS Tarek"/>
                <a:ea typeface="TS Tarek"/>
                <a:cs typeface="TS Tarek"/>
                <a:sym typeface="TS Tarek"/>
              </a:rPr>
              <a:t> pour </a:t>
            </a:r>
            <a:r>
              <a:rPr lang="en-US" sz="2243" dirty="0" err="1">
                <a:solidFill>
                  <a:srgbClr val="000000"/>
                </a:solidFill>
                <a:latin typeface="TS Tarek"/>
                <a:ea typeface="TS Tarek"/>
                <a:cs typeface="TS Tarek"/>
                <a:sym typeface="TS Tarek"/>
              </a:rPr>
              <a:t>exécuter</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ce</a:t>
            </a:r>
            <a:r>
              <a:rPr lang="en-US" sz="2243" dirty="0">
                <a:solidFill>
                  <a:srgbClr val="000000"/>
                </a:solidFill>
                <a:latin typeface="TS Tarek"/>
                <a:ea typeface="TS Tarek"/>
                <a:cs typeface="TS Tarek"/>
                <a:sym typeface="TS Tarek"/>
              </a:rPr>
              <a:t> code </a:t>
            </a:r>
            <a:r>
              <a:rPr lang="en-US" sz="2243" dirty="0" err="1">
                <a:solidFill>
                  <a:srgbClr val="000000"/>
                </a:solidFill>
                <a:latin typeface="TS Tarek"/>
                <a:ea typeface="TS Tarek"/>
                <a:cs typeface="TS Tarek"/>
                <a:sym typeface="TS Tarek"/>
              </a:rPr>
              <a:t>dans</a:t>
            </a:r>
            <a:r>
              <a:rPr lang="en-US" sz="2243" dirty="0">
                <a:solidFill>
                  <a:srgbClr val="000000"/>
                </a:solidFill>
                <a:latin typeface="TS Tarek"/>
                <a:ea typeface="TS Tarek"/>
                <a:cs typeface="TS Tarek"/>
                <a:sym typeface="TS Tarek"/>
              </a:rPr>
              <a:t> le </a:t>
            </a:r>
            <a:r>
              <a:rPr lang="en-US" sz="2243" dirty="0" err="1">
                <a:solidFill>
                  <a:srgbClr val="000000"/>
                </a:solidFill>
                <a:latin typeface="TS Tarek"/>
                <a:ea typeface="TS Tarek"/>
                <a:cs typeface="TS Tarek"/>
                <a:sym typeface="TS Tarek"/>
              </a:rPr>
              <a:t>navigateur</a:t>
            </a:r>
            <a:r>
              <a:rPr lang="en-US" sz="2243" dirty="0">
                <a:solidFill>
                  <a:srgbClr val="000000"/>
                </a:solidFill>
                <a:latin typeface="TS Tarek"/>
                <a:ea typeface="TS Tarek"/>
                <a:cs typeface="TS Tarek"/>
                <a:sym typeface="TS Tarek"/>
              </a:rPr>
              <a:t> de la </a:t>
            </a:r>
            <a:r>
              <a:rPr lang="en-US" sz="2243" dirty="0" err="1">
                <a:solidFill>
                  <a:srgbClr val="000000"/>
                </a:solidFill>
                <a:latin typeface="TS Tarek"/>
                <a:ea typeface="TS Tarek"/>
                <a:cs typeface="TS Tarek"/>
                <a:sym typeface="TS Tarek"/>
              </a:rPr>
              <a:t>victime</a:t>
            </a:r>
            <a:r>
              <a:rPr lang="en-US" sz="2243" dirty="0">
                <a:solidFill>
                  <a:srgbClr val="000000"/>
                </a:solidFill>
                <a:latin typeface="TS Tarek"/>
                <a:ea typeface="TS Tarek"/>
                <a:cs typeface="TS Tarek"/>
                <a:sym typeface="TS Tarek"/>
              </a:rPr>
              <a:t>.</a:t>
            </a:r>
          </a:p>
        </p:txBody>
      </p:sp>
      <p:sp>
        <p:nvSpPr>
          <p:cNvPr id="8" name="TextBox 8"/>
          <p:cNvSpPr txBox="1"/>
          <p:nvPr/>
        </p:nvSpPr>
        <p:spPr>
          <a:xfrm>
            <a:off x="1142710" y="5712021"/>
            <a:ext cx="5306333" cy="2371769"/>
          </a:xfrm>
          <a:prstGeom prst="rect">
            <a:avLst/>
          </a:prstGeom>
        </p:spPr>
        <p:txBody>
          <a:bodyPr lIns="0" tIns="0" rIns="0" bIns="0" rtlCol="0" anchor="t">
            <a:spAutoFit/>
          </a:bodyPr>
          <a:lstStyle/>
          <a:p>
            <a:pPr marL="484370" lvl="1" indent="-242185" algn="l">
              <a:lnSpc>
                <a:spcPts val="3140"/>
              </a:lnSpc>
              <a:buFont typeface="Arial"/>
              <a:buChar char="•"/>
            </a:pPr>
            <a:r>
              <a:rPr lang="en-US" sz="2243" dirty="0">
                <a:solidFill>
                  <a:srgbClr val="000000"/>
                </a:solidFill>
                <a:latin typeface="TS Tarek"/>
                <a:ea typeface="TS Tarek"/>
                <a:cs typeface="TS Tarek"/>
                <a:sym typeface="TS Tarek"/>
              </a:rPr>
              <a:t>le </a:t>
            </a:r>
            <a:r>
              <a:rPr lang="en-US" sz="2243" dirty="0" err="1">
                <a:solidFill>
                  <a:srgbClr val="000000"/>
                </a:solidFill>
                <a:latin typeface="TS Tarek"/>
                <a:ea typeface="TS Tarek"/>
                <a:cs typeface="TS Tarek"/>
                <a:sym typeface="TS Tarek"/>
              </a:rPr>
              <a:t>vol</a:t>
            </a:r>
            <a:r>
              <a:rPr lang="en-US" sz="2243" dirty="0">
                <a:solidFill>
                  <a:srgbClr val="000000"/>
                </a:solidFill>
                <a:latin typeface="TS Tarek"/>
                <a:ea typeface="TS Tarek"/>
                <a:cs typeface="TS Tarek"/>
                <a:sym typeface="TS Tarek"/>
              </a:rPr>
              <a:t> de session </a:t>
            </a:r>
            <a:r>
              <a:rPr lang="en-US" sz="2243" dirty="0" err="1">
                <a:solidFill>
                  <a:srgbClr val="000000"/>
                </a:solidFill>
                <a:latin typeface="TS Tarek"/>
                <a:ea typeface="TS Tarek"/>
                <a:cs typeface="TS Tarek"/>
                <a:sym typeface="TS Tarek"/>
              </a:rPr>
              <a:t>utilisateur</a:t>
            </a:r>
            <a:r>
              <a:rPr lang="en-US" sz="2243" dirty="0">
                <a:solidFill>
                  <a:srgbClr val="000000"/>
                </a:solidFill>
                <a:latin typeface="TS Tarek"/>
                <a:ea typeface="TS Tarek"/>
                <a:cs typeface="TS Tarek"/>
                <a:sym typeface="TS Tarek"/>
              </a:rPr>
              <a:t> (cookies </a:t>
            </a:r>
            <a:r>
              <a:rPr lang="en-US" sz="2243" dirty="0" err="1">
                <a:solidFill>
                  <a:srgbClr val="000000"/>
                </a:solidFill>
                <a:latin typeface="TS Tarek"/>
                <a:ea typeface="TS Tarek"/>
                <a:cs typeface="TS Tarek"/>
                <a:sym typeface="TS Tarek"/>
              </a:rPr>
              <a:t>récupérés</a:t>
            </a:r>
            <a:r>
              <a:rPr lang="en-US" sz="2243" dirty="0">
                <a:solidFill>
                  <a:srgbClr val="000000"/>
                </a:solidFill>
                <a:latin typeface="TS Tarek"/>
                <a:ea typeface="TS Tarek"/>
                <a:cs typeface="TS Tarek"/>
                <a:sym typeface="TS Tarek"/>
              </a:rPr>
              <a:t> → usurpation </a:t>
            </a:r>
            <a:r>
              <a:rPr lang="en-US" sz="2243" dirty="0" err="1">
                <a:solidFill>
                  <a:srgbClr val="000000"/>
                </a:solidFill>
                <a:latin typeface="TS Tarek"/>
                <a:ea typeface="TS Tarek"/>
                <a:cs typeface="TS Tarek"/>
                <a:sym typeface="TS Tarek"/>
              </a:rPr>
              <a:t>d’identité</a:t>
            </a:r>
            <a:r>
              <a:rPr lang="en-US" sz="2243" dirty="0">
                <a:solidFill>
                  <a:srgbClr val="000000"/>
                </a:solidFill>
                <a:latin typeface="TS Tarek"/>
                <a:ea typeface="TS Tarek"/>
                <a:cs typeface="TS Tarek"/>
                <a:sym typeface="TS Tarek"/>
              </a:rPr>
              <a:t>)</a:t>
            </a:r>
          </a:p>
          <a:p>
            <a:pPr marL="484370" lvl="1" indent="-242185" algn="l">
              <a:lnSpc>
                <a:spcPts val="3140"/>
              </a:lnSpc>
              <a:buFont typeface="Arial"/>
              <a:buChar char="•"/>
            </a:pPr>
            <a:r>
              <a:rPr lang="en-US" sz="2243" dirty="0" err="1">
                <a:solidFill>
                  <a:srgbClr val="000000"/>
                </a:solidFill>
                <a:latin typeface="TS Tarek"/>
                <a:ea typeface="TS Tarek"/>
                <a:cs typeface="TS Tarek"/>
                <a:sym typeface="TS Tarek"/>
              </a:rPr>
              <a:t>l’injection</a:t>
            </a:r>
            <a:r>
              <a:rPr lang="en-US" sz="2243" dirty="0">
                <a:solidFill>
                  <a:srgbClr val="000000"/>
                </a:solidFill>
                <a:latin typeface="TS Tarek"/>
                <a:ea typeface="TS Tarek"/>
                <a:cs typeface="TS Tarek"/>
                <a:sym typeface="TS Tarek"/>
              </a:rPr>
              <a:t> de scripts </a:t>
            </a:r>
            <a:r>
              <a:rPr lang="en-US" sz="2243" dirty="0" err="1">
                <a:solidFill>
                  <a:srgbClr val="000000"/>
                </a:solidFill>
                <a:latin typeface="TS Tarek"/>
                <a:ea typeface="TS Tarek"/>
                <a:cs typeface="TS Tarek"/>
                <a:sym typeface="TS Tarek"/>
              </a:rPr>
              <a:t>malveillants</a:t>
            </a:r>
            <a:r>
              <a:rPr lang="en-US" sz="2243" dirty="0">
                <a:solidFill>
                  <a:srgbClr val="000000"/>
                </a:solidFill>
                <a:latin typeface="TS Tarek"/>
                <a:ea typeface="TS Tarek"/>
                <a:cs typeface="TS Tarek"/>
                <a:sym typeface="TS Tarek"/>
              </a:rPr>
              <a:t> (modification de la page, redirections, </a:t>
            </a:r>
            <a:r>
              <a:rPr lang="en-US" sz="2243" dirty="0" err="1">
                <a:solidFill>
                  <a:srgbClr val="000000"/>
                </a:solidFill>
                <a:latin typeface="TS Tarek"/>
                <a:ea typeface="TS Tarek"/>
                <a:cs typeface="TS Tarek"/>
                <a:sym typeface="TS Tarek"/>
              </a:rPr>
              <a:t>collecte</a:t>
            </a:r>
            <a:r>
              <a:rPr lang="en-US" sz="2243" dirty="0">
                <a:solidFill>
                  <a:srgbClr val="000000"/>
                </a:solidFill>
                <a:latin typeface="TS Tarek"/>
                <a:ea typeface="TS Tarek"/>
                <a:cs typeface="TS Tarek"/>
                <a:sym typeface="TS Tarek"/>
              </a:rPr>
              <a:t> de </a:t>
            </a:r>
            <a:r>
              <a:rPr lang="en-US" sz="2243" dirty="0" err="1">
                <a:solidFill>
                  <a:srgbClr val="000000"/>
                </a:solidFill>
                <a:latin typeface="TS Tarek"/>
                <a:ea typeface="TS Tarek"/>
                <a:cs typeface="TS Tarek"/>
                <a:sym typeface="TS Tarek"/>
              </a:rPr>
              <a:t>données</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sensibles</a:t>
            </a:r>
            <a:r>
              <a:rPr lang="en-US" sz="2243" dirty="0">
                <a:solidFill>
                  <a:srgbClr val="000000"/>
                </a:solidFill>
                <a:latin typeface="TS Tarek"/>
                <a:ea typeface="TS Tarek"/>
                <a:cs typeface="TS Tarek"/>
                <a:sym typeface="TS Tarek"/>
              </a:rPr>
              <a:t>)</a:t>
            </a:r>
          </a:p>
          <a:p>
            <a:pPr marL="0" lvl="0" indent="0" algn="l">
              <a:lnSpc>
                <a:spcPts val="3140"/>
              </a:lnSpc>
            </a:pPr>
            <a:endParaRPr lang="en-US" sz="2243" dirty="0">
              <a:solidFill>
                <a:srgbClr val="000000"/>
              </a:solidFill>
              <a:latin typeface="TS Tarek"/>
              <a:ea typeface="TS Tarek"/>
              <a:cs typeface="TS Tarek"/>
              <a:sym typeface="TS Tarek"/>
            </a:endParaRPr>
          </a:p>
        </p:txBody>
      </p:sp>
      <p:sp>
        <p:nvSpPr>
          <p:cNvPr id="9" name="Freeform 11"/>
          <p:cNvSpPr/>
          <p:nvPr/>
        </p:nvSpPr>
        <p:spPr>
          <a:xfrm>
            <a:off x="1279481" y="499257"/>
            <a:ext cx="854119" cy="854119"/>
          </a:xfrm>
          <a:custGeom>
            <a:avLst/>
            <a:gdLst/>
            <a:ahLst/>
            <a:cxnLst/>
            <a:rect l="l" t="t" r="r" b="b"/>
            <a:pathLst>
              <a:path w="854119" h="854119">
                <a:moveTo>
                  <a:pt x="0" y="0"/>
                </a:moveTo>
                <a:lnTo>
                  <a:pt x="854119" y="0"/>
                </a:lnTo>
                <a:lnTo>
                  <a:pt x="854119" y="854118"/>
                </a:lnTo>
                <a:lnTo>
                  <a:pt x="0" y="854118"/>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flipV="1">
            <a:off x="997022" y="9254563"/>
            <a:ext cx="15746573" cy="0"/>
          </a:xfrm>
          <a:prstGeom prst="line">
            <a:avLst/>
          </a:prstGeom>
          <a:ln w="9525" cap="flat">
            <a:solidFill>
              <a:srgbClr val="6D745F"/>
            </a:solidFill>
            <a:prstDash val="solid"/>
            <a:headEnd type="none" w="sm" len="sm"/>
            <a:tailEnd type="none" w="sm" len="sm"/>
          </a:ln>
        </p:spPr>
        <p:txBody>
          <a:bodyPr/>
          <a:lstStyle/>
          <a:p>
            <a:endParaRPr lang="fr-MA"/>
          </a:p>
        </p:txBody>
      </p:sp>
      <p:sp>
        <p:nvSpPr>
          <p:cNvPr id="4" name="Freeform 4"/>
          <p:cNvSpPr/>
          <p:nvPr/>
        </p:nvSpPr>
        <p:spPr>
          <a:xfrm>
            <a:off x="16227891" y="8742595"/>
            <a:ext cx="1031409" cy="1031409"/>
          </a:xfrm>
          <a:custGeom>
            <a:avLst/>
            <a:gdLst/>
            <a:ahLst/>
            <a:cxnLst/>
            <a:rect l="l" t="t" r="r" b="b"/>
            <a:pathLst>
              <a:path w="1031409" h="1031409">
                <a:moveTo>
                  <a:pt x="0" y="0"/>
                </a:moveTo>
                <a:lnTo>
                  <a:pt x="1031409" y="0"/>
                </a:lnTo>
                <a:lnTo>
                  <a:pt x="1031409" y="1031410"/>
                </a:lnTo>
                <a:lnTo>
                  <a:pt x="0" y="1031410"/>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fr-MA"/>
          </a:p>
        </p:txBody>
      </p:sp>
      <p:sp>
        <p:nvSpPr>
          <p:cNvPr id="5" name="TextBox 5"/>
          <p:cNvSpPr txBox="1"/>
          <p:nvPr/>
        </p:nvSpPr>
        <p:spPr>
          <a:xfrm>
            <a:off x="2529545" y="1397820"/>
            <a:ext cx="6317644" cy="390601"/>
          </a:xfrm>
          <a:prstGeom prst="rect">
            <a:avLst/>
          </a:prstGeom>
        </p:spPr>
        <p:txBody>
          <a:bodyPr lIns="0" tIns="0" rIns="0" bIns="0" rtlCol="0" anchor="t">
            <a:spAutoFit/>
          </a:bodyPr>
          <a:lstStyle/>
          <a:p>
            <a:pPr marL="0" lvl="0" indent="0" algn="l">
              <a:lnSpc>
                <a:spcPts val="3285"/>
              </a:lnSpc>
            </a:pPr>
            <a:r>
              <a:rPr lang="en-US" sz="2347">
                <a:solidFill>
                  <a:srgbClr val="000000"/>
                </a:solidFill>
                <a:latin typeface="TAN Mon Cheri"/>
                <a:ea typeface="TAN Mon Cheri"/>
                <a:cs typeface="TAN Mon Cheri"/>
                <a:sym typeface="TAN Mon Cheri"/>
              </a:rPr>
              <a:t>Cross-Site Request Forgery (CSRF)</a:t>
            </a:r>
          </a:p>
        </p:txBody>
      </p:sp>
      <p:sp>
        <p:nvSpPr>
          <p:cNvPr id="6" name="TextBox 6"/>
          <p:cNvSpPr txBox="1"/>
          <p:nvPr/>
        </p:nvSpPr>
        <p:spPr>
          <a:xfrm>
            <a:off x="1600200" y="2492780"/>
            <a:ext cx="12858264" cy="1826792"/>
          </a:xfrm>
          <a:prstGeom prst="rect">
            <a:avLst/>
          </a:prstGeom>
        </p:spPr>
        <p:txBody>
          <a:bodyPr lIns="0" tIns="0" rIns="0" bIns="0" rtlCol="0" anchor="t">
            <a:spAutoFit/>
          </a:bodyPr>
          <a:lstStyle/>
          <a:p>
            <a:pPr marL="0" lvl="0" indent="0" algn="l">
              <a:lnSpc>
                <a:spcPts val="2892"/>
              </a:lnSpc>
            </a:pPr>
            <a:r>
              <a:rPr lang="en-US" sz="2065" dirty="0">
                <a:solidFill>
                  <a:srgbClr val="000000"/>
                </a:solidFill>
                <a:latin typeface="TS Tarek"/>
                <a:ea typeface="TS Tarek"/>
                <a:cs typeface="TS Tarek"/>
                <a:sym typeface="TS Tarek"/>
              </a:rPr>
              <a:t>Le CSRF </a:t>
            </a:r>
            <a:r>
              <a:rPr lang="en-US" sz="2065" dirty="0" err="1">
                <a:solidFill>
                  <a:srgbClr val="000000"/>
                </a:solidFill>
                <a:latin typeface="TS Tarek"/>
                <a:ea typeface="TS Tarek"/>
                <a:cs typeface="TS Tarek"/>
                <a:sym typeface="TS Tarek"/>
              </a:rPr>
              <a:t>est</a:t>
            </a:r>
            <a:r>
              <a:rPr lang="en-US" sz="2065" dirty="0">
                <a:solidFill>
                  <a:srgbClr val="000000"/>
                </a:solidFill>
                <a:latin typeface="TS Tarek"/>
                <a:ea typeface="TS Tarek"/>
                <a:cs typeface="TS Tarek"/>
                <a:sym typeface="TS Tarek"/>
              </a:rPr>
              <a:t> </a:t>
            </a:r>
            <a:r>
              <a:rPr lang="en-US" sz="2065" dirty="0" err="1">
                <a:solidFill>
                  <a:srgbClr val="000000"/>
                </a:solidFill>
                <a:latin typeface="TS Tarek"/>
                <a:ea typeface="TS Tarek"/>
                <a:cs typeface="TS Tarek"/>
                <a:sym typeface="TS Tarek"/>
              </a:rPr>
              <a:t>une</a:t>
            </a:r>
            <a:r>
              <a:rPr lang="en-US" sz="2065" dirty="0">
                <a:solidFill>
                  <a:srgbClr val="000000"/>
                </a:solidFill>
                <a:latin typeface="TS Tarek"/>
                <a:ea typeface="TS Tarek"/>
                <a:cs typeface="TS Tarek"/>
                <a:sym typeface="TS Tarek"/>
              </a:rPr>
              <a:t> </a:t>
            </a:r>
            <a:r>
              <a:rPr lang="en-US" sz="2065" dirty="0" err="1">
                <a:solidFill>
                  <a:srgbClr val="000000"/>
                </a:solidFill>
                <a:latin typeface="TS Tarek"/>
                <a:ea typeface="TS Tarek"/>
                <a:cs typeface="TS Tarek"/>
                <a:sym typeface="TS Tarek"/>
              </a:rPr>
              <a:t>attaque</a:t>
            </a:r>
            <a:r>
              <a:rPr lang="en-US" sz="2065" dirty="0">
                <a:solidFill>
                  <a:srgbClr val="000000"/>
                </a:solidFill>
                <a:latin typeface="TS Tarek"/>
                <a:ea typeface="TS Tarek"/>
                <a:cs typeface="TS Tarek"/>
                <a:sym typeface="TS Tarek"/>
              </a:rPr>
              <a:t> qui force un </a:t>
            </a:r>
            <a:r>
              <a:rPr lang="en-US" sz="2065" dirty="0" err="1">
                <a:solidFill>
                  <a:srgbClr val="000000"/>
                </a:solidFill>
                <a:latin typeface="TS Tarek"/>
                <a:ea typeface="TS Tarek"/>
                <a:cs typeface="TS Tarek"/>
                <a:sym typeface="TS Tarek"/>
              </a:rPr>
              <a:t>utilisateur</a:t>
            </a:r>
            <a:r>
              <a:rPr lang="en-US" sz="2065" dirty="0">
                <a:solidFill>
                  <a:srgbClr val="000000"/>
                </a:solidFill>
                <a:latin typeface="TS Tarek"/>
                <a:ea typeface="TS Tarek"/>
                <a:cs typeface="TS Tarek"/>
                <a:sym typeface="TS Tarek"/>
              </a:rPr>
              <a:t> </a:t>
            </a:r>
            <a:r>
              <a:rPr lang="en-US" sz="2065" dirty="0" err="1">
                <a:solidFill>
                  <a:srgbClr val="000000"/>
                </a:solidFill>
                <a:latin typeface="TS Tarek"/>
                <a:ea typeface="TS Tarek"/>
                <a:cs typeface="TS Tarek"/>
                <a:sym typeface="TS Tarek"/>
              </a:rPr>
              <a:t>authentifié</a:t>
            </a:r>
            <a:r>
              <a:rPr lang="en-US" sz="2065" dirty="0">
                <a:solidFill>
                  <a:srgbClr val="000000"/>
                </a:solidFill>
                <a:latin typeface="TS Tarek"/>
                <a:ea typeface="TS Tarek"/>
                <a:cs typeface="TS Tarek"/>
                <a:sym typeface="TS Tarek"/>
              </a:rPr>
              <a:t> à </a:t>
            </a:r>
            <a:r>
              <a:rPr lang="en-US" sz="2065" dirty="0" err="1">
                <a:solidFill>
                  <a:srgbClr val="000000"/>
                </a:solidFill>
                <a:latin typeface="TS Tarek"/>
                <a:ea typeface="TS Tarek"/>
                <a:cs typeface="TS Tarek"/>
                <a:sym typeface="TS Tarek"/>
              </a:rPr>
              <a:t>exécuter</a:t>
            </a:r>
            <a:r>
              <a:rPr lang="en-US" sz="2065" dirty="0">
                <a:solidFill>
                  <a:srgbClr val="000000"/>
                </a:solidFill>
                <a:latin typeface="TS Tarek"/>
                <a:ea typeface="TS Tarek"/>
                <a:cs typeface="TS Tarek"/>
                <a:sym typeface="TS Tarek"/>
              </a:rPr>
              <a:t> des actions non </a:t>
            </a:r>
            <a:r>
              <a:rPr lang="en-US" sz="2065" dirty="0" err="1">
                <a:solidFill>
                  <a:srgbClr val="000000"/>
                </a:solidFill>
                <a:latin typeface="TS Tarek"/>
                <a:ea typeface="TS Tarek"/>
                <a:cs typeface="TS Tarek"/>
                <a:sym typeface="TS Tarek"/>
              </a:rPr>
              <a:t>désirées</a:t>
            </a:r>
            <a:r>
              <a:rPr lang="en-US" sz="2065" dirty="0">
                <a:solidFill>
                  <a:srgbClr val="000000"/>
                </a:solidFill>
                <a:latin typeface="TS Tarek"/>
                <a:ea typeface="TS Tarek"/>
                <a:cs typeface="TS Tarek"/>
                <a:sym typeface="TS Tarek"/>
              </a:rPr>
              <a:t> sur </a:t>
            </a:r>
            <a:r>
              <a:rPr lang="en-US" sz="2065" dirty="0" err="1">
                <a:solidFill>
                  <a:srgbClr val="000000"/>
                </a:solidFill>
                <a:latin typeface="TS Tarek"/>
                <a:ea typeface="TS Tarek"/>
                <a:cs typeface="TS Tarek"/>
                <a:sym typeface="TS Tarek"/>
              </a:rPr>
              <a:t>une</a:t>
            </a:r>
            <a:r>
              <a:rPr lang="en-US" sz="2065" dirty="0">
                <a:solidFill>
                  <a:srgbClr val="000000"/>
                </a:solidFill>
                <a:latin typeface="TS Tarek"/>
                <a:ea typeface="TS Tarek"/>
                <a:cs typeface="TS Tarek"/>
                <a:sym typeface="TS Tarek"/>
              </a:rPr>
              <a:t> application web. </a:t>
            </a:r>
            <a:r>
              <a:rPr lang="en-US" sz="2065" dirty="0" err="1">
                <a:solidFill>
                  <a:srgbClr val="000000"/>
                </a:solidFill>
                <a:latin typeface="TS Tarek"/>
                <a:ea typeface="TS Tarek"/>
                <a:cs typeface="TS Tarek"/>
                <a:sym typeface="TS Tarek"/>
              </a:rPr>
              <a:t>L'attaquant</a:t>
            </a:r>
            <a:r>
              <a:rPr lang="en-US" sz="2065" dirty="0">
                <a:solidFill>
                  <a:srgbClr val="000000"/>
                </a:solidFill>
                <a:latin typeface="TS Tarek"/>
                <a:ea typeface="TS Tarek"/>
                <a:cs typeface="TS Tarek"/>
                <a:sym typeface="TS Tarek"/>
              </a:rPr>
              <a:t> </a:t>
            </a:r>
            <a:r>
              <a:rPr lang="en-US" sz="2065" dirty="0" err="1">
                <a:solidFill>
                  <a:srgbClr val="000000"/>
                </a:solidFill>
                <a:latin typeface="TS Tarek"/>
                <a:ea typeface="TS Tarek"/>
                <a:cs typeface="TS Tarek"/>
                <a:sym typeface="TS Tarek"/>
              </a:rPr>
              <a:t>exploite</a:t>
            </a:r>
            <a:r>
              <a:rPr lang="en-US" sz="2065" dirty="0">
                <a:solidFill>
                  <a:srgbClr val="000000"/>
                </a:solidFill>
                <a:latin typeface="TS Tarek"/>
                <a:ea typeface="TS Tarek"/>
                <a:cs typeface="TS Tarek"/>
                <a:sym typeface="TS Tarek"/>
              </a:rPr>
              <a:t> la </a:t>
            </a:r>
            <a:r>
              <a:rPr lang="en-US" sz="2065" dirty="0" err="1">
                <a:solidFill>
                  <a:srgbClr val="000000"/>
                </a:solidFill>
                <a:latin typeface="TS Tarek"/>
                <a:ea typeface="TS Tarek"/>
                <a:cs typeface="TS Tarek"/>
                <a:sym typeface="TS Tarek"/>
              </a:rPr>
              <a:t>confiance</a:t>
            </a:r>
            <a:r>
              <a:rPr lang="en-US" sz="2065" dirty="0">
                <a:solidFill>
                  <a:srgbClr val="000000"/>
                </a:solidFill>
                <a:latin typeface="TS Tarek"/>
                <a:ea typeface="TS Tarek"/>
                <a:cs typeface="TS Tarek"/>
                <a:sym typeface="TS Tarek"/>
              </a:rPr>
              <a:t> </a:t>
            </a:r>
            <a:r>
              <a:rPr lang="en-US" sz="2065" dirty="0" err="1">
                <a:solidFill>
                  <a:srgbClr val="000000"/>
                </a:solidFill>
                <a:latin typeface="TS Tarek"/>
                <a:ea typeface="TS Tarek"/>
                <a:cs typeface="TS Tarek"/>
                <a:sym typeface="TS Tarek"/>
              </a:rPr>
              <a:t>qu'un</a:t>
            </a:r>
            <a:r>
              <a:rPr lang="en-US" sz="2065" dirty="0">
                <a:solidFill>
                  <a:srgbClr val="000000"/>
                </a:solidFill>
                <a:latin typeface="TS Tarek"/>
                <a:ea typeface="TS Tarek"/>
                <a:cs typeface="TS Tarek"/>
                <a:sym typeface="TS Tarek"/>
              </a:rPr>
              <a:t> site </a:t>
            </a:r>
            <a:r>
              <a:rPr lang="en-US" sz="2065" dirty="0" err="1">
                <a:solidFill>
                  <a:srgbClr val="000000"/>
                </a:solidFill>
                <a:latin typeface="TS Tarek"/>
                <a:ea typeface="TS Tarek"/>
                <a:cs typeface="TS Tarek"/>
                <a:sym typeface="TS Tarek"/>
              </a:rPr>
              <a:t>accorde</a:t>
            </a:r>
            <a:r>
              <a:rPr lang="en-US" sz="2065" dirty="0">
                <a:solidFill>
                  <a:srgbClr val="000000"/>
                </a:solidFill>
                <a:latin typeface="TS Tarek"/>
                <a:ea typeface="TS Tarek"/>
                <a:cs typeface="TS Tarek"/>
                <a:sym typeface="TS Tarek"/>
              </a:rPr>
              <a:t> au </a:t>
            </a:r>
            <a:r>
              <a:rPr lang="en-US" sz="2065" dirty="0" err="1">
                <a:solidFill>
                  <a:srgbClr val="000000"/>
                </a:solidFill>
                <a:latin typeface="TS Tarek"/>
                <a:ea typeface="TS Tarek"/>
                <a:cs typeface="TS Tarek"/>
                <a:sym typeface="TS Tarek"/>
              </a:rPr>
              <a:t>navigateur</a:t>
            </a:r>
            <a:r>
              <a:rPr lang="en-US" sz="2065" dirty="0">
                <a:solidFill>
                  <a:srgbClr val="000000"/>
                </a:solidFill>
                <a:latin typeface="TS Tarek"/>
                <a:ea typeface="TS Tarek"/>
                <a:cs typeface="TS Tarek"/>
                <a:sym typeface="TS Tarek"/>
              </a:rPr>
              <a:t> de </a:t>
            </a:r>
            <a:r>
              <a:rPr lang="en-US" sz="2065" dirty="0" err="1">
                <a:solidFill>
                  <a:srgbClr val="000000"/>
                </a:solidFill>
                <a:latin typeface="TS Tarek"/>
                <a:ea typeface="TS Tarek"/>
                <a:cs typeface="TS Tarek"/>
                <a:sym typeface="TS Tarek"/>
              </a:rPr>
              <a:t>l'utilisateur</a:t>
            </a:r>
            <a:r>
              <a:rPr lang="en-US" sz="2065" dirty="0">
                <a:solidFill>
                  <a:srgbClr val="000000"/>
                </a:solidFill>
                <a:latin typeface="TS Tarek"/>
                <a:ea typeface="TS Tarek"/>
                <a:cs typeface="TS Tarek"/>
                <a:sym typeface="TS Tarek"/>
              </a:rPr>
              <a:t>.</a:t>
            </a:r>
          </a:p>
          <a:p>
            <a:pPr marL="0" lvl="0" indent="0" algn="l">
              <a:lnSpc>
                <a:spcPts val="2892"/>
              </a:lnSpc>
            </a:pPr>
            <a:r>
              <a:rPr lang="en-US" sz="2065" dirty="0">
                <a:solidFill>
                  <a:srgbClr val="000000"/>
                </a:solidFill>
                <a:latin typeface="TS Tarek"/>
                <a:ea typeface="TS Tarek"/>
                <a:cs typeface="TS Tarek"/>
                <a:sym typeface="TS Tarek"/>
              </a:rPr>
              <a:t>• Actions non </a:t>
            </a:r>
            <a:r>
              <a:rPr lang="en-US" sz="2065" dirty="0" err="1">
                <a:solidFill>
                  <a:srgbClr val="000000"/>
                </a:solidFill>
                <a:latin typeface="TS Tarek"/>
                <a:ea typeface="TS Tarek"/>
                <a:cs typeface="TS Tarek"/>
                <a:sym typeface="TS Tarek"/>
              </a:rPr>
              <a:t>autorisées</a:t>
            </a:r>
            <a:r>
              <a:rPr lang="en-US" sz="2065" dirty="0">
                <a:solidFill>
                  <a:srgbClr val="000000"/>
                </a:solidFill>
                <a:latin typeface="TS Tarek"/>
                <a:ea typeface="TS Tarek"/>
                <a:cs typeface="TS Tarek"/>
                <a:sym typeface="TS Tarek"/>
              </a:rPr>
              <a:t> </a:t>
            </a:r>
            <a:r>
              <a:rPr lang="en-US" sz="2065" dirty="0" err="1">
                <a:solidFill>
                  <a:srgbClr val="000000"/>
                </a:solidFill>
                <a:latin typeface="TS Tarek"/>
                <a:ea typeface="TS Tarek"/>
                <a:cs typeface="TS Tarek"/>
                <a:sym typeface="TS Tarek"/>
              </a:rPr>
              <a:t>déclenchées</a:t>
            </a:r>
            <a:r>
              <a:rPr lang="en-US" sz="2065" dirty="0">
                <a:solidFill>
                  <a:srgbClr val="000000"/>
                </a:solidFill>
                <a:latin typeface="TS Tarek"/>
                <a:ea typeface="TS Tarek"/>
                <a:cs typeface="TS Tarek"/>
                <a:sym typeface="TS Tarek"/>
              </a:rPr>
              <a:t> à </a:t>
            </a:r>
            <a:r>
              <a:rPr lang="en-US" sz="2065" dirty="0" err="1">
                <a:solidFill>
                  <a:srgbClr val="000000"/>
                </a:solidFill>
                <a:latin typeface="TS Tarek"/>
                <a:ea typeface="TS Tarek"/>
                <a:cs typeface="TS Tarek"/>
                <a:sym typeface="TS Tarek"/>
              </a:rPr>
              <a:t>l'insu</a:t>
            </a:r>
            <a:r>
              <a:rPr lang="en-US" sz="2065" dirty="0">
                <a:solidFill>
                  <a:srgbClr val="000000"/>
                </a:solidFill>
                <a:latin typeface="TS Tarek"/>
                <a:ea typeface="TS Tarek"/>
                <a:cs typeface="TS Tarek"/>
                <a:sym typeface="TS Tarek"/>
              </a:rPr>
              <a:t> de </a:t>
            </a:r>
            <a:r>
              <a:rPr lang="en-US" sz="2065" dirty="0" err="1">
                <a:solidFill>
                  <a:srgbClr val="000000"/>
                </a:solidFill>
                <a:latin typeface="TS Tarek"/>
                <a:ea typeface="TS Tarek"/>
                <a:cs typeface="TS Tarek"/>
                <a:sym typeface="TS Tarek"/>
              </a:rPr>
              <a:t>l'utilisateur</a:t>
            </a:r>
            <a:endParaRPr lang="en-US" sz="2065" dirty="0">
              <a:solidFill>
                <a:srgbClr val="000000"/>
              </a:solidFill>
              <a:latin typeface="TS Tarek"/>
              <a:ea typeface="TS Tarek"/>
              <a:cs typeface="TS Tarek"/>
              <a:sym typeface="TS Tarek"/>
            </a:endParaRPr>
          </a:p>
          <a:p>
            <a:pPr marL="0" lvl="0" indent="0" algn="l">
              <a:lnSpc>
                <a:spcPts val="2892"/>
              </a:lnSpc>
            </a:pPr>
            <a:r>
              <a:rPr lang="en-US" sz="2065" dirty="0">
                <a:solidFill>
                  <a:srgbClr val="000000"/>
                </a:solidFill>
                <a:latin typeface="TS Tarek"/>
                <a:ea typeface="TS Tarek"/>
                <a:cs typeface="TS Tarek"/>
                <a:sym typeface="TS Tarek"/>
              </a:rPr>
              <a:t>• Exploitation par site tiers </a:t>
            </a:r>
            <a:r>
              <a:rPr lang="en-US" sz="2065" dirty="0" err="1">
                <a:solidFill>
                  <a:srgbClr val="000000"/>
                </a:solidFill>
                <a:latin typeface="TS Tarek"/>
                <a:ea typeface="TS Tarek"/>
                <a:cs typeface="TS Tarek"/>
                <a:sym typeface="TS Tarek"/>
              </a:rPr>
              <a:t>malveillant</a:t>
            </a:r>
            <a:endParaRPr lang="en-US" sz="2065" dirty="0">
              <a:solidFill>
                <a:srgbClr val="000000"/>
              </a:solidFill>
              <a:latin typeface="TS Tarek"/>
              <a:ea typeface="TS Tarek"/>
              <a:cs typeface="TS Tarek"/>
              <a:sym typeface="TS Tarek"/>
            </a:endParaRPr>
          </a:p>
          <a:p>
            <a:pPr marL="0" lvl="0" indent="0" algn="l">
              <a:lnSpc>
                <a:spcPts val="2892"/>
              </a:lnSpc>
            </a:pPr>
            <a:r>
              <a:rPr lang="en-US" sz="2065" dirty="0">
                <a:solidFill>
                  <a:srgbClr val="000000"/>
                </a:solidFill>
                <a:latin typeface="TS Tarek"/>
                <a:ea typeface="TS Tarek"/>
                <a:cs typeface="TS Tarek"/>
                <a:sym typeface="TS Tarek"/>
              </a:rPr>
              <a:t>• Transactions </a:t>
            </a:r>
            <a:r>
              <a:rPr lang="en-US" sz="2065" dirty="0" err="1">
                <a:solidFill>
                  <a:srgbClr val="000000"/>
                </a:solidFill>
                <a:latin typeface="TS Tarek"/>
                <a:ea typeface="TS Tarek"/>
                <a:cs typeface="TS Tarek"/>
                <a:sym typeface="TS Tarek"/>
              </a:rPr>
              <a:t>frauduleuses</a:t>
            </a:r>
            <a:r>
              <a:rPr lang="en-US" sz="2065" dirty="0">
                <a:solidFill>
                  <a:srgbClr val="000000"/>
                </a:solidFill>
                <a:latin typeface="TS Tarek"/>
                <a:ea typeface="TS Tarek"/>
                <a:cs typeface="TS Tarek"/>
                <a:sym typeface="TS Tarek"/>
              </a:rPr>
              <a:t> </a:t>
            </a:r>
            <a:r>
              <a:rPr lang="en-US" sz="2065" dirty="0" err="1">
                <a:solidFill>
                  <a:srgbClr val="000000"/>
                </a:solidFill>
                <a:latin typeface="TS Tarek"/>
                <a:ea typeface="TS Tarek"/>
                <a:cs typeface="TS Tarek"/>
                <a:sym typeface="TS Tarek"/>
              </a:rPr>
              <a:t>possibles</a:t>
            </a:r>
            <a:endParaRPr lang="en-US" sz="2065" dirty="0">
              <a:solidFill>
                <a:srgbClr val="000000"/>
              </a:solidFill>
              <a:latin typeface="TS Tarek"/>
              <a:ea typeface="TS Tarek"/>
              <a:cs typeface="TS Tarek"/>
              <a:sym typeface="TS Tarek"/>
            </a:endParaRPr>
          </a:p>
        </p:txBody>
      </p:sp>
      <p:sp>
        <p:nvSpPr>
          <p:cNvPr id="7" name="TextBox 7"/>
          <p:cNvSpPr txBox="1"/>
          <p:nvPr/>
        </p:nvSpPr>
        <p:spPr>
          <a:xfrm>
            <a:off x="2102558" y="4896620"/>
            <a:ext cx="10051610" cy="1826792"/>
          </a:xfrm>
          <a:prstGeom prst="rect">
            <a:avLst/>
          </a:prstGeom>
        </p:spPr>
        <p:txBody>
          <a:bodyPr lIns="0" tIns="0" rIns="0" bIns="0" rtlCol="0" anchor="t">
            <a:spAutoFit/>
          </a:bodyPr>
          <a:lstStyle/>
          <a:p>
            <a:pPr marL="0" lvl="0" indent="0" algn="l">
              <a:lnSpc>
                <a:spcPts val="2892"/>
              </a:lnSpc>
            </a:pPr>
            <a:r>
              <a:rPr lang="en-US" sz="2065" dirty="0">
                <a:solidFill>
                  <a:srgbClr val="000000"/>
                </a:solidFill>
                <a:latin typeface="TS Tarek"/>
                <a:ea typeface="TS Tarek"/>
                <a:cs typeface="TS Tarek"/>
                <a:sym typeface="TS Tarek"/>
              </a:rPr>
              <a:t>Impact et </a:t>
            </a:r>
            <a:r>
              <a:rPr lang="en-US" sz="2065" dirty="0" err="1">
                <a:solidFill>
                  <a:srgbClr val="000000"/>
                </a:solidFill>
                <a:latin typeface="TS Tarek"/>
                <a:ea typeface="TS Tarek"/>
                <a:cs typeface="TS Tarek"/>
                <a:sym typeface="TS Tarek"/>
              </a:rPr>
              <a:t>Risques</a:t>
            </a:r>
            <a:r>
              <a:rPr lang="en-US" sz="2065" dirty="0">
                <a:solidFill>
                  <a:srgbClr val="000000"/>
                </a:solidFill>
                <a:latin typeface="TS Tarek"/>
                <a:ea typeface="TS Tarek"/>
                <a:cs typeface="TS Tarek"/>
                <a:sym typeface="TS Tarek"/>
              </a:rPr>
              <a:t> :</a:t>
            </a:r>
          </a:p>
          <a:p>
            <a:pPr marL="0" lvl="0" indent="0" algn="l">
              <a:lnSpc>
                <a:spcPts val="2892"/>
              </a:lnSpc>
            </a:pPr>
            <a:r>
              <a:rPr lang="en-US" sz="2065" dirty="0">
                <a:solidFill>
                  <a:srgbClr val="000000"/>
                </a:solidFill>
                <a:latin typeface="TS Tarek"/>
                <a:ea typeface="TS Tarek"/>
                <a:cs typeface="TS Tarek"/>
                <a:sym typeface="TS Tarek"/>
              </a:rPr>
              <a:t>• Modification de </a:t>
            </a:r>
            <a:r>
              <a:rPr lang="en-US" sz="2065" dirty="0" err="1">
                <a:solidFill>
                  <a:srgbClr val="000000"/>
                </a:solidFill>
                <a:latin typeface="TS Tarek"/>
                <a:ea typeface="TS Tarek"/>
                <a:cs typeface="TS Tarek"/>
                <a:sym typeface="TS Tarek"/>
              </a:rPr>
              <a:t>données</a:t>
            </a:r>
            <a:r>
              <a:rPr lang="en-US" sz="2065" dirty="0">
                <a:solidFill>
                  <a:srgbClr val="000000"/>
                </a:solidFill>
                <a:latin typeface="TS Tarek"/>
                <a:ea typeface="TS Tarek"/>
                <a:cs typeface="TS Tarek"/>
                <a:sym typeface="TS Tarek"/>
              </a:rPr>
              <a:t> </a:t>
            </a:r>
            <a:r>
              <a:rPr lang="en-US" sz="2065" dirty="0" err="1">
                <a:solidFill>
                  <a:srgbClr val="000000"/>
                </a:solidFill>
                <a:latin typeface="TS Tarek"/>
                <a:ea typeface="TS Tarek"/>
                <a:cs typeface="TS Tarek"/>
                <a:sym typeface="TS Tarek"/>
              </a:rPr>
              <a:t>personnelles</a:t>
            </a:r>
            <a:r>
              <a:rPr lang="en-US" sz="2065" dirty="0">
                <a:solidFill>
                  <a:srgbClr val="000000"/>
                </a:solidFill>
                <a:latin typeface="TS Tarek"/>
                <a:ea typeface="TS Tarek"/>
                <a:cs typeface="TS Tarek"/>
                <a:sym typeface="TS Tarek"/>
              </a:rPr>
              <a:t> sans </a:t>
            </a:r>
            <a:r>
              <a:rPr lang="en-US" sz="2065" dirty="0" err="1">
                <a:solidFill>
                  <a:srgbClr val="000000"/>
                </a:solidFill>
                <a:latin typeface="TS Tarek"/>
                <a:ea typeface="TS Tarek"/>
                <a:cs typeface="TS Tarek"/>
                <a:sym typeface="TS Tarek"/>
              </a:rPr>
              <a:t>consentement</a:t>
            </a:r>
            <a:endParaRPr lang="en-US" sz="2065" dirty="0">
              <a:solidFill>
                <a:srgbClr val="000000"/>
              </a:solidFill>
              <a:latin typeface="TS Tarek"/>
              <a:ea typeface="TS Tarek"/>
              <a:cs typeface="TS Tarek"/>
              <a:sym typeface="TS Tarek"/>
            </a:endParaRPr>
          </a:p>
          <a:p>
            <a:pPr marL="0" lvl="0" indent="0" algn="l">
              <a:lnSpc>
                <a:spcPts val="2892"/>
              </a:lnSpc>
            </a:pPr>
            <a:r>
              <a:rPr lang="en-US" sz="2065" dirty="0">
                <a:solidFill>
                  <a:srgbClr val="000000"/>
                </a:solidFill>
                <a:latin typeface="TS Tarek"/>
                <a:ea typeface="TS Tarek"/>
                <a:cs typeface="TS Tarek"/>
                <a:sym typeface="TS Tarek"/>
              </a:rPr>
              <a:t>• </a:t>
            </a:r>
            <a:r>
              <a:rPr lang="en-US" sz="2065" dirty="0" err="1">
                <a:solidFill>
                  <a:srgbClr val="000000"/>
                </a:solidFill>
                <a:latin typeface="TS Tarek"/>
                <a:ea typeface="TS Tarek"/>
                <a:cs typeface="TS Tarek"/>
                <a:sym typeface="TS Tarek"/>
              </a:rPr>
              <a:t>Transferts</a:t>
            </a:r>
            <a:r>
              <a:rPr lang="en-US" sz="2065" dirty="0">
                <a:solidFill>
                  <a:srgbClr val="000000"/>
                </a:solidFill>
                <a:latin typeface="TS Tarek"/>
                <a:ea typeface="TS Tarek"/>
                <a:cs typeface="TS Tarek"/>
                <a:sym typeface="TS Tarek"/>
              </a:rPr>
              <a:t> financiers non </a:t>
            </a:r>
            <a:r>
              <a:rPr lang="en-US" sz="2065" dirty="0" err="1">
                <a:solidFill>
                  <a:srgbClr val="000000"/>
                </a:solidFill>
                <a:latin typeface="TS Tarek"/>
                <a:ea typeface="TS Tarek"/>
                <a:cs typeface="TS Tarek"/>
                <a:sym typeface="TS Tarek"/>
              </a:rPr>
              <a:t>autorisés</a:t>
            </a:r>
            <a:endParaRPr lang="en-US" sz="2065" dirty="0">
              <a:solidFill>
                <a:srgbClr val="000000"/>
              </a:solidFill>
              <a:latin typeface="TS Tarek"/>
              <a:ea typeface="TS Tarek"/>
              <a:cs typeface="TS Tarek"/>
              <a:sym typeface="TS Tarek"/>
            </a:endParaRPr>
          </a:p>
          <a:p>
            <a:pPr marL="0" lvl="0" indent="0" algn="l">
              <a:lnSpc>
                <a:spcPts val="2892"/>
              </a:lnSpc>
            </a:pPr>
            <a:r>
              <a:rPr lang="en-US" sz="2065" dirty="0">
                <a:solidFill>
                  <a:srgbClr val="000000"/>
                </a:solidFill>
                <a:latin typeface="TS Tarek"/>
                <a:ea typeface="TS Tarek"/>
                <a:cs typeface="TS Tarek"/>
                <a:sym typeface="TS Tarek"/>
              </a:rPr>
              <a:t>• </a:t>
            </a:r>
            <a:r>
              <a:rPr lang="en-US" sz="2065" dirty="0" err="1">
                <a:solidFill>
                  <a:srgbClr val="000000"/>
                </a:solidFill>
                <a:latin typeface="TS Tarek"/>
                <a:ea typeface="TS Tarek"/>
                <a:cs typeface="TS Tarek"/>
                <a:sym typeface="TS Tarek"/>
              </a:rPr>
              <a:t>Changement</a:t>
            </a:r>
            <a:r>
              <a:rPr lang="en-US" sz="2065" dirty="0">
                <a:solidFill>
                  <a:srgbClr val="000000"/>
                </a:solidFill>
                <a:latin typeface="TS Tarek"/>
                <a:ea typeface="TS Tarek"/>
                <a:cs typeface="TS Tarek"/>
                <a:sym typeface="TS Tarek"/>
              </a:rPr>
              <a:t> de mots de </a:t>
            </a:r>
            <a:r>
              <a:rPr lang="en-US" sz="2065" dirty="0" err="1">
                <a:solidFill>
                  <a:srgbClr val="000000"/>
                </a:solidFill>
                <a:latin typeface="TS Tarek"/>
                <a:ea typeface="TS Tarek"/>
                <a:cs typeface="TS Tarek"/>
                <a:sym typeface="TS Tarek"/>
              </a:rPr>
              <a:t>passe</a:t>
            </a:r>
            <a:r>
              <a:rPr lang="en-US" sz="2065" dirty="0">
                <a:solidFill>
                  <a:srgbClr val="000000"/>
                </a:solidFill>
                <a:latin typeface="TS Tarek"/>
                <a:ea typeface="TS Tarek"/>
                <a:cs typeface="TS Tarek"/>
                <a:sym typeface="TS Tarek"/>
              </a:rPr>
              <a:t> </a:t>
            </a:r>
            <a:r>
              <a:rPr lang="en-US" sz="2065" dirty="0" err="1">
                <a:solidFill>
                  <a:srgbClr val="000000"/>
                </a:solidFill>
                <a:latin typeface="TS Tarek"/>
                <a:ea typeface="TS Tarek"/>
                <a:cs typeface="TS Tarek"/>
                <a:sym typeface="TS Tarek"/>
              </a:rPr>
              <a:t>ou</a:t>
            </a:r>
            <a:r>
              <a:rPr lang="en-US" sz="2065" dirty="0">
                <a:solidFill>
                  <a:srgbClr val="000000"/>
                </a:solidFill>
                <a:latin typeface="TS Tarek"/>
                <a:ea typeface="TS Tarek"/>
                <a:cs typeface="TS Tarek"/>
                <a:sym typeface="TS Tarek"/>
              </a:rPr>
              <a:t> </a:t>
            </a:r>
            <a:r>
              <a:rPr lang="en-US" sz="2065" dirty="0" err="1">
                <a:solidFill>
                  <a:srgbClr val="000000"/>
                </a:solidFill>
                <a:latin typeface="TS Tarek"/>
                <a:ea typeface="TS Tarek"/>
                <a:cs typeface="TS Tarek"/>
                <a:sym typeface="TS Tarek"/>
              </a:rPr>
              <a:t>d'emails</a:t>
            </a:r>
            <a:endParaRPr lang="en-US" sz="2065" dirty="0">
              <a:solidFill>
                <a:srgbClr val="000000"/>
              </a:solidFill>
              <a:latin typeface="TS Tarek"/>
              <a:ea typeface="TS Tarek"/>
              <a:cs typeface="TS Tarek"/>
              <a:sym typeface="TS Tarek"/>
            </a:endParaRPr>
          </a:p>
          <a:p>
            <a:pPr marL="0" lvl="0" indent="0" algn="l">
              <a:lnSpc>
                <a:spcPts val="2892"/>
              </a:lnSpc>
            </a:pPr>
            <a:r>
              <a:rPr lang="en-US" sz="2065" dirty="0">
                <a:solidFill>
                  <a:srgbClr val="000000"/>
                </a:solidFill>
                <a:latin typeface="TS Tarek"/>
                <a:ea typeface="TS Tarek"/>
                <a:cs typeface="TS Tarek"/>
                <a:sym typeface="TS Tarek"/>
              </a:rPr>
              <a:t>• </a:t>
            </a:r>
            <a:r>
              <a:rPr lang="en-US" sz="2065" dirty="0" err="1">
                <a:solidFill>
                  <a:srgbClr val="000000"/>
                </a:solidFill>
                <a:latin typeface="TS Tarek"/>
                <a:ea typeface="TS Tarek"/>
                <a:cs typeface="TS Tarek"/>
                <a:sym typeface="TS Tarek"/>
              </a:rPr>
              <a:t>Niveau</a:t>
            </a:r>
            <a:r>
              <a:rPr lang="en-US" sz="2065" dirty="0">
                <a:solidFill>
                  <a:srgbClr val="000000"/>
                </a:solidFill>
                <a:latin typeface="TS Tarek"/>
                <a:ea typeface="TS Tarek"/>
                <a:cs typeface="TS Tarek"/>
                <a:sym typeface="TS Tarek"/>
              </a:rPr>
              <a:t> de </a:t>
            </a:r>
            <a:r>
              <a:rPr lang="en-US" sz="2065" dirty="0" err="1">
                <a:solidFill>
                  <a:srgbClr val="000000"/>
                </a:solidFill>
                <a:latin typeface="TS Tarek"/>
                <a:ea typeface="TS Tarek"/>
                <a:cs typeface="TS Tarek"/>
                <a:sym typeface="TS Tarek"/>
              </a:rPr>
              <a:t>risque</a:t>
            </a:r>
            <a:r>
              <a:rPr lang="en-US" sz="2065" dirty="0">
                <a:solidFill>
                  <a:srgbClr val="000000"/>
                </a:solidFill>
                <a:latin typeface="TS Tarek"/>
                <a:ea typeface="TS Tarek"/>
                <a:cs typeface="TS Tarek"/>
                <a:sym typeface="TS Tarek"/>
              </a:rPr>
              <a:t> : </a:t>
            </a:r>
            <a:r>
              <a:rPr lang="en-US" sz="2065" dirty="0" err="1">
                <a:solidFill>
                  <a:srgbClr val="000000"/>
                </a:solidFill>
                <a:latin typeface="TS Tarek"/>
                <a:ea typeface="TS Tarek"/>
                <a:cs typeface="TS Tarek"/>
                <a:sym typeface="TS Tarek"/>
              </a:rPr>
              <a:t>Moyen</a:t>
            </a:r>
            <a:endParaRPr lang="en-US" sz="2065" dirty="0">
              <a:solidFill>
                <a:srgbClr val="000000"/>
              </a:solidFill>
              <a:latin typeface="TS Tarek"/>
              <a:ea typeface="TS Tarek"/>
              <a:cs typeface="TS Tarek"/>
              <a:sym typeface="TS Tarek"/>
            </a:endParaRPr>
          </a:p>
        </p:txBody>
      </p:sp>
      <p:grpSp>
        <p:nvGrpSpPr>
          <p:cNvPr id="12" name="Group 5"/>
          <p:cNvGrpSpPr>
            <a:grpSpLocks noChangeAspect="1"/>
          </p:cNvGrpSpPr>
          <p:nvPr/>
        </p:nvGrpSpPr>
        <p:grpSpPr>
          <a:xfrm>
            <a:off x="10591800" y="3497449"/>
            <a:ext cx="6400800" cy="5208472"/>
            <a:chOff x="0" y="0"/>
            <a:chExt cx="4795520" cy="5450840"/>
          </a:xfrm>
        </p:grpSpPr>
        <p:sp>
          <p:nvSpPr>
            <p:cNvPr id="13" name="Freeform 6"/>
            <p:cNvSpPr/>
            <p:nvPr/>
          </p:nvSpPr>
          <p:spPr>
            <a:xfrm>
              <a:off x="0" y="0"/>
              <a:ext cx="4795520" cy="5450840"/>
            </a:xfrm>
            <a:custGeom>
              <a:avLst/>
              <a:gdLst/>
              <a:ahLst/>
              <a:cxnLst/>
              <a:rect l="l" t="t" r="r" b="b"/>
              <a:pathLst>
                <a:path w="4795520" h="5450840">
                  <a:moveTo>
                    <a:pt x="4795520" y="1606550"/>
                  </a:moveTo>
                  <a:cubicBezTo>
                    <a:pt x="4795520" y="718820"/>
                    <a:pt x="4075430" y="0"/>
                    <a:pt x="3188970" y="0"/>
                  </a:cubicBezTo>
                  <a:lnTo>
                    <a:pt x="0" y="0"/>
                  </a:lnTo>
                  <a:lnTo>
                    <a:pt x="0" y="1118870"/>
                  </a:lnTo>
                  <a:cubicBezTo>
                    <a:pt x="0" y="2006600"/>
                    <a:pt x="718820" y="2725420"/>
                    <a:pt x="1606550" y="2725420"/>
                  </a:cubicBezTo>
                  <a:lnTo>
                    <a:pt x="0" y="2725420"/>
                  </a:lnTo>
                  <a:lnTo>
                    <a:pt x="0" y="3844290"/>
                  </a:lnTo>
                  <a:cubicBezTo>
                    <a:pt x="0" y="4732020"/>
                    <a:pt x="718820" y="5450840"/>
                    <a:pt x="1606550" y="5450840"/>
                  </a:cubicBezTo>
                  <a:lnTo>
                    <a:pt x="4795520" y="5450840"/>
                  </a:lnTo>
                  <a:lnTo>
                    <a:pt x="4795520" y="4331970"/>
                  </a:lnTo>
                  <a:cubicBezTo>
                    <a:pt x="4795520" y="3444240"/>
                    <a:pt x="4076700" y="2725420"/>
                    <a:pt x="3188970" y="2725420"/>
                  </a:cubicBezTo>
                  <a:lnTo>
                    <a:pt x="4795520" y="2725420"/>
                  </a:lnTo>
                  <a:lnTo>
                    <a:pt x="4795520" y="1606550"/>
                  </a:lnTo>
                  <a:close/>
                </a:path>
              </a:pathLst>
            </a:custGeom>
            <a:blipFill>
              <a:blip r:embed="rId5"/>
              <a:stretch>
                <a:fillRect t="-4391" b="-4391"/>
              </a:stretch>
            </a:blipFill>
          </p:spPr>
          <p:txBody>
            <a:bodyPr/>
            <a:lstStyle/>
            <a:p>
              <a:endParaRPr lang="fr-MA"/>
            </a:p>
          </p:txBody>
        </p:sp>
      </p:grpSp>
      <p:sp>
        <p:nvSpPr>
          <p:cNvPr id="10" name="Freeform 11"/>
          <p:cNvSpPr/>
          <p:nvPr/>
        </p:nvSpPr>
        <p:spPr>
          <a:xfrm>
            <a:off x="1371600" y="739001"/>
            <a:ext cx="854119" cy="854119"/>
          </a:xfrm>
          <a:custGeom>
            <a:avLst/>
            <a:gdLst/>
            <a:ahLst/>
            <a:cxnLst/>
            <a:rect l="l" t="t" r="r" b="b"/>
            <a:pathLst>
              <a:path w="854119" h="854119">
                <a:moveTo>
                  <a:pt x="0" y="0"/>
                </a:moveTo>
                <a:lnTo>
                  <a:pt x="854119" y="0"/>
                </a:lnTo>
                <a:lnTo>
                  <a:pt x="854119" y="854118"/>
                </a:lnTo>
                <a:lnTo>
                  <a:pt x="0" y="854118"/>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30950" y="3390900"/>
            <a:ext cx="10668000" cy="5452857"/>
          </a:xfrm>
          <a:custGeom>
            <a:avLst/>
            <a:gdLst/>
            <a:ahLst/>
            <a:cxnLst/>
            <a:rect l="l" t="t" r="r" b="b"/>
            <a:pathLst>
              <a:path w="11301259" h="5452857">
                <a:moveTo>
                  <a:pt x="0" y="0"/>
                </a:moveTo>
                <a:lnTo>
                  <a:pt x="11301259" y="0"/>
                </a:lnTo>
                <a:lnTo>
                  <a:pt x="11301259" y="5452858"/>
                </a:lnTo>
                <a:lnTo>
                  <a:pt x="0" y="5452858"/>
                </a:lnTo>
                <a:lnTo>
                  <a:pt x="0" y="0"/>
                </a:lnTo>
                <a:close/>
              </a:path>
            </a:pathLst>
          </a:custGeom>
          <a:blipFill>
            <a:blip r:embed="rId3"/>
            <a:stretch>
              <a:fillRect/>
            </a:stretch>
          </a:blipFill>
        </p:spPr>
        <p:txBody>
          <a:bodyPr/>
          <a:lstStyle/>
          <a:p>
            <a:endParaRPr lang="fr-MA"/>
          </a:p>
        </p:txBody>
      </p:sp>
      <p:sp>
        <p:nvSpPr>
          <p:cNvPr id="3" name="TextBox 3"/>
          <p:cNvSpPr txBox="1"/>
          <p:nvPr/>
        </p:nvSpPr>
        <p:spPr>
          <a:xfrm>
            <a:off x="1028700" y="1511383"/>
            <a:ext cx="10604500" cy="537719"/>
          </a:xfrm>
          <a:prstGeom prst="rect">
            <a:avLst/>
          </a:prstGeom>
        </p:spPr>
        <p:txBody>
          <a:bodyPr lIns="0" tIns="0" rIns="0" bIns="0" rtlCol="0" anchor="t">
            <a:spAutoFit/>
          </a:bodyPr>
          <a:lstStyle/>
          <a:p>
            <a:pPr algn="ctr">
              <a:lnSpc>
                <a:spcPts val="4486"/>
              </a:lnSpc>
              <a:spcBef>
                <a:spcPct val="0"/>
              </a:spcBef>
            </a:pPr>
            <a:r>
              <a:rPr lang="en-US" sz="3204" dirty="0" err="1">
                <a:solidFill>
                  <a:srgbClr val="000000"/>
                </a:solidFill>
                <a:latin typeface="TAN Mon Cheri"/>
                <a:ea typeface="TAN Mon Cheri"/>
                <a:cs typeface="TAN Mon Cheri"/>
                <a:sym typeface="TAN Mon Cheri"/>
              </a:rPr>
              <a:t>Étape</a:t>
            </a:r>
            <a:r>
              <a:rPr lang="en-US" sz="3204" dirty="0">
                <a:solidFill>
                  <a:srgbClr val="000000"/>
                </a:solidFill>
                <a:latin typeface="TAN Mon Cheri"/>
                <a:ea typeface="TAN Mon Cheri"/>
                <a:cs typeface="TAN Mon Cheri"/>
                <a:sym typeface="TAN Mon Cheri"/>
              </a:rPr>
              <a:t> 1 — Identification de la </a:t>
            </a:r>
            <a:r>
              <a:rPr lang="en-US" sz="3204" dirty="0" err="1">
                <a:solidFill>
                  <a:srgbClr val="000000"/>
                </a:solidFill>
                <a:latin typeface="TAN Mon Cheri"/>
                <a:ea typeface="TAN Mon Cheri"/>
                <a:cs typeface="TAN Mon Cheri"/>
                <a:sym typeface="TAN Mon Cheri"/>
              </a:rPr>
              <a:t>requête</a:t>
            </a:r>
            <a:r>
              <a:rPr lang="en-US" sz="3204" dirty="0">
                <a:solidFill>
                  <a:srgbClr val="000000"/>
                </a:solidFill>
                <a:latin typeface="TAN Mon Cheri"/>
                <a:ea typeface="TAN Mon Cheri"/>
                <a:cs typeface="TAN Mon Cheri"/>
                <a:sym typeface="TAN Mon Cheri"/>
              </a:rPr>
              <a:t> </a:t>
            </a:r>
            <a:r>
              <a:rPr lang="en-US" sz="3204" dirty="0" err="1">
                <a:solidFill>
                  <a:srgbClr val="000000"/>
                </a:solidFill>
                <a:latin typeface="TAN Mon Cheri"/>
                <a:ea typeface="TAN Mon Cheri"/>
                <a:cs typeface="TAN Mon Cheri"/>
                <a:sym typeface="TAN Mon Cheri"/>
              </a:rPr>
              <a:t>vulnérable</a:t>
            </a:r>
            <a:endParaRPr lang="en-US" sz="3204" dirty="0">
              <a:solidFill>
                <a:srgbClr val="000000"/>
              </a:solidFill>
              <a:latin typeface="TAN Mon Cheri"/>
              <a:ea typeface="TAN Mon Cheri"/>
              <a:cs typeface="TAN Mon Cheri"/>
              <a:sym typeface="TAN Mon Cheri"/>
            </a:endParaRPr>
          </a:p>
        </p:txBody>
      </p:sp>
      <p:sp>
        <p:nvSpPr>
          <p:cNvPr id="5" name="Rectangle 2"/>
          <p:cNvSpPr>
            <a:spLocks noChangeArrowheads="1"/>
          </p:cNvSpPr>
          <p:nvPr/>
        </p:nvSpPr>
        <p:spPr bwMode="auto">
          <a:xfrm>
            <a:off x="838200" y="4914900"/>
            <a:ext cx="5105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685800" y="3400336"/>
            <a:ext cx="52578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 Requête interceptée via </a:t>
            </a:r>
            <a:r>
              <a:rPr kumimoji="0" lang="fr-FR" altLang="fr-FR" sz="2400" b="0" i="0" u="none" strike="noStrike" cap="none" normalizeH="0" baseline="0" dirty="0" err="1">
                <a:ln>
                  <a:noFill/>
                </a:ln>
                <a:solidFill>
                  <a:schemeClr val="tx1"/>
                </a:solidFill>
                <a:effectLst/>
                <a:latin typeface="TS Tarek" panose="020B0604020202020204" charset="-78"/>
                <a:cs typeface="TS Tarek" panose="020B0604020202020204" charset="-78"/>
              </a:rPr>
              <a:t>DevTools</a:t>
            </a: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 (Network)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 Méthode : POST /profile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 Absence de </a:t>
            </a:r>
            <a:r>
              <a:rPr kumimoji="0" lang="fr-FR" altLang="fr-FR" sz="2400" b="0" i="0" u="none" strike="noStrike" cap="none" normalizeH="0" baseline="0" dirty="0" err="1">
                <a:ln>
                  <a:noFill/>
                </a:ln>
                <a:solidFill>
                  <a:schemeClr val="tx1"/>
                </a:solidFill>
                <a:effectLst/>
                <a:latin typeface="TS Tarek" panose="020B0604020202020204" charset="-78"/>
                <a:cs typeface="TS Tarek" panose="020B0604020202020204" charset="-78"/>
              </a:rPr>
              <a:t>token</a:t>
            </a: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 CSRF dans la requête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 Cookie JWT automatiquement envoyé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629400" y="2933700"/>
            <a:ext cx="11301259" cy="5368098"/>
          </a:xfrm>
          <a:custGeom>
            <a:avLst/>
            <a:gdLst/>
            <a:ahLst/>
            <a:cxnLst/>
            <a:rect l="l" t="t" r="r" b="b"/>
            <a:pathLst>
              <a:path w="11301259" h="5368098">
                <a:moveTo>
                  <a:pt x="0" y="0"/>
                </a:moveTo>
                <a:lnTo>
                  <a:pt x="11301258" y="0"/>
                </a:lnTo>
                <a:lnTo>
                  <a:pt x="11301258" y="5368098"/>
                </a:lnTo>
                <a:lnTo>
                  <a:pt x="0" y="5368098"/>
                </a:lnTo>
                <a:lnTo>
                  <a:pt x="0" y="0"/>
                </a:lnTo>
                <a:close/>
              </a:path>
            </a:pathLst>
          </a:custGeom>
          <a:blipFill>
            <a:blip r:embed="rId3"/>
            <a:stretch>
              <a:fillRect/>
            </a:stretch>
          </a:blipFill>
        </p:spPr>
        <p:txBody>
          <a:bodyPr/>
          <a:lstStyle/>
          <a:p>
            <a:endParaRPr lang="fr-MA"/>
          </a:p>
        </p:txBody>
      </p:sp>
      <p:sp>
        <p:nvSpPr>
          <p:cNvPr id="3" name="TextBox 3"/>
          <p:cNvSpPr txBox="1"/>
          <p:nvPr/>
        </p:nvSpPr>
        <p:spPr>
          <a:xfrm>
            <a:off x="719776" y="971550"/>
            <a:ext cx="9475986" cy="537719"/>
          </a:xfrm>
          <a:prstGeom prst="rect">
            <a:avLst/>
          </a:prstGeom>
        </p:spPr>
        <p:txBody>
          <a:bodyPr lIns="0" tIns="0" rIns="0" bIns="0" rtlCol="0" anchor="t">
            <a:spAutoFit/>
          </a:bodyPr>
          <a:lstStyle/>
          <a:p>
            <a:pPr algn="ctr">
              <a:lnSpc>
                <a:spcPts val="4486"/>
              </a:lnSpc>
              <a:spcBef>
                <a:spcPct val="0"/>
              </a:spcBef>
            </a:pPr>
            <a:r>
              <a:rPr lang="en-US" sz="3204">
                <a:solidFill>
                  <a:srgbClr val="000000"/>
                </a:solidFill>
                <a:latin typeface="TAN Mon Cheri"/>
                <a:ea typeface="TAN Mon Cheri"/>
                <a:cs typeface="TAN Mon Cheri"/>
                <a:sym typeface="TAN Mon Cheri"/>
              </a:rPr>
              <a:t>Étape 2 — Analyse des Request Headers</a:t>
            </a:r>
          </a:p>
        </p:txBody>
      </p:sp>
      <p:sp>
        <p:nvSpPr>
          <p:cNvPr id="5" name="Rectangle 2"/>
          <p:cNvSpPr>
            <a:spLocks noChangeArrowheads="1"/>
          </p:cNvSpPr>
          <p:nvPr/>
        </p:nvSpPr>
        <p:spPr bwMode="auto">
          <a:xfrm>
            <a:off x="381000" y="3508802"/>
            <a:ext cx="64008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Cookie JWT transmis automatiquement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Aucun header X-CSRF-</a:t>
            </a:r>
            <a:r>
              <a:rPr kumimoji="0" lang="fr-FR" altLang="fr-FR" sz="2400" b="0" i="0" u="none" strike="noStrike" cap="none" normalizeH="0" baseline="0" dirty="0" err="1">
                <a:ln>
                  <a:noFill/>
                </a:ln>
                <a:solidFill>
                  <a:schemeClr val="tx1"/>
                </a:solidFill>
                <a:effectLst/>
                <a:latin typeface="TS Tarek" panose="020B0604020202020204" charset="-78"/>
                <a:cs typeface="TS Tarek" panose="020B0604020202020204" charset="-78"/>
              </a:rPr>
              <a:t>Token</a:t>
            </a: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Content-Type : application/x-www-</a:t>
            </a:r>
            <a:r>
              <a:rPr kumimoji="0" lang="fr-FR" altLang="fr-FR" sz="2400" b="0" i="0" u="none" strike="noStrike" cap="none" normalizeH="0" baseline="0" dirty="0" err="1">
                <a:ln>
                  <a:noFill/>
                </a:ln>
                <a:solidFill>
                  <a:schemeClr val="tx1"/>
                </a:solidFill>
                <a:effectLst/>
                <a:latin typeface="TS Tarek" panose="020B0604020202020204" charset="-78"/>
                <a:cs typeface="TS Tarek" panose="020B0604020202020204" charset="-78"/>
              </a:rPr>
              <a:t>form</a:t>
            </a: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a:t>
            </a:r>
            <a:r>
              <a:rPr kumimoji="0" lang="fr-FR" altLang="fr-FR" sz="2400" b="0" i="0" u="none" strike="noStrike" cap="none" normalizeH="0" baseline="0" dirty="0" err="1">
                <a:ln>
                  <a:noFill/>
                </a:ln>
                <a:solidFill>
                  <a:schemeClr val="tx1"/>
                </a:solidFill>
                <a:effectLst/>
                <a:latin typeface="TS Tarek" panose="020B0604020202020204" charset="-78"/>
                <a:cs typeface="TS Tarek" panose="020B0604020202020204" charset="-78"/>
              </a:rPr>
              <a:t>urlencoded</a:t>
            </a: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Absence de protection côté serveur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51862" y="1338778"/>
            <a:ext cx="10771783" cy="537719"/>
          </a:xfrm>
          <a:prstGeom prst="rect">
            <a:avLst/>
          </a:prstGeom>
        </p:spPr>
        <p:txBody>
          <a:bodyPr lIns="0" tIns="0" rIns="0" bIns="0" rtlCol="0" anchor="t">
            <a:spAutoFit/>
          </a:bodyPr>
          <a:lstStyle/>
          <a:p>
            <a:pPr algn="ctr">
              <a:lnSpc>
                <a:spcPts val="4486"/>
              </a:lnSpc>
              <a:spcBef>
                <a:spcPct val="0"/>
              </a:spcBef>
            </a:pPr>
            <a:r>
              <a:rPr lang="en-US" sz="3204">
                <a:solidFill>
                  <a:srgbClr val="000000"/>
                </a:solidFill>
                <a:latin typeface="TAN Mon Cheri"/>
                <a:ea typeface="TAN Mon Cheri"/>
                <a:cs typeface="TAN Mon Cheri"/>
                <a:sym typeface="TAN Mon Cheri"/>
              </a:rPr>
              <a:t>Étape 3 — Construction de la page malveillante</a:t>
            </a:r>
          </a:p>
        </p:txBody>
      </p:sp>
      <p:sp>
        <p:nvSpPr>
          <p:cNvPr id="3" name="TextBox 3"/>
          <p:cNvSpPr txBox="1"/>
          <p:nvPr/>
        </p:nvSpPr>
        <p:spPr>
          <a:xfrm>
            <a:off x="6781800" y="2879153"/>
            <a:ext cx="10951675" cy="4616648"/>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t">
            <a:spAutoFit/>
          </a:bodyPr>
          <a:lstStyle/>
          <a:p>
            <a:pPr algn="ctr">
              <a:lnSpc>
                <a:spcPts val="4486"/>
              </a:lnSpc>
              <a:spcBef>
                <a:spcPct val="0"/>
              </a:spcBef>
            </a:pPr>
            <a:r>
              <a:rPr lang="en-US" dirty="0">
                <a:solidFill>
                  <a:srgbClr val="000000"/>
                </a:solidFill>
                <a:latin typeface="Arial Black" panose="020B0A04020102020204" pitchFamily="34" charset="0"/>
                <a:ea typeface="TAN Mon Cheri"/>
                <a:cs typeface="TAN Mon Cheri"/>
                <a:sym typeface="TAN Mon Cheri"/>
              </a:rPr>
              <a:t>&lt;html&gt;</a:t>
            </a:r>
          </a:p>
          <a:p>
            <a:pPr algn="ctr">
              <a:lnSpc>
                <a:spcPts val="4486"/>
              </a:lnSpc>
              <a:spcBef>
                <a:spcPct val="0"/>
              </a:spcBef>
            </a:pPr>
            <a:r>
              <a:rPr lang="en-US" dirty="0">
                <a:solidFill>
                  <a:srgbClr val="000000"/>
                </a:solidFill>
                <a:latin typeface="Arial Black" panose="020B0A04020102020204" pitchFamily="34" charset="0"/>
                <a:ea typeface="TAN Mon Cheri"/>
                <a:cs typeface="TAN Mon Cheri"/>
                <a:sym typeface="TAN Mon Cheri"/>
              </a:rPr>
              <a:t>&lt;body&gt;</a:t>
            </a:r>
          </a:p>
          <a:p>
            <a:pPr algn="ctr">
              <a:lnSpc>
                <a:spcPts val="4486"/>
              </a:lnSpc>
              <a:spcBef>
                <a:spcPct val="0"/>
              </a:spcBef>
            </a:pPr>
            <a:r>
              <a:rPr lang="en-US" dirty="0">
                <a:solidFill>
                  <a:srgbClr val="000000"/>
                </a:solidFill>
                <a:latin typeface="Arial Black" panose="020B0A04020102020204" pitchFamily="34" charset="0"/>
                <a:ea typeface="TAN Mon Cheri"/>
                <a:cs typeface="TAN Mon Cheri"/>
                <a:sym typeface="TAN Mon Cheri"/>
              </a:rPr>
              <a:t>&lt;h1&gt;</a:t>
            </a:r>
            <a:r>
              <a:rPr lang="en-US" dirty="0" err="1">
                <a:solidFill>
                  <a:srgbClr val="000000"/>
                </a:solidFill>
                <a:latin typeface="Arial Black" panose="020B0A04020102020204" pitchFamily="34" charset="0"/>
                <a:ea typeface="TAN Mon Cheri"/>
                <a:cs typeface="TAN Mon Cheri"/>
                <a:sym typeface="TAN Mon Cheri"/>
              </a:rPr>
              <a:t>Vous</a:t>
            </a:r>
            <a:r>
              <a:rPr lang="en-US" dirty="0">
                <a:solidFill>
                  <a:srgbClr val="000000"/>
                </a:solidFill>
                <a:latin typeface="Arial Black" panose="020B0A04020102020204" pitchFamily="34" charset="0"/>
                <a:ea typeface="TAN Mon Cheri"/>
                <a:cs typeface="TAN Mon Cheri"/>
                <a:sym typeface="TAN Mon Cheri"/>
              </a:rPr>
              <a:t> </a:t>
            </a:r>
            <a:r>
              <a:rPr lang="en-US" dirty="0" err="1">
                <a:solidFill>
                  <a:srgbClr val="000000"/>
                </a:solidFill>
                <a:latin typeface="Arial Black" panose="020B0A04020102020204" pitchFamily="34" charset="0"/>
                <a:ea typeface="TAN Mon Cheri"/>
                <a:cs typeface="TAN Mon Cheri"/>
                <a:sym typeface="TAN Mon Cheri"/>
              </a:rPr>
              <a:t>avez</a:t>
            </a:r>
            <a:r>
              <a:rPr lang="en-US" dirty="0">
                <a:solidFill>
                  <a:srgbClr val="000000"/>
                </a:solidFill>
                <a:latin typeface="Arial Black" panose="020B0A04020102020204" pitchFamily="34" charset="0"/>
                <a:ea typeface="TAN Mon Cheri"/>
                <a:cs typeface="TAN Mon Cheri"/>
                <a:sym typeface="TAN Mon Cheri"/>
              </a:rPr>
              <a:t> </a:t>
            </a:r>
            <a:r>
              <a:rPr lang="en-US" dirty="0" err="1">
                <a:solidFill>
                  <a:srgbClr val="000000"/>
                </a:solidFill>
                <a:latin typeface="Arial Black" panose="020B0A04020102020204" pitchFamily="34" charset="0"/>
                <a:ea typeface="TAN Mon Cheri"/>
                <a:cs typeface="TAN Mon Cheri"/>
                <a:sym typeface="TAN Mon Cheri"/>
              </a:rPr>
              <a:t>gagné</a:t>
            </a:r>
            <a:r>
              <a:rPr lang="en-US" dirty="0">
                <a:solidFill>
                  <a:srgbClr val="000000"/>
                </a:solidFill>
                <a:latin typeface="Arial Black" panose="020B0A04020102020204" pitchFamily="34" charset="0"/>
                <a:ea typeface="TAN Mon Cheri"/>
                <a:cs typeface="TAN Mon Cheri"/>
                <a:sym typeface="TAN Mon Cheri"/>
              </a:rPr>
              <a:t> un bon </a:t>
            </a:r>
            <a:r>
              <a:rPr lang="en-US" dirty="0" err="1">
                <a:solidFill>
                  <a:srgbClr val="000000"/>
                </a:solidFill>
                <a:latin typeface="Arial Black" panose="020B0A04020102020204" pitchFamily="34" charset="0"/>
                <a:ea typeface="TAN Mon Cheri"/>
                <a:cs typeface="TAN Mon Cheri"/>
                <a:sym typeface="TAN Mon Cheri"/>
              </a:rPr>
              <a:t>cadeau</a:t>
            </a:r>
            <a:r>
              <a:rPr lang="en-US" dirty="0">
                <a:solidFill>
                  <a:srgbClr val="000000"/>
                </a:solidFill>
                <a:latin typeface="Arial Black" panose="020B0A04020102020204" pitchFamily="34" charset="0"/>
                <a:ea typeface="TAN Mon Cheri"/>
                <a:cs typeface="TAN Mon Cheri"/>
                <a:sym typeface="TAN Mon Cheri"/>
              </a:rPr>
              <a:t> !&lt;/h1&gt;</a:t>
            </a:r>
          </a:p>
          <a:p>
            <a:pPr algn="ctr">
              <a:lnSpc>
                <a:spcPts val="4486"/>
              </a:lnSpc>
              <a:spcBef>
                <a:spcPct val="0"/>
              </a:spcBef>
            </a:pPr>
            <a:r>
              <a:rPr lang="en-US" dirty="0">
                <a:solidFill>
                  <a:srgbClr val="000000"/>
                </a:solidFill>
                <a:latin typeface="Arial Black" panose="020B0A04020102020204" pitchFamily="34" charset="0"/>
                <a:ea typeface="TAN Mon Cheri"/>
                <a:cs typeface="TAN Mon Cheri"/>
                <a:sym typeface="TAN Mon Cheri"/>
              </a:rPr>
              <a:t>&lt;form action="http://localhost:3000/profile" method="POST"&gt;</a:t>
            </a:r>
          </a:p>
          <a:p>
            <a:pPr algn="ctr">
              <a:lnSpc>
                <a:spcPts val="4486"/>
              </a:lnSpc>
              <a:spcBef>
                <a:spcPct val="0"/>
              </a:spcBef>
            </a:pPr>
            <a:r>
              <a:rPr lang="en-US" dirty="0">
                <a:solidFill>
                  <a:srgbClr val="000000"/>
                </a:solidFill>
                <a:latin typeface="Arial Black" panose="020B0A04020102020204" pitchFamily="34" charset="0"/>
                <a:ea typeface="TAN Mon Cheri"/>
                <a:cs typeface="TAN Mon Cheri"/>
                <a:sym typeface="TAN Mon Cheri"/>
              </a:rPr>
              <a:t>&lt;input type="hidden" name="username" value="</a:t>
            </a:r>
            <a:r>
              <a:rPr lang="en-US" dirty="0" err="1">
                <a:solidFill>
                  <a:srgbClr val="000000"/>
                </a:solidFill>
                <a:latin typeface="Arial Black" panose="020B0A04020102020204" pitchFamily="34" charset="0"/>
                <a:ea typeface="TAN Mon Cheri"/>
                <a:cs typeface="TAN Mon Cheri"/>
                <a:sym typeface="TAN Mon Cheri"/>
              </a:rPr>
              <a:t>hacked_by_attacker</a:t>
            </a:r>
            <a:r>
              <a:rPr lang="en-US" dirty="0">
                <a:solidFill>
                  <a:srgbClr val="000000"/>
                </a:solidFill>
                <a:latin typeface="Arial Black" panose="020B0A04020102020204" pitchFamily="34" charset="0"/>
                <a:ea typeface="TAN Mon Cheri"/>
                <a:cs typeface="TAN Mon Cheri"/>
                <a:sym typeface="TAN Mon Cheri"/>
              </a:rPr>
              <a:t>"/&gt;</a:t>
            </a:r>
          </a:p>
          <a:p>
            <a:pPr algn="ctr">
              <a:lnSpc>
                <a:spcPts val="4486"/>
              </a:lnSpc>
              <a:spcBef>
                <a:spcPct val="0"/>
              </a:spcBef>
            </a:pPr>
            <a:r>
              <a:rPr lang="en-US" dirty="0">
                <a:solidFill>
                  <a:srgbClr val="000000"/>
                </a:solidFill>
                <a:latin typeface="Arial Black" panose="020B0A04020102020204" pitchFamily="34" charset="0"/>
                <a:ea typeface="TAN Mon Cheri"/>
                <a:cs typeface="TAN Mon Cheri"/>
                <a:sym typeface="TAN Mon Cheri"/>
              </a:rPr>
              <a:t>&lt;/form&gt;</a:t>
            </a:r>
          </a:p>
          <a:p>
            <a:pPr algn="ctr">
              <a:lnSpc>
                <a:spcPts val="4486"/>
              </a:lnSpc>
              <a:spcBef>
                <a:spcPct val="0"/>
              </a:spcBef>
            </a:pPr>
            <a:r>
              <a:rPr lang="en-US" dirty="0">
                <a:solidFill>
                  <a:srgbClr val="000000"/>
                </a:solidFill>
                <a:latin typeface="Arial Black" panose="020B0A04020102020204" pitchFamily="34" charset="0"/>
                <a:ea typeface="TAN Mon Cheri"/>
                <a:cs typeface="TAN Mon Cheri"/>
                <a:sym typeface="TAN Mon Cheri"/>
              </a:rPr>
              <a:t>&lt;script&gt;</a:t>
            </a:r>
            <a:r>
              <a:rPr lang="en-US" dirty="0" err="1">
                <a:solidFill>
                  <a:srgbClr val="000000"/>
                </a:solidFill>
                <a:latin typeface="Arial Black" panose="020B0A04020102020204" pitchFamily="34" charset="0"/>
                <a:ea typeface="TAN Mon Cheri"/>
                <a:cs typeface="TAN Mon Cheri"/>
                <a:sym typeface="TAN Mon Cheri"/>
              </a:rPr>
              <a:t>document.forms</a:t>
            </a:r>
            <a:r>
              <a:rPr lang="en-US" dirty="0">
                <a:solidFill>
                  <a:srgbClr val="000000"/>
                </a:solidFill>
                <a:latin typeface="Arial Black" panose="020B0A04020102020204" pitchFamily="34" charset="0"/>
                <a:ea typeface="TAN Mon Cheri"/>
                <a:cs typeface="TAN Mon Cheri"/>
                <a:sym typeface="TAN Mon Cheri"/>
              </a:rPr>
              <a:t>[0].submit();&lt;/script&gt; &lt;/body&gt;</a:t>
            </a:r>
          </a:p>
          <a:p>
            <a:pPr algn="ctr">
              <a:lnSpc>
                <a:spcPts val="4486"/>
              </a:lnSpc>
              <a:spcBef>
                <a:spcPct val="0"/>
              </a:spcBef>
            </a:pPr>
            <a:r>
              <a:rPr lang="en-US" dirty="0">
                <a:solidFill>
                  <a:srgbClr val="000000"/>
                </a:solidFill>
                <a:latin typeface="Arial Black" panose="020B0A04020102020204" pitchFamily="34" charset="0"/>
                <a:ea typeface="TAN Mon Cheri"/>
                <a:cs typeface="TAN Mon Cheri"/>
                <a:sym typeface="TAN Mon Cheri"/>
              </a:rPr>
              <a:t>&lt;/html&gt;</a:t>
            </a:r>
          </a:p>
        </p:txBody>
      </p:sp>
      <p:sp>
        <p:nvSpPr>
          <p:cNvPr id="4" name="Rectangle 1"/>
          <p:cNvSpPr>
            <a:spLocks noChangeArrowheads="1"/>
          </p:cNvSpPr>
          <p:nvPr/>
        </p:nvSpPr>
        <p:spPr bwMode="auto">
          <a:xfrm>
            <a:off x="990600" y="3244607"/>
            <a:ext cx="48768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Page HTML créée par l’attaquant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Formulaire POST vers /profile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Champ caché : </a:t>
            </a:r>
            <a:r>
              <a:rPr kumimoji="0" lang="fr-FR" altLang="fr-FR" sz="2400" b="0" i="0" u="none" strike="noStrike" cap="none" normalizeH="0" baseline="0" dirty="0" err="1">
                <a:ln>
                  <a:noFill/>
                </a:ln>
                <a:solidFill>
                  <a:schemeClr val="tx1"/>
                </a:solidFill>
                <a:effectLst/>
                <a:latin typeface="TS Tarek" panose="020B0604020202020204" charset="-78"/>
                <a:cs typeface="TS Tarek" panose="020B0604020202020204" charset="-78"/>
              </a:rPr>
              <a:t>username</a:t>
            </a: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Auto-</a:t>
            </a:r>
            <a:r>
              <a:rPr kumimoji="0" lang="fr-FR" altLang="fr-FR" sz="2400" b="0" i="0" u="none" strike="noStrike" cap="none" normalizeH="0" baseline="0" dirty="0" err="1">
                <a:ln>
                  <a:noFill/>
                </a:ln>
                <a:solidFill>
                  <a:schemeClr val="tx1"/>
                </a:solidFill>
                <a:effectLst/>
                <a:latin typeface="TS Tarek" panose="020B0604020202020204" charset="-78"/>
                <a:cs typeface="TS Tarek" panose="020B0604020202020204" charset="-78"/>
              </a:rPr>
              <a:t>submit</a:t>
            </a: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 JavaScript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56468" y="1302989"/>
            <a:ext cx="8187532" cy="537719"/>
          </a:xfrm>
          <a:prstGeom prst="rect">
            <a:avLst/>
          </a:prstGeom>
        </p:spPr>
        <p:txBody>
          <a:bodyPr lIns="0" tIns="0" rIns="0" bIns="0" rtlCol="0" anchor="t">
            <a:spAutoFit/>
          </a:bodyPr>
          <a:lstStyle/>
          <a:p>
            <a:pPr algn="ctr">
              <a:lnSpc>
                <a:spcPts val="4486"/>
              </a:lnSpc>
              <a:spcBef>
                <a:spcPct val="0"/>
              </a:spcBef>
            </a:pPr>
            <a:r>
              <a:rPr lang="en-US" sz="3204">
                <a:solidFill>
                  <a:srgbClr val="000000"/>
                </a:solidFill>
                <a:latin typeface="TAN Mon Cheri"/>
                <a:ea typeface="TAN Mon Cheri"/>
                <a:cs typeface="TAN Mon Cheri"/>
                <a:sym typeface="TAN Mon Cheri"/>
              </a:rPr>
              <a:t>Étape 4 — Déroulement de l’attaque</a:t>
            </a:r>
          </a:p>
        </p:txBody>
      </p:sp>
      <p:pic>
        <p:nvPicPr>
          <p:cNvPr id="3" name="Image 2"/>
          <p:cNvPicPr>
            <a:picLocks noChangeAspect="1"/>
          </p:cNvPicPr>
          <p:nvPr/>
        </p:nvPicPr>
        <p:blipFill>
          <a:blip r:embed="rId3"/>
          <a:stretch>
            <a:fillRect/>
          </a:stretch>
        </p:blipFill>
        <p:spPr>
          <a:xfrm>
            <a:off x="6248400" y="2933700"/>
            <a:ext cx="10896600" cy="3886199"/>
          </a:xfrm>
          <a:prstGeom prst="rect">
            <a:avLst/>
          </a:prstGeom>
        </p:spPr>
      </p:pic>
      <p:sp>
        <p:nvSpPr>
          <p:cNvPr id="4" name="Rectangle 1"/>
          <p:cNvSpPr>
            <a:spLocks noChangeArrowheads="1"/>
          </p:cNvSpPr>
          <p:nvPr/>
        </p:nvSpPr>
        <p:spPr bwMode="auto">
          <a:xfrm>
            <a:off x="956468" y="2933700"/>
            <a:ext cx="4800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L’utilisateur est déjà authentifié sur Juice Shop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Il reçoit un lien malveillant (</a:t>
            </a:r>
            <a:r>
              <a:rPr kumimoji="0" lang="fr-FR" altLang="fr-FR" sz="2400" b="0" i="0" u="none" strike="noStrike" cap="none" normalizeH="0" baseline="0" dirty="0" err="1">
                <a:ln>
                  <a:noFill/>
                </a:ln>
                <a:solidFill>
                  <a:schemeClr val="tx1"/>
                </a:solidFill>
                <a:effectLst/>
                <a:latin typeface="TS Tarek" panose="020B0604020202020204" charset="-78"/>
                <a:cs typeface="TS Tarek" panose="020B0604020202020204" charset="-78"/>
              </a:rPr>
              <a:t>phishing</a:t>
            </a: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Il ouvre la page sans se méfier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La requête CSRF est envoyée automatiquement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Le navigateur ajoute le cookie JWT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Le serveur exécute l’action comme légitime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68918" y="1277266"/>
            <a:ext cx="6546156" cy="537719"/>
          </a:xfrm>
          <a:prstGeom prst="rect">
            <a:avLst/>
          </a:prstGeom>
        </p:spPr>
        <p:txBody>
          <a:bodyPr lIns="0" tIns="0" rIns="0" bIns="0" rtlCol="0" anchor="t">
            <a:spAutoFit/>
          </a:bodyPr>
          <a:lstStyle/>
          <a:p>
            <a:pPr algn="ctr">
              <a:lnSpc>
                <a:spcPts val="4486"/>
              </a:lnSpc>
              <a:spcBef>
                <a:spcPct val="0"/>
              </a:spcBef>
            </a:pPr>
            <a:r>
              <a:rPr lang="en-US" sz="3204">
                <a:solidFill>
                  <a:srgbClr val="000000"/>
                </a:solidFill>
                <a:latin typeface="TAN Mon Cheri"/>
                <a:ea typeface="TAN Mon Cheri"/>
                <a:cs typeface="TAN Mon Cheri"/>
                <a:sym typeface="TAN Mon Cheri"/>
              </a:rPr>
              <a:t>Étape 5 — Résultats obtenus</a:t>
            </a:r>
          </a:p>
        </p:txBody>
      </p:sp>
      <p:pic>
        <p:nvPicPr>
          <p:cNvPr id="3" name="Picture 2354"/>
          <p:cNvPicPr/>
          <p:nvPr/>
        </p:nvPicPr>
        <p:blipFill>
          <a:blip r:embed="rId3"/>
          <a:stretch>
            <a:fillRect/>
          </a:stretch>
        </p:blipFill>
        <p:spPr>
          <a:xfrm>
            <a:off x="1351373" y="2861999"/>
            <a:ext cx="7315200" cy="3786141"/>
          </a:xfrm>
          <a:prstGeom prst="rect">
            <a:avLst/>
          </a:prstGeom>
        </p:spPr>
      </p:pic>
      <p:grpSp>
        <p:nvGrpSpPr>
          <p:cNvPr id="4" name="Group 49290"/>
          <p:cNvGrpSpPr/>
          <p:nvPr/>
        </p:nvGrpSpPr>
        <p:grpSpPr>
          <a:xfrm>
            <a:off x="9525000" y="2861999"/>
            <a:ext cx="7496175" cy="3786141"/>
            <a:chOff x="0" y="0"/>
            <a:chExt cx="4982071" cy="3481807"/>
          </a:xfrm>
        </p:grpSpPr>
        <p:pic>
          <p:nvPicPr>
            <p:cNvPr id="5" name="Picture 2395"/>
            <p:cNvPicPr/>
            <p:nvPr/>
          </p:nvPicPr>
          <p:blipFill>
            <a:blip r:embed="rId4"/>
            <a:stretch>
              <a:fillRect/>
            </a:stretch>
          </p:blipFill>
          <p:spPr>
            <a:xfrm>
              <a:off x="43028" y="40466"/>
              <a:ext cx="4896056" cy="3400853"/>
            </a:xfrm>
            <a:prstGeom prst="rect">
              <a:avLst/>
            </a:prstGeom>
          </p:spPr>
        </p:pic>
        <p:sp>
          <p:nvSpPr>
            <p:cNvPr id="6" name="Shape 2396"/>
            <p:cNvSpPr/>
            <p:nvPr/>
          </p:nvSpPr>
          <p:spPr>
            <a:xfrm>
              <a:off x="0" y="0"/>
              <a:ext cx="4982071" cy="0"/>
            </a:xfrm>
            <a:custGeom>
              <a:avLst/>
              <a:gdLst/>
              <a:ahLst/>
              <a:cxnLst/>
              <a:rect l="0" t="0" r="0" b="0"/>
              <a:pathLst>
                <a:path w="4982071">
                  <a:moveTo>
                    <a:pt x="0" y="0"/>
                  </a:moveTo>
                  <a:lnTo>
                    <a:pt x="4982071" y="0"/>
                  </a:lnTo>
                </a:path>
              </a:pathLst>
            </a:custGeom>
            <a:ln w="5055" cap="flat">
              <a:miter lim="127000"/>
            </a:ln>
          </p:spPr>
          <p:style>
            <a:lnRef idx="1">
              <a:srgbClr val="000000"/>
            </a:lnRef>
            <a:fillRef idx="0">
              <a:srgbClr val="000000">
                <a:alpha val="0"/>
              </a:srgbClr>
            </a:fillRef>
            <a:effectRef idx="0">
              <a:scrgbClr r="0" g="0" b="0"/>
            </a:effectRef>
            <a:fontRef idx="none"/>
          </p:style>
          <p:txBody>
            <a:bodyPr/>
            <a:lstStyle/>
            <a:p>
              <a:endParaRPr lang="fr-FR"/>
            </a:p>
          </p:txBody>
        </p:sp>
        <p:sp>
          <p:nvSpPr>
            <p:cNvPr id="7" name="Shape 2397"/>
            <p:cNvSpPr/>
            <p:nvPr/>
          </p:nvSpPr>
          <p:spPr>
            <a:xfrm>
              <a:off x="2527" y="0"/>
              <a:ext cx="0" cy="3481807"/>
            </a:xfrm>
            <a:custGeom>
              <a:avLst/>
              <a:gdLst/>
              <a:ahLst/>
              <a:cxnLst/>
              <a:rect l="0" t="0" r="0" b="0"/>
              <a:pathLst>
                <a:path h="3481807">
                  <a:moveTo>
                    <a:pt x="0" y="3481807"/>
                  </a:moveTo>
                  <a:lnTo>
                    <a:pt x="0" y="0"/>
                  </a:lnTo>
                </a:path>
              </a:pathLst>
            </a:custGeom>
            <a:ln w="5055" cap="flat">
              <a:miter lim="127000"/>
            </a:ln>
          </p:spPr>
          <p:style>
            <a:lnRef idx="1">
              <a:srgbClr val="000000"/>
            </a:lnRef>
            <a:fillRef idx="0">
              <a:srgbClr val="000000">
                <a:alpha val="0"/>
              </a:srgbClr>
            </a:fillRef>
            <a:effectRef idx="0">
              <a:scrgbClr r="0" g="0" b="0"/>
            </a:effectRef>
            <a:fontRef idx="none"/>
          </p:style>
          <p:txBody>
            <a:bodyPr/>
            <a:lstStyle/>
            <a:p>
              <a:endParaRPr lang="fr-FR"/>
            </a:p>
          </p:txBody>
        </p:sp>
        <p:sp>
          <p:nvSpPr>
            <p:cNvPr id="8" name="Shape 2398"/>
            <p:cNvSpPr/>
            <p:nvPr/>
          </p:nvSpPr>
          <p:spPr>
            <a:xfrm>
              <a:off x="4979544" y="0"/>
              <a:ext cx="0" cy="3481807"/>
            </a:xfrm>
            <a:custGeom>
              <a:avLst/>
              <a:gdLst/>
              <a:ahLst/>
              <a:cxnLst/>
              <a:rect l="0" t="0" r="0" b="0"/>
              <a:pathLst>
                <a:path h="3481807">
                  <a:moveTo>
                    <a:pt x="0" y="3481807"/>
                  </a:moveTo>
                  <a:lnTo>
                    <a:pt x="0" y="0"/>
                  </a:lnTo>
                </a:path>
              </a:pathLst>
            </a:custGeom>
            <a:ln w="5055" cap="flat">
              <a:miter lim="127000"/>
            </a:ln>
          </p:spPr>
          <p:style>
            <a:lnRef idx="1">
              <a:srgbClr val="000000"/>
            </a:lnRef>
            <a:fillRef idx="0">
              <a:srgbClr val="000000">
                <a:alpha val="0"/>
              </a:srgbClr>
            </a:fillRef>
            <a:effectRef idx="0">
              <a:scrgbClr r="0" g="0" b="0"/>
            </a:effectRef>
            <a:fontRef idx="none"/>
          </p:style>
          <p:txBody>
            <a:bodyPr/>
            <a:lstStyle/>
            <a:p>
              <a:endParaRPr lang="fr-FR"/>
            </a:p>
          </p:txBody>
        </p:sp>
        <p:sp>
          <p:nvSpPr>
            <p:cNvPr id="9" name="Shape 2399"/>
            <p:cNvSpPr/>
            <p:nvPr/>
          </p:nvSpPr>
          <p:spPr>
            <a:xfrm>
              <a:off x="0" y="3481807"/>
              <a:ext cx="4982071" cy="0"/>
            </a:xfrm>
            <a:custGeom>
              <a:avLst/>
              <a:gdLst/>
              <a:ahLst/>
              <a:cxnLst/>
              <a:rect l="0" t="0" r="0" b="0"/>
              <a:pathLst>
                <a:path w="4982071">
                  <a:moveTo>
                    <a:pt x="0" y="0"/>
                  </a:moveTo>
                  <a:lnTo>
                    <a:pt x="4982071" y="0"/>
                  </a:lnTo>
                </a:path>
              </a:pathLst>
            </a:custGeom>
            <a:ln w="5055" cap="flat">
              <a:miter lim="127000"/>
            </a:ln>
          </p:spPr>
          <p:style>
            <a:lnRef idx="1">
              <a:srgbClr val="000000"/>
            </a:lnRef>
            <a:fillRef idx="0">
              <a:srgbClr val="000000">
                <a:alpha val="0"/>
              </a:srgbClr>
            </a:fillRef>
            <a:effectRef idx="0">
              <a:scrgbClr r="0" g="0" b="0"/>
            </a:effectRef>
            <a:fontRef idx="none"/>
          </p:style>
          <p:txBody>
            <a:bodyPr/>
            <a:lstStyle/>
            <a:p>
              <a:endParaRPr lang="fr-FR"/>
            </a:p>
          </p:txBody>
        </p:sp>
      </p:grpSp>
      <p:sp>
        <p:nvSpPr>
          <p:cNvPr id="10" name="Rectangle 1"/>
          <p:cNvSpPr>
            <a:spLocks noChangeArrowheads="1"/>
          </p:cNvSpPr>
          <p:nvPr/>
        </p:nvSpPr>
        <p:spPr bwMode="auto">
          <a:xfrm>
            <a:off x="1676400" y="6655310"/>
            <a:ext cx="41910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Nom utilisateur modifié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Action exécutée sans consentement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Compte admin compromis </a:t>
            </a:r>
          </a:p>
        </p:txBody>
      </p:sp>
      <p:sp>
        <p:nvSpPr>
          <p:cNvPr id="11" name="Rectangle 2"/>
          <p:cNvSpPr>
            <a:spLocks noChangeArrowheads="1"/>
          </p:cNvSpPr>
          <p:nvPr/>
        </p:nvSpPr>
        <p:spPr bwMode="auto">
          <a:xfrm>
            <a:off x="9829800" y="6819900"/>
            <a:ext cx="58674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Erreur 500 interne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err="1">
                <a:ln>
                  <a:noFill/>
                </a:ln>
                <a:solidFill>
                  <a:schemeClr val="tx1"/>
                </a:solidFill>
                <a:effectLst/>
                <a:latin typeface="TS Tarek" panose="020B0604020202020204" charset="-78"/>
                <a:cs typeface="TS Tarek" panose="020B0604020202020204" charset="-78"/>
              </a:rPr>
              <a:t>Stack</a:t>
            </a: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 trace affichée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Version Express exposée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Architecture </a:t>
            </a:r>
            <a:r>
              <a:rPr kumimoji="0" lang="fr-FR" altLang="fr-FR" sz="2400" b="0" i="0" u="none" strike="noStrike" cap="none" normalizeH="0" baseline="0" dirty="0" err="1">
                <a:ln>
                  <a:noFill/>
                </a:ln>
                <a:solidFill>
                  <a:schemeClr val="tx1"/>
                </a:solidFill>
                <a:effectLst/>
                <a:latin typeface="TS Tarek" panose="020B0604020202020204" charset="-78"/>
                <a:cs typeface="TS Tarek" panose="020B0604020202020204" charset="-78"/>
              </a:rPr>
              <a:t>backend</a:t>
            </a:r>
            <a:r>
              <a:rPr kumimoji="0" lang="fr-FR" altLang="fr-FR" sz="2400" b="0" i="0" u="none" strike="noStrike" cap="none" normalizeH="0" baseline="0" dirty="0">
                <a:ln>
                  <a:noFill/>
                </a:ln>
                <a:solidFill>
                  <a:schemeClr val="tx1"/>
                </a:solidFill>
                <a:effectLst/>
                <a:latin typeface="TS Tarek" panose="020B0604020202020204" charset="-78"/>
                <a:cs typeface="TS Tarek" panose="020B0604020202020204" charset="-78"/>
              </a:rPr>
              <a:t> </a:t>
            </a:r>
            <a:r>
              <a:rPr kumimoji="0" lang="fr-FR" altLang="fr-FR" sz="1800" b="0" i="0" u="none" strike="noStrike" cap="none" normalizeH="0" baseline="0" dirty="0">
                <a:ln>
                  <a:noFill/>
                </a:ln>
                <a:solidFill>
                  <a:schemeClr val="tx1"/>
                </a:solidFill>
                <a:effectLst/>
                <a:latin typeface="TS Tarek" panose="020B0604020202020204" charset="-78"/>
                <a:cs typeface="TS Tarek" panose="020B0604020202020204" charset="-78"/>
              </a:rPr>
              <a:t>révélée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144" y="2198672"/>
            <a:ext cx="582186" cy="514324"/>
          </a:xfrm>
          <a:custGeom>
            <a:avLst/>
            <a:gdLst/>
            <a:ahLst/>
            <a:cxnLst/>
            <a:rect l="l" t="t" r="r" b="b"/>
            <a:pathLst>
              <a:path w="582186" h="514324">
                <a:moveTo>
                  <a:pt x="0" y="0"/>
                </a:moveTo>
                <a:lnTo>
                  <a:pt x="582186" y="0"/>
                </a:lnTo>
                <a:lnTo>
                  <a:pt x="582186" y="514324"/>
                </a:lnTo>
                <a:lnTo>
                  <a:pt x="0" y="514324"/>
                </a:lnTo>
                <a:lnTo>
                  <a:pt x="0" y="0"/>
                </a:lnTo>
                <a:close/>
              </a:path>
            </a:pathLst>
          </a:custGeom>
          <a:blipFill>
            <a:blip r:embed="rId3"/>
            <a:stretch>
              <a:fillRect/>
            </a:stretch>
          </a:blipFill>
        </p:spPr>
        <p:txBody>
          <a:bodyPr/>
          <a:lstStyle/>
          <a:p>
            <a:endParaRPr lang="fr-MA"/>
          </a:p>
        </p:txBody>
      </p:sp>
      <p:sp>
        <p:nvSpPr>
          <p:cNvPr id="3" name="AutoShape 3"/>
          <p:cNvSpPr/>
          <p:nvPr/>
        </p:nvSpPr>
        <p:spPr>
          <a:xfrm flipV="1">
            <a:off x="997022" y="9254563"/>
            <a:ext cx="15746573" cy="0"/>
          </a:xfrm>
          <a:prstGeom prst="line">
            <a:avLst/>
          </a:prstGeom>
          <a:ln w="9525" cap="flat">
            <a:solidFill>
              <a:srgbClr val="6D745F"/>
            </a:solidFill>
            <a:prstDash val="solid"/>
            <a:headEnd type="none" w="sm" len="sm"/>
            <a:tailEnd type="none" w="sm" len="sm"/>
          </a:ln>
        </p:spPr>
        <p:txBody>
          <a:bodyPr/>
          <a:lstStyle/>
          <a:p>
            <a:endParaRPr lang="fr-MA"/>
          </a:p>
        </p:txBody>
      </p:sp>
      <p:sp>
        <p:nvSpPr>
          <p:cNvPr id="4" name="Freeform 4"/>
          <p:cNvSpPr/>
          <p:nvPr/>
        </p:nvSpPr>
        <p:spPr>
          <a:xfrm>
            <a:off x="16389948" y="7974437"/>
            <a:ext cx="712037" cy="3394595"/>
          </a:xfrm>
          <a:custGeom>
            <a:avLst/>
            <a:gdLst/>
            <a:ahLst/>
            <a:cxnLst/>
            <a:rect l="l" t="t" r="r" b="b"/>
            <a:pathLst>
              <a:path w="712037" h="3394595">
                <a:moveTo>
                  <a:pt x="0" y="0"/>
                </a:moveTo>
                <a:lnTo>
                  <a:pt x="712038" y="0"/>
                </a:lnTo>
                <a:lnTo>
                  <a:pt x="712038" y="3394595"/>
                </a:lnTo>
                <a:lnTo>
                  <a:pt x="0" y="3394595"/>
                </a:lnTo>
                <a:lnTo>
                  <a:pt x="0" y="0"/>
                </a:lnTo>
                <a:close/>
              </a:path>
            </a:pathLst>
          </a:custGeom>
          <a:blipFill>
            <a:blip r:embed="rId4"/>
            <a:stretch>
              <a:fillRect/>
            </a:stretch>
          </a:blipFill>
        </p:spPr>
        <p:txBody>
          <a:bodyPr/>
          <a:lstStyle/>
          <a:p>
            <a:endParaRPr lang="fr-MA"/>
          </a:p>
        </p:txBody>
      </p:sp>
      <p:grpSp>
        <p:nvGrpSpPr>
          <p:cNvPr id="5" name="Group 5"/>
          <p:cNvGrpSpPr>
            <a:grpSpLocks noChangeAspect="1"/>
          </p:cNvGrpSpPr>
          <p:nvPr/>
        </p:nvGrpSpPr>
        <p:grpSpPr>
          <a:xfrm>
            <a:off x="10136536" y="2284810"/>
            <a:ext cx="6153893" cy="6153893"/>
            <a:chOff x="0" y="0"/>
            <a:chExt cx="3331210" cy="3331210"/>
          </a:xfrm>
        </p:grpSpPr>
        <p:sp>
          <p:nvSpPr>
            <p:cNvPr id="6" name="Freeform 6"/>
            <p:cNvSpPr/>
            <p:nvPr/>
          </p:nvSpPr>
          <p:spPr>
            <a:xfrm>
              <a:off x="0" y="0"/>
              <a:ext cx="3331210" cy="3331210"/>
            </a:xfrm>
            <a:custGeom>
              <a:avLst/>
              <a:gdLst/>
              <a:ahLst/>
              <a:cxnLst/>
              <a:rect l="l" t="t" r="r" b="b"/>
              <a:pathLst>
                <a:path w="3331210" h="3331210">
                  <a:moveTo>
                    <a:pt x="0" y="3331210"/>
                  </a:moveTo>
                  <a:lnTo>
                    <a:pt x="0" y="0"/>
                  </a:lnTo>
                  <a:cubicBezTo>
                    <a:pt x="1840230" y="0"/>
                    <a:pt x="3331210" y="1490980"/>
                    <a:pt x="3331210" y="3331210"/>
                  </a:cubicBezTo>
                  <a:lnTo>
                    <a:pt x="0" y="3331210"/>
                  </a:lnTo>
                  <a:close/>
                </a:path>
              </a:pathLst>
            </a:custGeom>
            <a:blipFill>
              <a:blip r:embed="rId5"/>
              <a:stretch>
                <a:fillRect/>
              </a:stretch>
            </a:blipFill>
          </p:spPr>
          <p:txBody>
            <a:bodyPr/>
            <a:lstStyle/>
            <a:p>
              <a:endParaRPr lang="fr-MA"/>
            </a:p>
          </p:txBody>
        </p:sp>
      </p:grpSp>
      <p:sp>
        <p:nvSpPr>
          <p:cNvPr id="7" name="TextBox 7"/>
          <p:cNvSpPr txBox="1"/>
          <p:nvPr/>
        </p:nvSpPr>
        <p:spPr>
          <a:xfrm>
            <a:off x="2316052" y="2227660"/>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API Exposée</a:t>
            </a:r>
          </a:p>
        </p:txBody>
      </p:sp>
      <p:sp>
        <p:nvSpPr>
          <p:cNvPr id="8" name="TextBox 8"/>
          <p:cNvSpPr txBox="1"/>
          <p:nvPr/>
        </p:nvSpPr>
        <p:spPr>
          <a:xfrm>
            <a:off x="2316052" y="3013368"/>
            <a:ext cx="6317644" cy="2768624"/>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Fuite de données sensibles</a:t>
            </a:r>
          </a:p>
          <a:p>
            <a:pPr marL="0" lvl="0" indent="0" algn="l">
              <a:lnSpc>
                <a:spcPts val="3140"/>
              </a:lnSpc>
            </a:pPr>
            <a:r>
              <a:rPr lang="en-US" sz="2243">
                <a:solidFill>
                  <a:srgbClr val="000000"/>
                </a:solidFill>
                <a:latin typeface="TS Tarek"/>
                <a:ea typeface="TS Tarek"/>
                <a:cs typeface="TS Tarek"/>
                <a:sym typeface="TS Tarek"/>
              </a:rPr>
              <a:t>Les API non protégées peuvent exposer des informations confidentielles telles que les données utilisateurs, les identifiants de session et les configurations système. Sans authentification appropriée, ces données deviennent accessibles à des acteurs malveillants.</a:t>
            </a:r>
          </a:p>
        </p:txBody>
      </p:sp>
      <p:sp>
        <p:nvSpPr>
          <p:cNvPr id="9" name="TextBox 9"/>
          <p:cNvSpPr txBox="1"/>
          <p:nvPr/>
        </p:nvSpPr>
        <p:spPr>
          <a:xfrm>
            <a:off x="2316052" y="6155857"/>
            <a:ext cx="6317644" cy="1974914"/>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Endpoints non sécurisés accessibles</a:t>
            </a:r>
          </a:p>
          <a:p>
            <a:pPr marL="0" lvl="0" indent="0" algn="l">
              <a:lnSpc>
                <a:spcPts val="3140"/>
              </a:lnSpc>
            </a:pPr>
            <a:r>
              <a:rPr lang="en-US" sz="2243">
                <a:solidFill>
                  <a:srgbClr val="000000"/>
                </a:solidFill>
                <a:latin typeface="TS Tarek"/>
                <a:ea typeface="TS Tarek"/>
                <a:cs typeface="TS Tarek"/>
                <a:sym typeface="TS Tarek"/>
              </a:rPr>
              <a:t>Des points d'accès API sans validation ni contrôle d'accès permettent l'extraction massive de données et l'exploitation de fonctionnalités critiques. Une documentation API publique aggrave ce risque.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flipV="1">
            <a:off x="997022" y="9254563"/>
            <a:ext cx="15746573" cy="0"/>
          </a:xfrm>
          <a:prstGeom prst="line">
            <a:avLst/>
          </a:prstGeom>
          <a:ln w="9525" cap="flat">
            <a:solidFill>
              <a:srgbClr val="6D745F"/>
            </a:solidFill>
            <a:prstDash val="solid"/>
            <a:headEnd type="none" w="sm" len="sm"/>
            <a:tailEnd type="none" w="sm" len="sm"/>
          </a:ln>
        </p:spPr>
        <p:txBody>
          <a:bodyPr/>
          <a:lstStyle/>
          <a:p>
            <a:endParaRPr lang="fr-MA"/>
          </a:p>
        </p:txBody>
      </p:sp>
      <p:sp>
        <p:nvSpPr>
          <p:cNvPr id="4" name="Freeform 4"/>
          <p:cNvSpPr/>
          <p:nvPr/>
        </p:nvSpPr>
        <p:spPr>
          <a:xfrm>
            <a:off x="16227891" y="8742595"/>
            <a:ext cx="1031409" cy="1031409"/>
          </a:xfrm>
          <a:custGeom>
            <a:avLst/>
            <a:gdLst/>
            <a:ahLst/>
            <a:cxnLst/>
            <a:rect l="l" t="t" r="r" b="b"/>
            <a:pathLst>
              <a:path w="1031409" h="1031409">
                <a:moveTo>
                  <a:pt x="0" y="0"/>
                </a:moveTo>
                <a:lnTo>
                  <a:pt x="1031409" y="0"/>
                </a:lnTo>
                <a:lnTo>
                  <a:pt x="1031409" y="1031410"/>
                </a:lnTo>
                <a:lnTo>
                  <a:pt x="0" y="1031410"/>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fr-MA"/>
          </a:p>
        </p:txBody>
      </p:sp>
      <p:sp>
        <p:nvSpPr>
          <p:cNvPr id="5" name="Freeform 5"/>
          <p:cNvSpPr/>
          <p:nvPr/>
        </p:nvSpPr>
        <p:spPr>
          <a:xfrm>
            <a:off x="6858000" y="2819738"/>
            <a:ext cx="11027382" cy="5403417"/>
          </a:xfrm>
          <a:custGeom>
            <a:avLst/>
            <a:gdLst/>
            <a:ahLst/>
            <a:cxnLst/>
            <a:rect l="l" t="t" r="r" b="b"/>
            <a:pathLst>
              <a:path w="11027382" h="5403417">
                <a:moveTo>
                  <a:pt x="0" y="0"/>
                </a:moveTo>
                <a:lnTo>
                  <a:pt x="11027382" y="0"/>
                </a:lnTo>
                <a:lnTo>
                  <a:pt x="11027382" y="5403418"/>
                </a:lnTo>
                <a:lnTo>
                  <a:pt x="0" y="5403418"/>
                </a:lnTo>
                <a:lnTo>
                  <a:pt x="0" y="0"/>
                </a:lnTo>
                <a:close/>
              </a:path>
            </a:pathLst>
          </a:custGeom>
          <a:blipFill>
            <a:blip r:embed="rId5"/>
            <a:stretch>
              <a:fillRect/>
            </a:stretch>
          </a:blipFill>
        </p:spPr>
        <p:txBody>
          <a:bodyPr/>
          <a:lstStyle/>
          <a:p>
            <a:endParaRPr lang="fr-MA"/>
          </a:p>
        </p:txBody>
      </p:sp>
      <p:sp>
        <p:nvSpPr>
          <p:cNvPr id="6" name="TextBox 6"/>
          <p:cNvSpPr txBox="1"/>
          <p:nvPr/>
        </p:nvSpPr>
        <p:spPr>
          <a:xfrm>
            <a:off x="2826356" y="1166836"/>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Attaque par Force Brute</a:t>
            </a:r>
          </a:p>
        </p:txBody>
      </p:sp>
      <p:sp>
        <p:nvSpPr>
          <p:cNvPr id="7" name="TextBox 7"/>
          <p:cNvSpPr txBox="1"/>
          <p:nvPr/>
        </p:nvSpPr>
        <p:spPr>
          <a:xfrm>
            <a:off x="997021" y="3390899"/>
            <a:ext cx="5479979" cy="3077766"/>
          </a:xfrm>
          <a:prstGeom prst="rect">
            <a:avLst/>
          </a:prstGeom>
        </p:spPr>
        <p:txBody>
          <a:bodyPr wrap="square" lIns="0" tIns="0" rIns="0" bIns="0" rtlCol="0" anchor="t">
            <a:spAutoFit/>
          </a:bodyPr>
          <a:lstStyle/>
          <a:p>
            <a:pPr marL="342900" lvl="0" indent="-342900" algn="l">
              <a:lnSpc>
                <a:spcPts val="2985"/>
              </a:lnSpc>
              <a:buFont typeface="Arial" panose="020B0604020202020204" pitchFamily="34" charset="0"/>
              <a:buChar char="•"/>
            </a:pPr>
            <a:r>
              <a:rPr lang="en-US" sz="2400" dirty="0" err="1">
                <a:solidFill>
                  <a:srgbClr val="000000"/>
                </a:solidFill>
                <a:latin typeface="TS Tarek" panose="020B0604020202020204" charset="-78"/>
                <a:ea typeface="TS Tarek"/>
                <a:cs typeface="TS Tarek" panose="020B0604020202020204" charset="-78"/>
                <a:sym typeface="TS Tarek"/>
              </a:rPr>
              <a:t>Une</a:t>
            </a:r>
            <a:r>
              <a:rPr lang="en-US" sz="2400" dirty="0">
                <a:solidFill>
                  <a:srgbClr val="000000"/>
                </a:solidFill>
                <a:latin typeface="TS Tarek" panose="020B0604020202020204" charset="-78"/>
                <a:ea typeface="TS Tarek"/>
                <a:cs typeface="TS Tarek" panose="020B0604020202020204" charset="-78"/>
                <a:sym typeface="TS Tarek"/>
              </a:rPr>
              <a:t> </a:t>
            </a:r>
            <a:r>
              <a:rPr lang="en-US" sz="2400" dirty="0" err="1">
                <a:solidFill>
                  <a:srgbClr val="000000"/>
                </a:solidFill>
                <a:latin typeface="TS Tarek" panose="020B0604020202020204" charset="-78"/>
                <a:ea typeface="TS Tarek"/>
                <a:cs typeface="TS Tarek" panose="020B0604020202020204" charset="-78"/>
                <a:sym typeface="TS Tarek"/>
              </a:rPr>
              <a:t>attaque</a:t>
            </a:r>
            <a:r>
              <a:rPr lang="en-US" sz="2400" dirty="0">
                <a:solidFill>
                  <a:srgbClr val="000000"/>
                </a:solidFill>
                <a:latin typeface="TS Tarek" panose="020B0604020202020204" charset="-78"/>
                <a:ea typeface="TS Tarek"/>
                <a:cs typeface="TS Tarek" panose="020B0604020202020204" charset="-78"/>
                <a:sym typeface="TS Tarek"/>
              </a:rPr>
              <a:t> par force brute </a:t>
            </a:r>
            <a:r>
              <a:rPr lang="en-US" sz="2400" dirty="0" err="1">
                <a:solidFill>
                  <a:srgbClr val="000000"/>
                </a:solidFill>
                <a:latin typeface="TS Tarek" panose="020B0604020202020204" charset="-78"/>
                <a:ea typeface="TS Tarek"/>
                <a:cs typeface="TS Tarek" panose="020B0604020202020204" charset="-78"/>
                <a:sym typeface="TS Tarek"/>
              </a:rPr>
              <a:t>consiste</a:t>
            </a:r>
            <a:r>
              <a:rPr lang="en-US" sz="2400" dirty="0">
                <a:solidFill>
                  <a:srgbClr val="000000"/>
                </a:solidFill>
                <a:latin typeface="TS Tarek" panose="020B0604020202020204" charset="-78"/>
                <a:ea typeface="TS Tarek"/>
                <a:cs typeface="TS Tarek" panose="020B0604020202020204" charset="-78"/>
                <a:sym typeface="TS Tarek"/>
              </a:rPr>
              <a:t> à tester </a:t>
            </a:r>
            <a:r>
              <a:rPr lang="en-US" sz="2400" dirty="0" err="1">
                <a:solidFill>
                  <a:srgbClr val="000000"/>
                </a:solidFill>
                <a:latin typeface="TS Tarek" panose="020B0604020202020204" charset="-78"/>
                <a:ea typeface="TS Tarek"/>
                <a:cs typeface="TS Tarek" panose="020B0604020202020204" charset="-78"/>
                <a:sym typeface="TS Tarek"/>
              </a:rPr>
              <a:t>systématiquement</a:t>
            </a:r>
            <a:r>
              <a:rPr lang="en-US" sz="2400" dirty="0">
                <a:solidFill>
                  <a:srgbClr val="000000"/>
                </a:solidFill>
                <a:latin typeface="TS Tarek" panose="020B0604020202020204" charset="-78"/>
                <a:ea typeface="TS Tarek"/>
                <a:cs typeface="TS Tarek" panose="020B0604020202020204" charset="-78"/>
                <a:sym typeface="TS Tarek"/>
              </a:rPr>
              <a:t> </a:t>
            </a:r>
            <a:r>
              <a:rPr lang="en-US" sz="2400" dirty="0" err="1">
                <a:solidFill>
                  <a:srgbClr val="000000"/>
                </a:solidFill>
                <a:latin typeface="TS Tarek" panose="020B0604020202020204" charset="-78"/>
                <a:ea typeface="TS Tarek"/>
                <a:cs typeface="TS Tarek" panose="020B0604020202020204" charset="-78"/>
                <a:sym typeface="TS Tarek"/>
              </a:rPr>
              <a:t>toutes</a:t>
            </a:r>
            <a:r>
              <a:rPr lang="en-US" sz="2400" dirty="0">
                <a:solidFill>
                  <a:srgbClr val="000000"/>
                </a:solidFill>
                <a:latin typeface="TS Tarek" panose="020B0604020202020204" charset="-78"/>
                <a:ea typeface="TS Tarek"/>
                <a:cs typeface="TS Tarek" panose="020B0604020202020204" charset="-78"/>
                <a:sym typeface="TS Tarek"/>
              </a:rPr>
              <a:t> les </a:t>
            </a:r>
            <a:r>
              <a:rPr lang="en-US" sz="2400" dirty="0" err="1">
                <a:solidFill>
                  <a:srgbClr val="000000"/>
                </a:solidFill>
                <a:latin typeface="TS Tarek" panose="020B0604020202020204" charset="-78"/>
                <a:ea typeface="TS Tarek"/>
                <a:cs typeface="TS Tarek" panose="020B0604020202020204" charset="-78"/>
                <a:sym typeface="TS Tarek"/>
              </a:rPr>
              <a:t>combinaisons</a:t>
            </a:r>
            <a:r>
              <a:rPr lang="en-US" sz="2400" dirty="0">
                <a:solidFill>
                  <a:srgbClr val="000000"/>
                </a:solidFill>
                <a:latin typeface="TS Tarek" panose="020B0604020202020204" charset="-78"/>
                <a:ea typeface="TS Tarek"/>
                <a:cs typeface="TS Tarek" panose="020B0604020202020204" charset="-78"/>
                <a:sym typeface="TS Tarek"/>
              </a:rPr>
              <a:t> </a:t>
            </a:r>
            <a:r>
              <a:rPr lang="en-US" sz="2400" dirty="0" err="1">
                <a:solidFill>
                  <a:srgbClr val="000000"/>
                </a:solidFill>
                <a:latin typeface="TS Tarek" panose="020B0604020202020204" charset="-78"/>
                <a:ea typeface="TS Tarek"/>
                <a:cs typeface="TS Tarek" panose="020B0604020202020204" charset="-78"/>
                <a:sym typeface="TS Tarek"/>
              </a:rPr>
              <a:t>possibles</a:t>
            </a:r>
            <a:r>
              <a:rPr lang="en-US" sz="2400" dirty="0">
                <a:solidFill>
                  <a:srgbClr val="000000"/>
                </a:solidFill>
                <a:latin typeface="TS Tarek" panose="020B0604020202020204" charset="-78"/>
                <a:ea typeface="TS Tarek"/>
                <a:cs typeface="TS Tarek" panose="020B0604020202020204" charset="-78"/>
                <a:sym typeface="TS Tarek"/>
              </a:rPr>
              <a:t> de mots de </a:t>
            </a:r>
            <a:r>
              <a:rPr lang="en-US" sz="2400" dirty="0" err="1">
                <a:solidFill>
                  <a:srgbClr val="000000"/>
                </a:solidFill>
                <a:latin typeface="TS Tarek" panose="020B0604020202020204" charset="-78"/>
                <a:ea typeface="TS Tarek"/>
                <a:cs typeface="TS Tarek" panose="020B0604020202020204" charset="-78"/>
                <a:sym typeface="TS Tarek"/>
              </a:rPr>
              <a:t>passe</a:t>
            </a:r>
            <a:r>
              <a:rPr lang="en-US" sz="2400" dirty="0">
                <a:solidFill>
                  <a:srgbClr val="000000"/>
                </a:solidFill>
                <a:latin typeface="TS Tarek" panose="020B0604020202020204" charset="-78"/>
                <a:ea typeface="TS Tarek"/>
                <a:cs typeface="TS Tarek" panose="020B0604020202020204" charset="-78"/>
                <a:sym typeface="TS Tarek"/>
              </a:rPr>
              <a:t> </a:t>
            </a:r>
            <a:r>
              <a:rPr lang="en-US" sz="2400" dirty="0" err="1">
                <a:solidFill>
                  <a:srgbClr val="000000"/>
                </a:solidFill>
                <a:latin typeface="TS Tarek" panose="020B0604020202020204" charset="-78"/>
                <a:ea typeface="TS Tarek"/>
                <a:cs typeface="TS Tarek" panose="020B0604020202020204" charset="-78"/>
                <a:sym typeface="TS Tarek"/>
              </a:rPr>
              <a:t>jusqu'à</a:t>
            </a:r>
            <a:r>
              <a:rPr lang="en-US" sz="2400" dirty="0">
                <a:solidFill>
                  <a:srgbClr val="000000"/>
                </a:solidFill>
                <a:latin typeface="TS Tarek" panose="020B0604020202020204" charset="-78"/>
                <a:ea typeface="TS Tarek"/>
                <a:cs typeface="TS Tarek" panose="020B0604020202020204" charset="-78"/>
                <a:sym typeface="TS Tarek"/>
              </a:rPr>
              <a:t> </a:t>
            </a:r>
            <a:r>
              <a:rPr lang="en-US" sz="2400" dirty="0" err="1">
                <a:solidFill>
                  <a:srgbClr val="000000"/>
                </a:solidFill>
                <a:latin typeface="TS Tarek" panose="020B0604020202020204" charset="-78"/>
                <a:ea typeface="TS Tarek"/>
                <a:cs typeface="TS Tarek" panose="020B0604020202020204" charset="-78"/>
                <a:sym typeface="TS Tarek"/>
              </a:rPr>
              <a:t>trouver</a:t>
            </a:r>
            <a:r>
              <a:rPr lang="en-US" sz="2400" dirty="0">
                <a:solidFill>
                  <a:srgbClr val="000000"/>
                </a:solidFill>
                <a:latin typeface="TS Tarek" panose="020B0604020202020204" charset="-78"/>
                <a:ea typeface="TS Tarek"/>
                <a:cs typeface="TS Tarek" panose="020B0604020202020204" charset="-78"/>
                <a:sym typeface="TS Tarek"/>
              </a:rPr>
              <a:t> le bon. Sans </a:t>
            </a:r>
            <a:r>
              <a:rPr lang="en-US" sz="2400" dirty="0" err="1">
                <a:solidFill>
                  <a:srgbClr val="000000"/>
                </a:solidFill>
                <a:latin typeface="TS Tarek" panose="020B0604020202020204" charset="-78"/>
                <a:ea typeface="TS Tarek"/>
                <a:cs typeface="TS Tarek" panose="020B0604020202020204" charset="-78"/>
                <a:sym typeface="TS Tarek"/>
              </a:rPr>
              <a:t>mécanisme</a:t>
            </a:r>
            <a:r>
              <a:rPr lang="en-US" sz="2400" dirty="0">
                <a:solidFill>
                  <a:srgbClr val="000000"/>
                </a:solidFill>
                <a:latin typeface="TS Tarek" panose="020B0604020202020204" charset="-78"/>
                <a:ea typeface="TS Tarek"/>
                <a:cs typeface="TS Tarek" panose="020B0604020202020204" charset="-78"/>
                <a:sym typeface="TS Tarek"/>
              </a:rPr>
              <a:t> de protection, les </a:t>
            </a:r>
            <a:r>
              <a:rPr lang="en-US" sz="2400" dirty="0" err="1">
                <a:solidFill>
                  <a:srgbClr val="000000"/>
                </a:solidFill>
                <a:latin typeface="TS Tarek" panose="020B0604020202020204" charset="-78"/>
                <a:ea typeface="TS Tarek"/>
                <a:cs typeface="TS Tarek" panose="020B0604020202020204" charset="-78"/>
                <a:sym typeface="TS Tarek"/>
              </a:rPr>
              <a:t>attaquants</a:t>
            </a:r>
            <a:r>
              <a:rPr lang="en-US" sz="2400" dirty="0">
                <a:solidFill>
                  <a:srgbClr val="000000"/>
                </a:solidFill>
                <a:latin typeface="TS Tarek" panose="020B0604020202020204" charset="-78"/>
                <a:ea typeface="TS Tarek"/>
                <a:cs typeface="TS Tarek" panose="020B0604020202020204" charset="-78"/>
                <a:sym typeface="TS Tarek"/>
              </a:rPr>
              <a:t> </a:t>
            </a:r>
            <a:r>
              <a:rPr lang="en-US" sz="2400" dirty="0" err="1">
                <a:solidFill>
                  <a:srgbClr val="000000"/>
                </a:solidFill>
                <a:latin typeface="TS Tarek" panose="020B0604020202020204" charset="-78"/>
                <a:ea typeface="TS Tarek"/>
                <a:cs typeface="TS Tarek" panose="020B0604020202020204" charset="-78"/>
                <a:sym typeface="TS Tarek"/>
              </a:rPr>
              <a:t>peuvent</a:t>
            </a:r>
            <a:r>
              <a:rPr lang="en-US" sz="2400" dirty="0">
                <a:solidFill>
                  <a:srgbClr val="000000"/>
                </a:solidFill>
                <a:latin typeface="TS Tarek" panose="020B0604020202020204" charset="-78"/>
                <a:ea typeface="TS Tarek"/>
                <a:cs typeface="TS Tarek" panose="020B0604020202020204" charset="-78"/>
                <a:sym typeface="TS Tarek"/>
              </a:rPr>
              <a:t> </a:t>
            </a:r>
            <a:r>
              <a:rPr lang="en-US" sz="2400" dirty="0" err="1">
                <a:solidFill>
                  <a:srgbClr val="000000"/>
                </a:solidFill>
                <a:latin typeface="TS Tarek" panose="020B0604020202020204" charset="-78"/>
                <a:ea typeface="TS Tarek"/>
                <a:cs typeface="TS Tarek" panose="020B0604020202020204" charset="-78"/>
                <a:sym typeface="TS Tarek"/>
              </a:rPr>
              <a:t>effectuer</a:t>
            </a:r>
            <a:r>
              <a:rPr lang="en-US" sz="2400" dirty="0">
                <a:solidFill>
                  <a:srgbClr val="000000"/>
                </a:solidFill>
                <a:latin typeface="TS Tarek" panose="020B0604020202020204" charset="-78"/>
                <a:ea typeface="TS Tarek"/>
                <a:cs typeface="TS Tarek" panose="020B0604020202020204" charset="-78"/>
                <a:sym typeface="TS Tarek"/>
              </a:rPr>
              <a:t> des </a:t>
            </a:r>
            <a:r>
              <a:rPr lang="en-US" sz="2400" dirty="0" err="1">
                <a:solidFill>
                  <a:srgbClr val="000000"/>
                </a:solidFill>
                <a:latin typeface="TS Tarek" panose="020B0604020202020204" charset="-78"/>
                <a:ea typeface="TS Tarek"/>
                <a:cs typeface="TS Tarek" panose="020B0604020202020204" charset="-78"/>
                <a:sym typeface="TS Tarek"/>
              </a:rPr>
              <a:t>tentatives</a:t>
            </a:r>
            <a:r>
              <a:rPr lang="en-US" sz="2400" dirty="0">
                <a:solidFill>
                  <a:srgbClr val="000000"/>
                </a:solidFill>
                <a:latin typeface="TS Tarek" panose="020B0604020202020204" charset="-78"/>
                <a:ea typeface="TS Tarek"/>
                <a:cs typeface="TS Tarek" panose="020B0604020202020204" charset="-78"/>
                <a:sym typeface="TS Tarek"/>
              </a:rPr>
              <a:t> </a:t>
            </a:r>
            <a:r>
              <a:rPr lang="en-US" sz="2400" dirty="0" err="1">
                <a:solidFill>
                  <a:srgbClr val="000000"/>
                </a:solidFill>
                <a:latin typeface="TS Tarek" panose="020B0604020202020204" charset="-78"/>
                <a:ea typeface="TS Tarek"/>
                <a:cs typeface="TS Tarek" panose="020B0604020202020204" charset="-78"/>
                <a:sym typeface="TS Tarek"/>
              </a:rPr>
              <a:t>illimitées</a:t>
            </a:r>
            <a:r>
              <a:rPr lang="en-US" sz="2400" dirty="0">
                <a:solidFill>
                  <a:srgbClr val="000000"/>
                </a:solidFill>
                <a:latin typeface="TS Tarek" panose="020B0604020202020204" charset="-78"/>
                <a:ea typeface="TS Tarek"/>
                <a:cs typeface="TS Tarek" panose="020B0604020202020204" charset="-78"/>
                <a:sym typeface="TS Tarek"/>
              </a:rPr>
              <a:t> de </a:t>
            </a:r>
            <a:r>
              <a:rPr lang="en-US" sz="2400" dirty="0" err="1">
                <a:solidFill>
                  <a:srgbClr val="000000"/>
                </a:solidFill>
                <a:latin typeface="TS Tarek" panose="020B0604020202020204" charset="-78"/>
                <a:ea typeface="TS Tarek"/>
                <a:cs typeface="TS Tarek" panose="020B0604020202020204" charset="-78"/>
                <a:sym typeface="TS Tarek"/>
              </a:rPr>
              <a:t>connexion</a:t>
            </a:r>
            <a:r>
              <a:rPr lang="en-US" sz="2400" dirty="0">
                <a:solidFill>
                  <a:srgbClr val="000000"/>
                </a:solidFill>
                <a:latin typeface="TS Tarek" panose="020B0604020202020204" charset="-78"/>
                <a:ea typeface="TS Tarek"/>
                <a:cs typeface="TS Tarek" panose="020B0604020202020204" charset="-78"/>
                <a:sym typeface="TS Tarek"/>
              </a:rPr>
              <a:t>, </a:t>
            </a:r>
            <a:r>
              <a:rPr lang="en-US" sz="2400" dirty="0" err="1">
                <a:solidFill>
                  <a:srgbClr val="000000"/>
                </a:solidFill>
                <a:latin typeface="TS Tarek" panose="020B0604020202020204" charset="-78"/>
                <a:ea typeface="TS Tarek"/>
                <a:cs typeface="TS Tarek" panose="020B0604020202020204" charset="-78"/>
                <a:sym typeface="TS Tarek"/>
              </a:rPr>
              <a:t>compromettant</a:t>
            </a:r>
            <a:r>
              <a:rPr lang="en-US" sz="2400" dirty="0">
                <a:solidFill>
                  <a:srgbClr val="000000"/>
                </a:solidFill>
                <a:latin typeface="TS Tarek" panose="020B0604020202020204" charset="-78"/>
                <a:ea typeface="TS Tarek"/>
                <a:cs typeface="TS Tarek" panose="020B0604020202020204" charset="-78"/>
                <a:sym typeface="TS Tarek"/>
              </a:rPr>
              <a:t> </a:t>
            </a:r>
            <a:r>
              <a:rPr lang="en-US" sz="2400" dirty="0" err="1">
                <a:solidFill>
                  <a:srgbClr val="000000"/>
                </a:solidFill>
                <a:latin typeface="TS Tarek" panose="020B0604020202020204" charset="-78"/>
                <a:ea typeface="TS Tarek"/>
                <a:cs typeface="TS Tarek" panose="020B0604020202020204" charset="-78"/>
                <a:sym typeface="TS Tarek"/>
              </a:rPr>
              <a:t>ainsi</a:t>
            </a:r>
            <a:r>
              <a:rPr lang="en-US" sz="2400" dirty="0">
                <a:solidFill>
                  <a:srgbClr val="000000"/>
                </a:solidFill>
                <a:latin typeface="TS Tarek" panose="020B0604020202020204" charset="-78"/>
                <a:ea typeface="TS Tarek"/>
                <a:cs typeface="TS Tarek" panose="020B0604020202020204" charset="-78"/>
                <a:sym typeface="TS Tarek"/>
              </a:rPr>
              <a:t> les </a:t>
            </a:r>
            <a:r>
              <a:rPr lang="en-US" sz="2400" dirty="0" err="1">
                <a:solidFill>
                  <a:srgbClr val="000000"/>
                </a:solidFill>
                <a:latin typeface="TS Tarek" panose="020B0604020202020204" charset="-78"/>
                <a:ea typeface="TS Tarek"/>
                <a:cs typeface="TS Tarek" panose="020B0604020202020204" charset="-78"/>
                <a:sym typeface="TS Tarek"/>
              </a:rPr>
              <a:t>comptes</a:t>
            </a:r>
            <a:r>
              <a:rPr lang="en-US" sz="2400" dirty="0">
                <a:solidFill>
                  <a:srgbClr val="000000"/>
                </a:solidFill>
                <a:latin typeface="TS Tarek" panose="020B0604020202020204" charset="-78"/>
                <a:ea typeface="TS Tarek"/>
                <a:cs typeface="TS Tarek" panose="020B0604020202020204" charset="-78"/>
                <a:sym typeface="TS Tarek"/>
              </a:rPr>
              <a:t> </a:t>
            </a:r>
            <a:r>
              <a:rPr lang="en-US" sz="2400" dirty="0" err="1">
                <a:solidFill>
                  <a:srgbClr val="000000"/>
                </a:solidFill>
                <a:latin typeface="TS Tarek" panose="020B0604020202020204" charset="-78"/>
                <a:ea typeface="TS Tarek"/>
                <a:cs typeface="TS Tarek" panose="020B0604020202020204" charset="-78"/>
                <a:sym typeface="TS Tarek"/>
              </a:rPr>
              <a:t>utilisateurs</a:t>
            </a:r>
            <a:r>
              <a:rPr lang="en-US" sz="2400" dirty="0">
                <a:solidFill>
                  <a:srgbClr val="000000"/>
                </a:solidFill>
                <a:latin typeface="TS Tarek" panose="020B0604020202020204" charset="-78"/>
                <a:ea typeface="TS Tarek"/>
                <a:cs typeface="TS Tarek" panose="020B0604020202020204" charset="-78"/>
                <a:sym typeface="TS Tarek"/>
              </a:rPr>
              <a:t>.</a:t>
            </a:r>
          </a:p>
        </p:txBody>
      </p:sp>
      <p:sp>
        <p:nvSpPr>
          <p:cNvPr id="8" name="Freeform 11"/>
          <p:cNvSpPr/>
          <p:nvPr/>
        </p:nvSpPr>
        <p:spPr>
          <a:xfrm>
            <a:off x="1752600" y="687139"/>
            <a:ext cx="854119" cy="854119"/>
          </a:xfrm>
          <a:custGeom>
            <a:avLst/>
            <a:gdLst/>
            <a:ahLst/>
            <a:cxnLst/>
            <a:rect l="l" t="t" r="r" b="b"/>
            <a:pathLst>
              <a:path w="854119" h="854119">
                <a:moveTo>
                  <a:pt x="0" y="0"/>
                </a:moveTo>
                <a:lnTo>
                  <a:pt x="854119" y="0"/>
                </a:lnTo>
                <a:lnTo>
                  <a:pt x="854119" y="854118"/>
                </a:lnTo>
                <a:lnTo>
                  <a:pt x="0" y="854118"/>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997022" y="9254563"/>
            <a:ext cx="15746573" cy="0"/>
          </a:xfrm>
          <a:prstGeom prst="line">
            <a:avLst/>
          </a:prstGeom>
          <a:ln w="9525" cap="flat">
            <a:solidFill>
              <a:srgbClr val="6D745F"/>
            </a:solidFill>
            <a:prstDash val="solid"/>
            <a:headEnd type="none" w="sm" len="sm"/>
            <a:tailEnd type="none" w="sm" len="sm"/>
          </a:ln>
        </p:spPr>
        <p:txBody>
          <a:bodyPr/>
          <a:lstStyle/>
          <a:p>
            <a:endParaRPr lang="fr-MA"/>
          </a:p>
        </p:txBody>
      </p:sp>
      <p:sp>
        <p:nvSpPr>
          <p:cNvPr id="3" name="Freeform 3"/>
          <p:cNvSpPr/>
          <p:nvPr/>
        </p:nvSpPr>
        <p:spPr>
          <a:xfrm>
            <a:off x="16553253" y="9042600"/>
            <a:ext cx="374934" cy="337669"/>
          </a:xfrm>
          <a:custGeom>
            <a:avLst/>
            <a:gdLst/>
            <a:ahLst/>
            <a:cxnLst/>
            <a:rect l="l" t="t" r="r" b="b"/>
            <a:pathLst>
              <a:path w="374934" h="337669">
                <a:moveTo>
                  <a:pt x="0" y="0"/>
                </a:moveTo>
                <a:lnTo>
                  <a:pt x="374933" y="0"/>
                </a:lnTo>
                <a:lnTo>
                  <a:pt x="374933" y="337669"/>
                </a:lnTo>
                <a:lnTo>
                  <a:pt x="0" y="337669"/>
                </a:lnTo>
                <a:lnTo>
                  <a:pt x="0" y="0"/>
                </a:lnTo>
                <a:close/>
              </a:path>
            </a:pathLst>
          </a:custGeom>
          <a:blipFill>
            <a:blip r:embed="rId3"/>
            <a:stretch>
              <a:fillRect/>
            </a:stretch>
          </a:blipFill>
        </p:spPr>
        <p:txBody>
          <a:bodyPr/>
          <a:lstStyle/>
          <a:p>
            <a:endParaRPr lang="fr-MA"/>
          </a:p>
        </p:txBody>
      </p:sp>
      <p:sp>
        <p:nvSpPr>
          <p:cNvPr id="4" name="TextBox 4"/>
          <p:cNvSpPr txBox="1"/>
          <p:nvPr/>
        </p:nvSpPr>
        <p:spPr>
          <a:xfrm>
            <a:off x="2316052" y="2227660"/>
            <a:ext cx="5968817" cy="540556"/>
          </a:xfrm>
          <a:prstGeom prst="rect">
            <a:avLst/>
          </a:prstGeom>
        </p:spPr>
        <p:txBody>
          <a:bodyPr lIns="0" tIns="0" rIns="0" bIns="0" rtlCol="0" anchor="t">
            <a:spAutoFit/>
          </a:bodyPr>
          <a:lstStyle/>
          <a:p>
            <a:pPr marL="0" lvl="0" indent="0" algn="l">
              <a:lnSpc>
                <a:spcPts val="4483"/>
              </a:lnSpc>
            </a:pPr>
            <a:r>
              <a:rPr lang="en-US" sz="3202">
                <a:solidFill>
                  <a:srgbClr val="000000"/>
                </a:solidFill>
                <a:latin typeface="TAN Mon Cheri"/>
                <a:ea typeface="TAN Mon Cheri"/>
                <a:cs typeface="TAN Mon Cheri"/>
                <a:sym typeface="TAN Mon Cheri"/>
              </a:rPr>
              <a:t>Synthèse des Risques</a:t>
            </a:r>
          </a:p>
        </p:txBody>
      </p:sp>
      <p:sp>
        <p:nvSpPr>
          <p:cNvPr id="5" name="TextBox 5"/>
          <p:cNvSpPr txBox="1"/>
          <p:nvPr/>
        </p:nvSpPr>
        <p:spPr>
          <a:xfrm>
            <a:off x="2316052" y="3118743"/>
            <a:ext cx="6317644" cy="2684539"/>
          </a:xfrm>
          <a:prstGeom prst="rect">
            <a:avLst/>
          </a:prstGeom>
        </p:spPr>
        <p:txBody>
          <a:bodyPr lIns="0" tIns="0" rIns="0" bIns="0" rtlCol="0" anchor="t">
            <a:spAutoFit/>
          </a:bodyPr>
          <a:lstStyle/>
          <a:p>
            <a:pPr marL="0" lvl="0" indent="0" algn="l">
              <a:lnSpc>
                <a:spcPts val="2727"/>
              </a:lnSpc>
            </a:pPr>
            <a:r>
              <a:rPr lang="en-US" sz="1948" dirty="0">
                <a:solidFill>
                  <a:srgbClr val="000000"/>
                </a:solidFill>
                <a:latin typeface="TS Tarek"/>
                <a:ea typeface="TS Tarek"/>
                <a:cs typeface="TS Tarek"/>
                <a:sym typeface="TS Tarek"/>
              </a:rPr>
              <a:t>Impact </a:t>
            </a:r>
            <a:r>
              <a:rPr lang="en-US" sz="1948" dirty="0" err="1">
                <a:solidFill>
                  <a:srgbClr val="000000"/>
                </a:solidFill>
                <a:latin typeface="TS Tarek"/>
                <a:ea typeface="TS Tarek"/>
                <a:cs typeface="TS Tarek"/>
                <a:sym typeface="TS Tarek"/>
              </a:rPr>
              <a:t>Utilisateur</a:t>
            </a:r>
            <a:endParaRPr lang="en-US" sz="1948" dirty="0">
              <a:solidFill>
                <a:srgbClr val="000000"/>
              </a:solidFill>
              <a:latin typeface="TS Tarek"/>
              <a:ea typeface="TS Tarek"/>
              <a:cs typeface="TS Tarek"/>
              <a:sym typeface="TS Tarek"/>
            </a:endParaRPr>
          </a:p>
          <a:p>
            <a:pPr marL="0" lvl="0" indent="0" algn="l">
              <a:lnSpc>
                <a:spcPts val="2727"/>
              </a:lnSpc>
            </a:pPr>
            <a:r>
              <a:rPr lang="en-US" sz="1948" dirty="0">
                <a:solidFill>
                  <a:srgbClr val="000000"/>
                </a:solidFill>
                <a:latin typeface="TS Tarek"/>
                <a:ea typeface="TS Tarek"/>
                <a:cs typeface="TS Tarek"/>
                <a:sym typeface="TS Tarek"/>
              </a:rPr>
              <a:t>Vol de </a:t>
            </a:r>
            <a:r>
              <a:rPr lang="en-US" sz="1948" dirty="0" err="1">
                <a:solidFill>
                  <a:srgbClr val="000000"/>
                </a:solidFill>
                <a:latin typeface="TS Tarek"/>
                <a:ea typeface="TS Tarek"/>
                <a:cs typeface="TS Tarek"/>
                <a:sym typeface="TS Tarek"/>
              </a:rPr>
              <a:t>données</a:t>
            </a:r>
            <a:r>
              <a:rPr lang="en-US" sz="1948" dirty="0">
                <a:solidFill>
                  <a:srgbClr val="000000"/>
                </a:solidFill>
                <a:latin typeface="TS Tarek"/>
                <a:ea typeface="TS Tarek"/>
                <a:cs typeface="TS Tarek"/>
                <a:sym typeface="TS Tarek"/>
              </a:rPr>
              <a:t> </a:t>
            </a:r>
            <a:r>
              <a:rPr lang="en-US" sz="1948" dirty="0" err="1">
                <a:solidFill>
                  <a:srgbClr val="000000"/>
                </a:solidFill>
                <a:latin typeface="TS Tarek"/>
                <a:ea typeface="TS Tarek"/>
                <a:cs typeface="TS Tarek"/>
                <a:sym typeface="TS Tarek"/>
              </a:rPr>
              <a:t>personnelles</a:t>
            </a:r>
            <a:r>
              <a:rPr lang="en-US" sz="1948" dirty="0">
                <a:solidFill>
                  <a:srgbClr val="000000"/>
                </a:solidFill>
                <a:latin typeface="TS Tarek"/>
                <a:ea typeface="TS Tarek"/>
                <a:cs typeface="TS Tarek"/>
                <a:sym typeface="TS Tarek"/>
              </a:rPr>
              <a:t>, sessions compromises, </a:t>
            </a:r>
            <a:r>
              <a:rPr lang="en-US" sz="1948" dirty="0" err="1">
                <a:solidFill>
                  <a:srgbClr val="000000"/>
                </a:solidFill>
                <a:latin typeface="TS Tarek"/>
                <a:ea typeface="TS Tarek"/>
                <a:cs typeface="TS Tarek"/>
                <a:sym typeface="TS Tarek"/>
              </a:rPr>
              <a:t>perte</a:t>
            </a:r>
            <a:r>
              <a:rPr lang="en-US" sz="1948" dirty="0">
                <a:solidFill>
                  <a:srgbClr val="000000"/>
                </a:solidFill>
                <a:latin typeface="TS Tarek"/>
                <a:ea typeface="TS Tarek"/>
                <a:cs typeface="TS Tarek"/>
                <a:sym typeface="TS Tarek"/>
              </a:rPr>
              <a:t> de </a:t>
            </a:r>
            <a:r>
              <a:rPr lang="en-US" sz="1948" dirty="0" err="1">
                <a:solidFill>
                  <a:srgbClr val="000000"/>
                </a:solidFill>
                <a:latin typeface="TS Tarek"/>
                <a:ea typeface="TS Tarek"/>
                <a:cs typeface="TS Tarek"/>
                <a:sym typeface="TS Tarek"/>
              </a:rPr>
              <a:t>confiance</a:t>
            </a:r>
            <a:r>
              <a:rPr lang="en-US" sz="1948" dirty="0">
                <a:solidFill>
                  <a:srgbClr val="000000"/>
                </a:solidFill>
                <a:latin typeface="TS Tarek"/>
                <a:ea typeface="TS Tarek"/>
                <a:cs typeface="TS Tarek"/>
                <a:sym typeface="TS Tarek"/>
              </a:rPr>
              <a:t>. Les </a:t>
            </a:r>
            <a:r>
              <a:rPr lang="en-US" sz="1948" dirty="0" err="1">
                <a:solidFill>
                  <a:srgbClr val="000000"/>
                </a:solidFill>
                <a:latin typeface="TS Tarek"/>
                <a:ea typeface="TS Tarek"/>
                <a:cs typeface="TS Tarek"/>
                <a:sym typeface="TS Tarek"/>
              </a:rPr>
              <a:t>utilisateurs</a:t>
            </a:r>
            <a:r>
              <a:rPr lang="en-US" sz="1948" dirty="0">
                <a:solidFill>
                  <a:srgbClr val="000000"/>
                </a:solidFill>
                <a:latin typeface="TS Tarek"/>
                <a:ea typeface="TS Tarek"/>
                <a:cs typeface="TS Tarek"/>
                <a:sym typeface="TS Tarek"/>
              </a:rPr>
              <a:t> </a:t>
            </a:r>
            <a:r>
              <a:rPr lang="en-US" sz="1948" dirty="0" err="1">
                <a:solidFill>
                  <a:srgbClr val="000000"/>
                </a:solidFill>
                <a:latin typeface="TS Tarek"/>
                <a:ea typeface="TS Tarek"/>
                <a:cs typeface="TS Tarek"/>
                <a:sym typeface="TS Tarek"/>
              </a:rPr>
              <a:t>sont</a:t>
            </a:r>
            <a:r>
              <a:rPr lang="en-US" sz="1948" dirty="0">
                <a:solidFill>
                  <a:srgbClr val="000000"/>
                </a:solidFill>
                <a:latin typeface="TS Tarek"/>
                <a:ea typeface="TS Tarek"/>
                <a:cs typeface="TS Tarek"/>
                <a:sym typeface="TS Tarek"/>
              </a:rPr>
              <a:t> </a:t>
            </a:r>
            <a:r>
              <a:rPr lang="en-US" sz="1948" dirty="0" err="1">
                <a:solidFill>
                  <a:srgbClr val="000000"/>
                </a:solidFill>
                <a:latin typeface="TS Tarek"/>
                <a:ea typeface="TS Tarek"/>
                <a:cs typeface="TS Tarek"/>
                <a:sym typeface="TS Tarek"/>
              </a:rPr>
              <a:t>directement</a:t>
            </a:r>
            <a:r>
              <a:rPr lang="en-US" sz="1948" dirty="0">
                <a:solidFill>
                  <a:srgbClr val="000000"/>
                </a:solidFill>
                <a:latin typeface="TS Tarek"/>
                <a:ea typeface="TS Tarek"/>
                <a:cs typeface="TS Tarek"/>
                <a:sym typeface="TS Tarek"/>
              </a:rPr>
              <a:t> exposés aux </a:t>
            </a:r>
            <a:r>
              <a:rPr lang="en-US" sz="1948" dirty="0" err="1">
                <a:solidFill>
                  <a:srgbClr val="000000"/>
                </a:solidFill>
                <a:latin typeface="TS Tarek"/>
                <a:ea typeface="TS Tarek"/>
                <a:cs typeface="TS Tarek"/>
                <a:sym typeface="TS Tarek"/>
              </a:rPr>
              <a:t>attaques</a:t>
            </a:r>
            <a:r>
              <a:rPr lang="en-US" sz="1948" dirty="0">
                <a:solidFill>
                  <a:srgbClr val="000000"/>
                </a:solidFill>
                <a:latin typeface="TS Tarek"/>
                <a:ea typeface="TS Tarek"/>
                <a:cs typeface="TS Tarek"/>
                <a:sym typeface="TS Tarek"/>
              </a:rPr>
              <a:t> XSS et CSRF </a:t>
            </a:r>
            <a:r>
              <a:rPr lang="en-US" sz="1948" dirty="0" err="1">
                <a:solidFill>
                  <a:srgbClr val="000000"/>
                </a:solidFill>
                <a:latin typeface="TS Tarek"/>
                <a:ea typeface="TS Tarek"/>
                <a:cs typeface="TS Tarek"/>
                <a:sym typeface="TS Tarek"/>
              </a:rPr>
              <a:t>identifiées</a:t>
            </a:r>
            <a:r>
              <a:rPr lang="en-US" sz="1948" dirty="0">
                <a:solidFill>
                  <a:srgbClr val="000000"/>
                </a:solidFill>
                <a:latin typeface="TS Tarek"/>
                <a:ea typeface="TS Tarek"/>
                <a:cs typeface="TS Tarek"/>
                <a:sym typeface="TS Tarek"/>
              </a:rPr>
              <a:t>.</a:t>
            </a:r>
          </a:p>
          <a:p>
            <a:pPr marL="0" lvl="0" indent="0" algn="l">
              <a:lnSpc>
                <a:spcPts val="2727"/>
              </a:lnSpc>
            </a:pPr>
            <a:r>
              <a:rPr lang="en-US" sz="1948" dirty="0">
                <a:solidFill>
                  <a:srgbClr val="000000"/>
                </a:solidFill>
                <a:latin typeface="TS Tarek"/>
                <a:ea typeface="TS Tarek"/>
                <a:cs typeface="TS Tarek"/>
                <a:sym typeface="TS Tarek"/>
              </a:rPr>
              <a:t>Impact </a:t>
            </a:r>
            <a:r>
              <a:rPr lang="en-US" sz="1948" dirty="0" err="1">
                <a:solidFill>
                  <a:srgbClr val="000000"/>
                </a:solidFill>
                <a:latin typeface="TS Tarek"/>
                <a:ea typeface="TS Tarek"/>
                <a:cs typeface="TS Tarek"/>
                <a:sym typeface="TS Tarek"/>
              </a:rPr>
              <a:t>Entreprise</a:t>
            </a:r>
            <a:endParaRPr lang="en-US" sz="1948" dirty="0">
              <a:solidFill>
                <a:srgbClr val="000000"/>
              </a:solidFill>
              <a:latin typeface="TS Tarek"/>
              <a:ea typeface="TS Tarek"/>
              <a:cs typeface="TS Tarek"/>
              <a:sym typeface="TS Tarek"/>
            </a:endParaRPr>
          </a:p>
          <a:p>
            <a:pPr marL="0" lvl="0" indent="0" algn="l">
              <a:lnSpc>
                <a:spcPts val="2727"/>
              </a:lnSpc>
            </a:pPr>
            <a:r>
              <a:rPr lang="en-US" sz="1948" dirty="0" err="1">
                <a:solidFill>
                  <a:srgbClr val="000000"/>
                </a:solidFill>
                <a:latin typeface="TS Tarek"/>
                <a:ea typeface="TS Tarek"/>
                <a:cs typeface="TS Tarek"/>
                <a:sym typeface="TS Tarek"/>
              </a:rPr>
              <a:t>Atteinte</a:t>
            </a:r>
            <a:r>
              <a:rPr lang="en-US" sz="1948" dirty="0">
                <a:solidFill>
                  <a:srgbClr val="000000"/>
                </a:solidFill>
                <a:latin typeface="TS Tarek"/>
                <a:ea typeface="TS Tarek"/>
                <a:cs typeface="TS Tarek"/>
                <a:sym typeface="TS Tarek"/>
              </a:rPr>
              <a:t> à la </a:t>
            </a:r>
            <a:r>
              <a:rPr lang="en-US" sz="1948" dirty="0" err="1">
                <a:solidFill>
                  <a:srgbClr val="000000"/>
                </a:solidFill>
                <a:latin typeface="TS Tarek"/>
                <a:ea typeface="TS Tarek"/>
                <a:cs typeface="TS Tarek"/>
                <a:sym typeface="TS Tarek"/>
              </a:rPr>
              <a:t>réputation</a:t>
            </a:r>
            <a:r>
              <a:rPr lang="en-US" sz="1948" dirty="0">
                <a:solidFill>
                  <a:srgbClr val="000000"/>
                </a:solidFill>
                <a:latin typeface="TS Tarek"/>
                <a:ea typeface="TS Tarek"/>
                <a:cs typeface="TS Tarek"/>
                <a:sym typeface="TS Tarek"/>
              </a:rPr>
              <a:t>, </a:t>
            </a:r>
            <a:r>
              <a:rPr lang="en-US" sz="1948" dirty="0" err="1">
                <a:solidFill>
                  <a:srgbClr val="000000"/>
                </a:solidFill>
                <a:latin typeface="TS Tarek"/>
                <a:ea typeface="TS Tarek"/>
                <a:cs typeface="TS Tarek"/>
                <a:sym typeface="TS Tarek"/>
              </a:rPr>
              <a:t>pertes</a:t>
            </a:r>
            <a:r>
              <a:rPr lang="en-US" sz="1948" dirty="0">
                <a:solidFill>
                  <a:srgbClr val="000000"/>
                </a:solidFill>
                <a:latin typeface="TS Tarek"/>
                <a:ea typeface="TS Tarek"/>
                <a:cs typeface="TS Tarek"/>
                <a:sym typeface="TS Tarek"/>
              </a:rPr>
              <a:t> </a:t>
            </a:r>
            <a:r>
              <a:rPr lang="en-US" sz="1948" dirty="0" err="1">
                <a:solidFill>
                  <a:srgbClr val="000000"/>
                </a:solidFill>
                <a:latin typeface="TS Tarek"/>
                <a:ea typeface="TS Tarek"/>
                <a:cs typeface="TS Tarek"/>
                <a:sym typeface="TS Tarek"/>
              </a:rPr>
              <a:t>financières</a:t>
            </a:r>
            <a:r>
              <a:rPr lang="en-US" sz="1948" dirty="0">
                <a:solidFill>
                  <a:srgbClr val="000000"/>
                </a:solidFill>
                <a:latin typeface="TS Tarek"/>
                <a:ea typeface="TS Tarek"/>
                <a:cs typeface="TS Tarek"/>
                <a:sym typeface="TS Tarek"/>
              </a:rPr>
              <a:t>, non-</a:t>
            </a:r>
            <a:r>
              <a:rPr lang="en-US" sz="1948" dirty="0" err="1">
                <a:solidFill>
                  <a:srgbClr val="000000"/>
                </a:solidFill>
                <a:latin typeface="TS Tarek"/>
                <a:ea typeface="TS Tarek"/>
                <a:cs typeface="TS Tarek"/>
                <a:sym typeface="TS Tarek"/>
              </a:rPr>
              <a:t>conformité</a:t>
            </a:r>
            <a:r>
              <a:rPr lang="en-US" sz="1948" dirty="0">
                <a:solidFill>
                  <a:srgbClr val="000000"/>
                </a:solidFill>
                <a:latin typeface="TS Tarek"/>
                <a:ea typeface="TS Tarek"/>
                <a:cs typeface="TS Tarek"/>
                <a:sym typeface="TS Tarek"/>
              </a:rPr>
              <a:t> </a:t>
            </a:r>
            <a:r>
              <a:rPr lang="en-US" sz="1948" dirty="0" err="1">
                <a:solidFill>
                  <a:srgbClr val="000000"/>
                </a:solidFill>
                <a:latin typeface="TS Tarek"/>
                <a:ea typeface="TS Tarek"/>
                <a:cs typeface="TS Tarek"/>
                <a:sym typeface="TS Tarek"/>
              </a:rPr>
              <a:t>réglementaire</a:t>
            </a:r>
            <a:r>
              <a:rPr lang="en-US" sz="1948" dirty="0">
                <a:solidFill>
                  <a:srgbClr val="000000"/>
                </a:solidFill>
                <a:latin typeface="TS Tarek"/>
                <a:ea typeface="TS Tarek"/>
                <a:cs typeface="TS Tarek"/>
                <a:sym typeface="TS Tarek"/>
              </a:rPr>
              <a:t>. Les </a:t>
            </a:r>
            <a:r>
              <a:rPr lang="en-US" sz="1948" dirty="0" err="1">
                <a:solidFill>
                  <a:srgbClr val="000000"/>
                </a:solidFill>
                <a:latin typeface="TS Tarek"/>
                <a:ea typeface="TS Tarek"/>
                <a:cs typeface="TS Tarek"/>
                <a:sym typeface="TS Tarek"/>
              </a:rPr>
              <a:t>vulnérabilités</a:t>
            </a:r>
            <a:r>
              <a:rPr lang="en-US" sz="1948" dirty="0">
                <a:solidFill>
                  <a:srgbClr val="000000"/>
                </a:solidFill>
                <a:latin typeface="TS Tarek"/>
                <a:ea typeface="TS Tarek"/>
                <a:cs typeface="TS Tarek"/>
                <a:sym typeface="TS Tarek"/>
              </a:rPr>
              <a:t> critiques </a:t>
            </a:r>
            <a:r>
              <a:rPr lang="en-US" sz="1948" dirty="0" err="1">
                <a:solidFill>
                  <a:srgbClr val="000000"/>
                </a:solidFill>
                <a:latin typeface="TS Tarek"/>
                <a:ea typeface="TS Tarek"/>
                <a:cs typeface="TS Tarek"/>
                <a:sym typeface="TS Tarek"/>
              </a:rPr>
              <a:t>menacent</a:t>
            </a:r>
            <a:r>
              <a:rPr lang="en-US" sz="1948" dirty="0">
                <a:solidFill>
                  <a:srgbClr val="000000"/>
                </a:solidFill>
                <a:latin typeface="TS Tarek"/>
                <a:ea typeface="TS Tarek"/>
                <a:cs typeface="TS Tarek"/>
                <a:sym typeface="TS Tarek"/>
              </a:rPr>
              <a:t> </a:t>
            </a:r>
            <a:r>
              <a:rPr lang="en-US" sz="1948" dirty="0" err="1">
                <a:solidFill>
                  <a:srgbClr val="000000"/>
                </a:solidFill>
                <a:latin typeface="TS Tarek"/>
                <a:ea typeface="TS Tarek"/>
                <a:cs typeface="TS Tarek"/>
                <a:sym typeface="TS Tarek"/>
              </a:rPr>
              <a:t>l'intégrité</a:t>
            </a:r>
            <a:r>
              <a:rPr lang="en-US" sz="1948" dirty="0">
                <a:solidFill>
                  <a:srgbClr val="000000"/>
                </a:solidFill>
                <a:latin typeface="TS Tarek"/>
                <a:ea typeface="TS Tarek"/>
                <a:cs typeface="TS Tarek"/>
                <a:sym typeface="TS Tarek"/>
              </a:rPr>
              <a:t> du </a:t>
            </a:r>
            <a:r>
              <a:rPr lang="en-US" sz="1948" dirty="0" err="1">
                <a:solidFill>
                  <a:srgbClr val="000000"/>
                </a:solidFill>
                <a:latin typeface="TS Tarek"/>
                <a:ea typeface="TS Tarek"/>
                <a:cs typeface="TS Tarek"/>
                <a:sym typeface="TS Tarek"/>
              </a:rPr>
              <a:t>système</a:t>
            </a:r>
            <a:r>
              <a:rPr lang="en-US" sz="1948" dirty="0">
                <a:solidFill>
                  <a:srgbClr val="000000"/>
                </a:solidFill>
                <a:latin typeface="TS Tarek"/>
                <a:ea typeface="TS Tarek"/>
                <a:cs typeface="TS Tarek"/>
                <a:sym typeface="TS Tarek"/>
              </a:rPr>
              <a:t>.</a:t>
            </a:r>
          </a:p>
        </p:txBody>
      </p:sp>
      <p:sp>
        <p:nvSpPr>
          <p:cNvPr id="6" name="TextBox 6"/>
          <p:cNvSpPr txBox="1"/>
          <p:nvPr/>
        </p:nvSpPr>
        <p:spPr>
          <a:xfrm>
            <a:off x="2316052" y="5973971"/>
            <a:ext cx="6317644" cy="2012939"/>
          </a:xfrm>
          <a:prstGeom prst="rect">
            <a:avLst/>
          </a:prstGeom>
        </p:spPr>
        <p:txBody>
          <a:bodyPr lIns="0" tIns="0" rIns="0" bIns="0" rtlCol="0" anchor="t">
            <a:spAutoFit/>
          </a:bodyPr>
          <a:lstStyle/>
          <a:p>
            <a:pPr marL="0" lvl="0" indent="0" algn="l">
              <a:lnSpc>
                <a:spcPts val="2727"/>
              </a:lnSpc>
            </a:pPr>
            <a:r>
              <a:rPr lang="en-US" sz="1948">
                <a:solidFill>
                  <a:srgbClr val="000000"/>
                </a:solidFill>
                <a:latin typeface="TS Tarek"/>
                <a:ea typeface="TS Tarek"/>
                <a:cs typeface="TS Tarek"/>
                <a:sym typeface="TS Tarek"/>
              </a:rPr>
              <a:t>Score Global de Risque</a:t>
            </a:r>
          </a:p>
          <a:p>
            <a:pPr marL="0" lvl="0" indent="0" algn="l">
              <a:lnSpc>
                <a:spcPts val="2727"/>
              </a:lnSpc>
            </a:pPr>
            <a:r>
              <a:rPr lang="en-US" sz="1948">
                <a:solidFill>
                  <a:srgbClr val="000000"/>
                </a:solidFill>
                <a:latin typeface="TS Tarek"/>
                <a:ea typeface="TS Tarek"/>
                <a:cs typeface="TS Tarek"/>
                <a:sym typeface="TS Tarek"/>
              </a:rPr>
              <a:t>Niveau : CRITIQUE</a:t>
            </a:r>
          </a:p>
          <a:p>
            <a:pPr marL="0" lvl="0" indent="0" algn="l">
              <a:lnSpc>
                <a:spcPts val="2727"/>
              </a:lnSpc>
            </a:pPr>
            <a:r>
              <a:rPr lang="en-US" sz="1948">
                <a:solidFill>
                  <a:srgbClr val="000000"/>
                </a:solidFill>
                <a:latin typeface="TS Tarek"/>
                <a:ea typeface="TS Tarek"/>
                <a:cs typeface="TS Tarek"/>
                <a:sym typeface="TS Tarek"/>
              </a:rPr>
              <a:t>Les vulnérabilités SQL Injection et API exposée représentent des menaces majeures nécessitant une remédiation immédiate. L'audit révèle un niveau de risque incompatible avec un environnement de production.</a:t>
            </a:r>
          </a:p>
        </p:txBody>
      </p:sp>
      <p:sp>
        <p:nvSpPr>
          <p:cNvPr id="7" name="Freeform 7"/>
          <p:cNvSpPr/>
          <p:nvPr/>
        </p:nvSpPr>
        <p:spPr>
          <a:xfrm>
            <a:off x="1288065" y="2240360"/>
            <a:ext cx="527425" cy="437378"/>
          </a:xfrm>
          <a:custGeom>
            <a:avLst/>
            <a:gdLst/>
            <a:ahLst/>
            <a:cxnLst/>
            <a:rect l="l" t="t" r="r" b="b"/>
            <a:pathLst>
              <a:path w="656958" h="381173">
                <a:moveTo>
                  <a:pt x="0" y="0"/>
                </a:moveTo>
                <a:lnTo>
                  <a:pt x="656958" y="0"/>
                </a:lnTo>
                <a:lnTo>
                  <a:pt x="656958" y="381173"/>
                </a:lnTo>
                <a:lnTo>
                  <a:pt x="0" y="381173"/>
                </a:lnTo>
                <a:lnTo>
                  <a:pt x="0" y="0"/>
                </a:lnTo>
                <a:close/>
              </a:path>
            </a:pathLst>
          </a:custGeom>
          <a:blipFill>
            <a:blip r:embed="rId4"/>
            <a:stretch>
              <a:fillRect/>
            </a:stretch>
          </a:blipFill>
        </p:spPr>
        <p:txBody>
          <a:bodyPr/>
          <a:lstStyle/>
          <a:p>
            <a:endParaRPr lang="fr-MA"/>
          </a:p>
        </p:txBody>
      </p:sp>
      <p:pic>
        <p:nvPicPr>
          <p:cNvPr id="8" name="Picture 8"/>
          <p:cNvPicPr>
            <a:picLocks noChangeAspect="1"/>
          </p:cNvPicPr>
          <p:nvPr/>
        </p:nvPicPr>
        <p:blipFill>
          <a:blip r:embed="rId5"/>
          <a:stretch>
            <a:fillRect/>
          </a:stretch>
        </p:blipFill>
        <p:spPr>
          <a:xfrm>
            <a:off x="9312856" y="1479531"/>
            <a:ext cx="8106260" cy="7507497"/>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600200" y="942975"/>
            <a:ext cx="8686800" cy="718145"/>
          </a:xfrm>
          <a:prstGeom prst="rect">
            <a:avLst/>
          </a:prstGeom>
        </p:spPr>
        <p:txBody>
          <a:bodyPr wrap="square" lIns="0" tIns="0" rIns="0" bIns="0" rtlCol="0" anchor="t">
            <a:spAutoFit/>
          </a:bodyPr>
          <a:lstStyle/>
          <a:p>
            <a:pPr marL="0" lvl="0" indent="0" algn="l">
              <a:lnSpc>
                <a:spcPts val="5618"/>
              </a:lnSpc>
            </a:pPr>
            <a:r>
              <a:rPr lang="en-US" sz="4013" dirty="0">
                <a:solidFill>
                  <a:srgbClr val="6D745F"/>
                </a:solidFill>
                <a:latin typeface="TAN Mon Cheri"/>
                <a:ea typeface="TAN Mon Cheri"/>
                <a:cs typeface="TAN Mon Cheri"/>
                <a:sym typeface="TAN Mon Cheri"/>
              </a:rPr>
              <a:t>SOLUTIONS PROPOSÉES</a:t>
            </a:r>
          </a:p>
        </p:txBody>
      </p:sp>
      <p:sp>
        <p:nvSpPr>
          <p:cNvPr id="3" name="TextBox 3"/>
          <p:cNvSpPr txBox="1"/>
          <p:nvPr/>
        </p:nvSpPr>
        <p:spPr>
          <a:xfrm>
            <a:off x="2316052" y="2227660"/>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Requêtes préparées</a:t>
            </a:r>
          </a:p>
        </p:txBody>
      </p:sp>
      <p:sp>
        <p:nvSpPr>
          <p:cNvPr id="4" name="TextBox 4"/>
          <p:cNvSpPr txBox="1"/>
          <p:nvPr/>
        </p:nvSpPr>
        <p:spPr>
          <a:xfrm>
            <a:off x="10431352" y="2227660"/>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Encodage XSS</a:t>
            </a:r>
          </a:p>
        </p:txBody>
      </p:sp>
      <p:sp>
        <p:nvSpPr>
          <p:cNvPr id="5" name="TextBox 5"/>
          <p:cNvSpPr txBox="1"/>
          <p:nvPr/>
        </p:nvSpPr>
        <p:spPr>
          <a:xfrm>
            <a:off x="2316052" y="5856573"/>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Tokens CSRF</a:t>
            </a:r>
          </a:p>
        </p:txBody>
      </p:sp>
      <p:sp>
        <p:nvSpPr>
          <p:cNvPr id="6" name="TextBox 6"/>
          <p:cNvSpPr txBox="1"/>
          <p:nvPr/>
        </p:nvSpPr>
        <p:spPr>
          <a:xfrm>
            <a:off x="10431352" y="5856573"/>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Rate limiting</a:t>
            </a:r>
          </a:p>
        </p:txBody>
      </p:sp>
      <p:sp>
        <p:nvSpPr>
          <p:cNvPr id="7" name="TextBox 7"/>
          <p:cNvSpPr txBox="1"/>
          <p:nvPr/>
        </p:nvSpPr>
        <p:spPr>
          <a:xfrm>
            <a:off x="2316052" y="3013368"/>
            <a:ext cx="6317644" cy="1181205"/>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Utilisation de requêtes paramétrées pour prévenir les injections SQL et sécuriser les interactions avec la base de données.</a:t>
            </a:r>
          </a:p>
        </p:txBody>
      </p:sp>
      <p:sp>
        <p:nvSpPr>
          <p:cNvPr id="8" name="TextBox 8"/>
          <p:cNvSpPr txBox="1"/>
          <p:nvPr/>
        </p:nvSpPr>
        <p:spPr>
          <a:xfrm>
            <a:off x="10431352" y="3013368"/>
            <a:ext cx="6317644" cy="1181205"/>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Encodage systématique des entrées utilisateur pour neutraliser les scripts malveillants et protéger contre les attaques XSS.</a:t>
            </a:r>
          </a:p>
        </p:txBody>
      </p:sp>
      <p:sp>
        <p:nvSpPr>
          <p:cNvPr id="9" name="TextBox 9"/>
          <p:cNvSpPr txBox="1"/>
          <p:nvPr/>
        </p:nvSpPr>
        <p:spPr>
          <a:xfrm>
            <a:off x="2316052" y="6642280"/>
            <a:ext cx="6317644" cy="1181205"/>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Implémentation de jetons anti-CSRF pour valider l'authenticité des requêtes et bloquer les actions non autorisées.</a:t>
            </a:r>
          </a:p>
        </p:txBody>
      </p:sp>
      <p:sp>
        <p:nvSpPr>
          <p:cNvPr id="10" name="TextBox 10"/>
          <p:cNvSpPr txBox="1"/>
          <p:nvPr/>
        </p:nvSpPr>
        <p:spPr>
          <a:xfrm>
            <a:off x="10431352" y="6642280"/>
            <a:ext cx="6317644" cy="1181205"/>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Limitation du nombre de tentatives de connexion pour contrer les attaques par force brute et protéger les comptes.</a:t>
            </a:r>
          </a:p>
        </p:txBody>
      </p:sp>
      <p:sp>
        <p:nvSpPr>
          <p:cNvPr id="11" name="Freeform 11"/>
          <p:cNvSpPr/>
          <p:nvPr/>
        </p:nvSpPr>
        <p:spPr>
          <a:xfrm>
            <a:off x="1348522" y="2280796"/>
            <a:ext cx="424585" cy="496305"/>
          </a:xfrm>
          <a:custGeom>
            <a:avLst/>
            <a:gdLst/>
            <a:ahLst/>
            <a:cxnLst/>
            <a:rect l="l" t="t" r="r" b="b"/>
            <a:pathLst>
              <a:path w="424585" h="496305">
                <a:moveTo>
                  <a:pt x="0" y="0"/>
                </a:moveTo>
                <a:lnTo>
                  <a:pt x="424585" y="0"/>
                </a:lnTo>
                <a:lnTo>
                  <a:pt x="424585" y="496305"/>
                </a:lnTo>
                <a:lnTo>
                  <a:pt x="0" y="496305"/>
                </a:lnTo>
                <a:lnTo>
                  <a:pt x="0" y="0"/>
                </a:lnTo>
                <a:close/>
              </a:path>
            </a:pathLst>
          </a:custGeom>
          <a:blipFill>
            <a:blip r:embed="rId3"/>
            <a:stretch>
              <a:fillRect/>
            </a:stretch>
          </a:blipFill>
        </p:spPr>
        <p:txBody>
          <a:bodyPr/>
          <a:lstStyle/>
          <a:p>
            <a:endParaRPr lang="fr-MA"/>
          </a:p>
        </p:txBody>
      </p:sp>
      <p:sp>
        <p:nvSpPr>
          <p:cNvPr id="12" name="Freeform 12"/>
          <p:cNvSpPr/>
          <p:nvPr/>
        </p:nvSpPr>
        <p:spPr>
          <a:xfrm>
            <a:off x="9314392" y="2198836"/>
            <a:ext cx="727516" cy="653280"/>
          </a:xfrm>
          <a:custGeom>
            <a:avLst/>
            <a:gdLst/>
            <a:ahLst/>
            <a:cxnLst/>
            <a:rect l="l" t="t" r="r" b="b"/>
            <a:pathLst>
              <a:path w="727516" h="653280">
                <a:moveTo>
                  <a:pt x="0" y="0"/>
                </a:moveTo>
                <a:lnTo>
                  <a:pt x="727516" y="0"/>
                </a:lnTo>
                <a:lnTo>
                  <a:pt x="727516" y="653280"/>
                </a:lnTo>
                <a:lnTo>
                  <a:pt x="0" y="653280"/>
                </a:lnTo>
                <a:lnTo>
                  <a:pt x="0" y="0"/>
                </a:lnTo>
                <a:close/>
              </a:path>
            </a:pathLst>
          </a:custGeom>
          <a:blipFill>
            <a:blip r:embed="rId4"/>
            <a:stretch>
              <a:fillRect/>
            </a:stretch>
          </a:blipFill>
        </p:spPr>
        <p:txBody>
          <a:bodyPr/>
          <a:lstStyle/>
          <a:p>
            <a:endParaRPr lang="fr-MA"/>
          </a:p>
        </p:txBody>
      </p:sp>
      <p:sp>
        <p:nvSpPr>
          <p:cNvPr id="13" name="Freeform 13"/>
          <p:cNvSpPr/>
          <p:nvPr/>
        </p:nvSpPr>
        <p:spPr>
          <a:xfrm>
            <a:off x="1336413" y="5928503"/>
            <a:ext cx="448905" cy="448905"/>
          </a:xfrm>
          <a:custGeom>
            <a:avLst/>
            <a:gdLst/>
            <a:ahLst/>
            <a:cxnLst/>
            <a:rect l="l" t="t" r="r" b="b"/>
            <a:pathLst>
              <a:path w="448905" h="448905">
                <a:moveTo>
                  <a:pt x="0" y="0"/>
                </a:moveTo>
                <a:lnTo>
                  <a:pt x="448905" y="0"/>
                </a:lnTo>
                <a:lnTo>
                  <a:pt x="448905" y="448905"/>
                </a:lnTo>
                <a:lnTo>
                  <a:pt x="0" y="448905"/>
                </a:lnTo>
                <a:lnTo>
                  <a:pt x="0" y="0"/>
                </a:lnTo>
                <a:close/>
              </a:path>
            </a:pathLst>
          </a:custGeom>
          <a:blipFill>
            <a:blip r:embed="rId5"/>
            <a:stretch>
              <a:fillRect/>
            </a:stretch>
          </a:blipFill>
        </p:spPr>
        <p:txBody>
          <a:bodyPr/>
          <a:lstStyle/>
          <a:p>
            <a:endParaRPr lang="fr-MA"/>
          </a:p>
        </p:txBody>
      </p:sp>
      <p:sp>
        <p:nvSpPr>
          <p:cNvPr id="14" name="Freeform 14"/>
          <p:cNvSpPr/>
          <p:nvPr/>
        </p:nvSpPr>
        <p:spPr>
          <a:xfrm>
            <a:off x="9451727" y="5928190"/>
            <a:ext cx="449237" cy="449237"/>
          </a:xfrm>
          <a:custGeom>
            <a:avLst/>
            <a:gdLst/>
            <a:ahLst/>
            <a:cxnLst/>
            <a:rect l="l" t="t" r="r" b="b"/>
            <a:pathLst>
              <a:path w="449237" h="449237">
                <a:moveTo>
                  <a:pt x="0" y="0"/>
                </a:moveTo>
                <a:lnTo>
                  <a:pt x="449237" y="0"/>
                </a:lnTo>
                <a:lnTo>
                  <a:pt x="449237" y="449237"/>
                </a:lnTo>
                <a:lnTo>
                  <a:pt x="0" y="449237"/>
                </a:lnTo>
                <a:lnTo>
                  <a:pt x="0" y="0"/>
                </a:lnTo>
                <a:close/>
              </a:path>
            </a:pathLst>
          </a:custGeom>
          <a:blipFill>
            <a:blip r:embed="rId6"/>
            <a:stretch>
              <a:fillRect/>
            </a:stretch>
          </a:blipFill>
        </p:spPr>
        <p:txBody>
          <a:bodyPr/>
          <a:lstStyle/>
          <a:p>
            <a:endParaRPr lang="fr-MA"/>
          </a:p>
        </p:txBody>
      </p:sp>
      <p:sp>
        <p:nvSpPr>
          <p:cNvPr id="15" name="AutoShape 15"/>
          <p:cNvSpPr/>
          <p:nvPr/>
        </p:nvSpPr>
        <p:spPr>
          <a:xfrm flipV="1">
            <a:off x="997022" y="9254563"/>
            <a:ext cx="15746573" cy="0"/>
          </a:xfrm>
          <a:prstGeom prst="line">
            <a:avLst/>
          </a:prstGeom>
          <a:ln w="9525" cap="flat">
            <a:solidFill>
              <a:srgbClr val="6D745F"/>
            </a:solidFill>
            <a:prstDash val="solid"/>
            <a:headEnd type="none" w="sm" len="sm"/>
            <a:tailEnd type="none" w="sm" len="sm"/>
          </a:ln>
        </p:spPr>
        <p:txBody>
          <a:bodyPr/>
          <a:lstStyle/>
          <a:p>
            <a:endParaRPr lang="fr-MA"/>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47800" y="1334198"/>
            <a:ext cx="7422509" cy="1538883"/>
          </a:xfrm>
          <a:prstGeom prst="rect">
            <a:avLst/>
          </a:prstGeom>
        </p:spPr>
        <p:txBody>
          <a:bodyPr wrap="square" lIns="0" tIns="0" rIns="0" bIns="0" rtlCol="0" anchor="t">
            <a:spAutoFit/>
          </a:bodyPr>
          <a:lstStyle/>
          <a:p>
            <a:pPr marL="0" lvl="0" indent="0" algn="l">
              <a:lnSpc>
                <a:spcPts val="6020"/>
              </a:lnSpc>
            </a:pPr>
            <a:r>
              <a:rPr lang="en-US" sz="4013" dirty="0">
                <a:solidFill>
                  <a:srgbClr val="6D745F"/>
                </a:solidFill>
                <a:latin typeface="TAN Mon Cheri"/>
                <a:ea typeface="TAN Mon Cheri"/>
                <a:cs typeface="TAN Mon Cheri"/>
                <a:sym typeface="TAN Mon Cheri"/>
              </a:rPr>
              <a:t>BONNES PRATIQUES</a:t>
            </a:r>
          </a:p>
          <a:p>
            <a:pPr marL="0" lvl="0" indent="0" algn="l">
              <a:lnSpc>
                <a:spcPts val="6020"/>
              </a:lnSpc>
            </a:pPr>
            <a:r>
              <a:rPr lang="en-US" sz="4013" dirty="0">
                <a:solidFill>
                  <a:srgbClr val="6D745F"/>
                </a:solidFill>
                <a:latin typeface="TAN Mon Cheri"/>
                <a:ea typeface="TAN Mon Cheri"/>
                <a:cs typeface="TAN Mon Cheri"/>
                <a:sym typeface="TAN Mon Cheri"/>
              </a:rPr>
              <a:t>DE SÉCURITÉ</a:t>
            </a:r>
          </a:p>
        </p:txBody>
      </p:sp>
      <p:sp>
        <p:nvSpPr>
          <p:cNvPr id="3" name="TextBox 3"/>
          <p:cNvSpPr txBox="1"/>
          <p:nvPr/>
        </p:nvSpPr>
        <p:spPr>
          <a:xfrm>
            <a:off x="1028700" y="3396089"/>
            <a:ext cx="7334654" cy="2184400"/>
          </a:xfrm>
          <a:prstGeom prst="rect">
            <a:avLst/>
          </a:prstGeom>
        </p:spPr>
        <p:txBody>
          <a:bodyPr lIns="0" tIns="0" rIns="0" bIns="0" rtlCol="0" anchor="t">
            <a:spAutoFit/>
          </a:bodyPr>
          <a:lstStyle/>
          <a:p>
            <a:pPr marL="0" lvl="0" indent="0" algn="l">
              <a:lnSpc>
                <a:spcPts val="3500"/>
              </a:lnSpc>
            </a:pPr>
            <a:r>
              <a:rPr lang="en-US" sz="2500">
                <a:solidFill>
                  <a:srgbClr val="000000"/>
                </a:solidFill>
                <a:latin typeface="TS Tarek"/>
                <a:ea typeface="TS Tarek"/>
                <a:cs typeface="TS Tarek"/>
                <a:sym typeface="TS Tarek"/>
              </a:rPr>
              <a:t>Validation serveur rigoureuse : Implémenter une validation stricte côté serveur pour toutes les entrées utilisateur. Ne jamais faire confiance aux données provenant du client. Utiliser des listes blanches plutôt que des listes noires pour filtrer les entrées.</a:t>
            </a:r>
          </a:p>
        </p:txBody>
      </p:sp>
      <p:sp>
        <p:nvSpPr>
          <p:cNvPr id="4" name="TextBox 4"/>
          <p:cNvSpPr txBox="1"/>
          <p:nvPr/>
        </p:nvSpPr>
        <p:spPr>
          <a:xfrm>
            <a:off x="1028700" y="5903955"/>
            <a:ext cx="7334654" cy="2184400"/>
          </a:xfrm>
          <a:prstGeom prst="rect">
            <a:avLst/>
          </a:prstGeom>
        </p:spPr>
        <p:txBody>
          <a:bodyPr lIns="0" tIns="0" rIns="0" bIns="0" rtlCol="0" anchor="t">
            <a:spAutoFit/>
          </a:bodyPr>
          <a:lstStyle/>
          <a:p>
            <a:pPr marL="0" lvl="0" indent="0" algn="l">
              <a:lnSpc>
                <a:spcPts val="3500"/>
              </a:lnSpc>
            </a:pPr>
            <a:r>
              <a:rPr lang="en-US" sz="2500">
                <a:solidFill>
                  <a:srgbClr val="000000"/>
                </a:solidFill>
                <a:latin typeface="TS Tarek"/>
                <a:ea typeface="TS Tarek"/>
                <a:cs typeface="TS Tarek"/>
                <a:sym typeface="TS Tarek"/>
              </a:rPr>
              <a:t>Headers HTTP sécurisés : Configurer les en-têtes de sécurité essentiels (Content-Security-Policy, X-Frame-Options, X-Content-Type-Options). Défense en profondeur : Appliquer plusieurs couches de protection pour minimiser l'impact d'une faille unique.</a:t>
            </a:r>
          </a:p>
        </p:txBody>
      </p:sp>
      <p:grpSp>
        <p:nvGrpSpPr>
          <p:cNvPr id="5" name="Group 5"/>
          <p:cNvGrpSpPr>
            <a:grpSpLocks noChangeAspect="1"/>
          </p:cNvGrpSpPr>
          <p:nvPr/>
        </p:nvGrpSpPr>
        <p:grpSpPr>
          <a:xfrm>
            <a:off x="10820400" y="2441929"/>
            <a:ext cx="5622711" cy="5646426"/>
            <a:chOff x="0" y="0"/>
            <a:chExt cx="6323330" cy="6350000"/>
          </a:xfrm>
        </p:grpSpPr>
        <p:sp>
          <p:nvSpPr>
            <p:cNvPr id="6" name="Freeform 6"/>
            <p:cNvSpPr/>
            <p:nvPr/>
          </p:nvSpPr>
          <p:spPr>
            <a:xfrm>
              <a:off x="0" y="0"/>
              <a:ext cx="6323330" cy="6350000"/>
            </a:xfrm>
            <a:custGeom>
              <a:avLst/>
              <a:gdLst/>
              <a:ahLst/>
              <a:cxnLst/>
              <a:rect l="l" t="t" r="r" b="b"/>
              <a:pathLst>
                <a:path w="6323330" h="6350000">
                  <a:moveTo>
                    <a:pt x="6320790" y="2887980"/>
                  </a:moveTo>
                  <a:lnTo>
                    <a:pt x="6320790" y="1596390"/>
                  </a:lnTo>
                  <a:cubicBezTo>
                    <a:pt x="6320790" y="715010"/>
                    <a:pt x="5605780" y="0"/>
                    <a:pt x="4724400" y="0"/>
                  </a:cubicBezTo>
                  <a:lnTo>
                    <a:pt x="4724400" y="0"/>
                  </a:lnTo>
                  <a:cubicBezTo>
                    <a:pt x="3967480" y="0"/>
                    <a:pt x="3314700" y="530860"/>
                    <a:pt x="3161030" y="1271270"/>
                  </a:cubicBezTo>
                  <a:cubicBezTo>
                    <a:pt x="3006090" y="530860"/>
                    <a:pt x="2353310" y="0"/>
                    <a:pt x="1596390" y="0"/>
                  </a:cubicBezTo>
                  <a:lnTo>
                    <a:pt x="1596390" y="0"/>
                  </a:lnTo>
                  <a:cubicBezTo>
                    <a:pt x="715010" y="0"/>
                    <a:pt x="0" y="715010"/>
                    <a:pt x="0" y="1596390"/>
                  </a:cubicBezTo>
                  <a:lnTo>
                    <a:pt x="0" y="3462020"/>
                  </a:lnTo>
                  <a:lnTo>
                    <a:pt x="2540" y="3462020"/>
                  </a:lnTo>
                  <a:lnTo>
                    <a:pt x="2540" y="4752340"/>
                  </a:lnTo>
                  <a:cubicBezTo>
                    <a:pt x="2540" y="5634990"/>
                    <a:pt x="717550" y="6350000"/>
                    <a:pt x="1598930" y="6350000"/>
                  </a:cubicBezTo>
                  <a:lnTo>
                    <a:pt x="1598930" y="6350000"/>
                  </a:lnTo>
                  <a:cubicBezTo>
                    <a:pt x="2354580" y="6350000"/>
                    <a:pt x="3007360" y="5819140"/>
                    <a:pt x="3162300" y="5078730"/>
                  </a:cubicBezTo>
                  <a:cubicBezTo>
                    <a:pt x="3317240" y="5819140"/>
                    <a:pt x="3970020" y="6350000"/>
                    <a:pt x="4726940" y="6350000"/>
                  </a:cubicBezTo>
                  <a:lnTo>
                    <a:pt x="4726940" y="6350000"/>
                  </a:lnTo>
                  <a:cubicBezTo>
                    <a:pt x="5608320" y="6350000"/>
                    <a:pt x="6323330" y="5634990"/>
                    <a:pt x="6323330" y="4753610"/>
                  </a:cubicBezTo>
                  <a:lnTo>
                    <a:pt x="6323330" y="2887980"/>
                  </a:lnTo>
                  <a:lnTo>
                    <a:pt x="6320790" y="2887980"/>
                  </a:lnTo>
                  <a:close/>
                </a:path>
              </a:pathLst>
            </a:custGeom>
            <a:blipFill>
              <a:blip r:embed="rId3"/>
              <a:stretch>
                <a:fillRect l="-210" r="-210"/>
              </a:stretch>
            </a:blipFill>
          </p:spPr>
          <p:txBody>
            <a:bodyPr/>
            <a:lstStyle/>
            <a:p>
              <a:endParaRPr lang="fr-MA"/>
            </a:p>
          </p:txBody>
        </p:sp>
      </p:grpSp>
      <p:sp>
        <p:nvSpPr>
          <p:cNvPr id="9" name="AutoShape 9"/>
          <p:cNvSpPr/>
          <p:nvPr/>
        </p:nvSpPr>
        <p:spPr>
          <a:xfrm flipV="1">
            <a:off x="997022" y="9254563"/>
            <a:ext cx="15746573" cy="0"/>
          </a:xfrm>
          <a:prstGeom prst="line">
            <a:avLst/>
          </a:prstGeom>
          <a:ln w="9525" cap="flat">
            <a:solidFill>
              <a:srgbClr val="6D745F"/>
            </a:solidFill>
            <a:prstDash val="solid"/>
            <a:headEnd type="none" w="sm" len="sm"/>
            <a:tailEnd type="none" w="sm" len="sm"/>
          </a:ln>
        </p:spPr>
        <p:txBody>
          <a:bodyPr/>
          <a:lstStyle/>
          <a:p>
            <a:endParaRPr lang="fr-MA"/>
          </a:p>
        </p:txBody>
      </p:sp>
      <p:sp>
        <p:nvSpPr>
          <p:cNvPr id="10" name="Freeform 10"/>
          <p:cNvSpPr/>
          <p:nvPr/>
        </p:nvSpPr>
        <p:spPr>
          <a:xfrm>
            <a:off x="16227891" y="8742595"/>
            <a:ext cx="1031409" cy="1031409"/>
          </a:xfrm>
          <a:custGeom>
            <a:avLst/>
            <a:gdLst/>
            <a:ahLst/>
            <a:cxnLst/>
            <a:rect l="l" t="t" r="r" b="b"/>
            <a:pathLst>
              <a:path w="1031409" h="1031409">
                <a:moveTo>
                  <a:pt x="0" y="0"/>
                </a:moveTo>
                <a:lnTo>
                  <a:pt x="1031409" y="0"/>
                </a:lnTo>
                <a:lnTo>
                  <a:pt x="1031409" y="1031410"/>
                </a:lnTo>
                <a:lnTo>
                  <a:pt x="0" y="1031410"/>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fr-MA"/>
          </a:p>
        </p:txBody>
      </p:sp>
      <p:sp>
        <p:nvSpPr>
          <p:cNvPr id="11" name="Freeform 11"/>
          <p:cNvSpPr/>
          <p:nvPr/>
        </p:nvSpPr>
        <p:spPr>
          <a:xfrm>
            <a:off x="569962" y="907138"/>
            <a:ext cx="854119" cy="854119"/>
          </a:xfrm>
          <a:custGeom>
            <a:avLst/>
            <a:gdLst/>
            <a:ahLst/>
            <a:cxnLst/>
            <a:rect l="l" t="t" r="r" b="b"/>
            <a:pathLst>
              <a:path w="854119" h="854119">
                <a:moveTo>
                  <a:pt x="0" y="0"/>
                </a:moveTo>
                <a:lnTo>
                  <a:pt x="854119" y="0"/>
                </a:lnTo>
                <a:lnTo>
                  <a:pt x="854119" y="854118"/>
                </a:lnTo>
                <a:lnTo>
                  <a:pt x="0" y="85411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316052" y="2227660"/>
            <a:ext cx="6317644" cy="540499"/>
          </a:xfrm>
          <a:prstGeom prst="rect">
            <a:avLst/>
          </a:prstGeom>
        </p:spPr>
        <p:txBody>
          <a:bodyPr lIns="0" tIns="0" rIns="0" bIns="0" rtlCol="0" anchor="t">
            <a:spAutoFit/>
          </a:bodyPr>
          <a:lstStyle/>
          <a:p>
            <a:pPr marL="0" lvl="0" indent="0" algn="l">
              <a:lnSpc>
                <a:spcPts val="4486"/>
              </a:lnSpc>
            </a:pPr>
            <a:r>
              <a:rPr lang="en-US" sz="3204">
                <a:solidFill>
                  <a:srgbClr val="000000"/>
                </a:solidFill>
                <a:latin typeface="TAN Mon Cheri"/>
                <a:ea typeface="TAN Mon Cheri"/>
                <a:cs typeface="TAN Mon Cheri"/>
                <a:sym typeface="TAN Mon Cheri"/>
              </a:rPr>
              <a:t>Conclusion</a:t>
            </a:r>
          </a:p>
        </p:txBody>
      </p:sp>
      <p:sp>
        <p:nvSpPr>
          <p:cNvPr id="3" name="TextBox 3"/>
          <p:cNvSpPr txBox="1"/>
          <p:nvPr/>
        </p:nvSpPr>
        <p:spPr>
          <a:xfrm>
            <a:off x="2316052" y="3013368"/>
            <a:ext cx="6317644" cy="2371769"/>
          </a:xfrm>
          <a:prstGeom prst="rect">
            <a:avLst/>
          </a:prstGeom>
        </p:spPr>
        <p:txBody>
          <a:bodyPr lIns="0" tIns="0" rIns="0" bIns="0" rtlCol="0" anchor="t">
            <a:spAutoFit/>
          </a:bodyPr>
          <a:lstStyle/>
          <a:p>
            <a:pPr marL="0" lvl="0" indent="0" algn="l">
              <a:lnSpc>
                <a:spcPts val="3140"/>
              </a:lnSpc>
            </a:pPr>
            <a:r>
              <a:rPr lang="en-US" sz="2243" dirty="0">
                <a:solidFill>
                  <a:srgbClr val="000000"/>
                </a:solidFill>
                <a:latin typeface="TS Tarek"/>
                <a:ea typeface="TS Tarek"/>
                <a:cs typeface="TS Tarek"/>
                <a:sym typeface="TS Tarek"/>
              </a:rPr>
              <a:t>La </a:t>
            </a:r>
            <a:r>
              <a:rPr lang="en-US" sz="2243" dirty="0" err="1">
                <a:solidFill>
                  <a:srgbClr val="000000"/>
                </a:solidFill>
                <a:latin typeface="TS Tarek"/>
                <a:ea typeface="TS Tarek"/>
                <a:cs typeface="TS Tarek"/>
                <a:sym typeface="TS Tarek"/>
              </a:rPr>
              <a:t>cybersécurité</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est</a:t>
            </a:r>
            <a:r>
              <a:rPr lang="en-US" sz="2243" dirty="0">
                <a:solidFill>
                  <a:srgbClr val="000000"/>
                </a:solidFill>
                <a:latin typeface="TS Tarek"/>
                <a:ea typeface="TS Tarek"/>
                <a:cs typeface="TS Tarek"/>
                <a:sym typeface="TS Tarek"/>
              </a:rPr>
              <a:t> un </a:t>
            </a:r>
            <a:r>
              <a:rPr lang="en-US" sz="2243" dirty="0" err="1">
                <a:solidFill>
                  <a:srgbClr val="000000"/>
                </a:solidFill>
                <a:latin typeface="TS Tarek"/>
                <a:ea typeface="TS Tarek"/>
                <a:cs typeface="TS Tarek"/>
                <a:sym typeface="TS Tarek"/>
              </a:rPr>
              <a:t>enjeu</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stratégique</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majeur</a:t>
            </a:r>
            <a:r>
              <a:rPr lang="en-US" sz="2243" dirty="0">
                <a:solidFill>
                  <a:srgbClr val="000000"/>
                </a:solidFill>
                <a:latin typeface="TS Tarek"/>
                <a:ea typeface="TS Tarek"/>
                <a:cs typeface="TS Tarek"/>
                <a:sym typeface="TS Tarek"/>
              </a:rPr>
              <a:t> pour </a:t>
            </a:r>
            <a:r>
              <a:rPr lang="en-US" sz="2243" dirty="0" err="1">
                <a:solidFill>
                  <a:srgbClr val="000000"/>
                </a:solidFill>
                <a:latin typeface="TS Tarek"/>
                <a:ea typeface="TS Tarek"/>
                <a:cs typeface="TS Tarek"/>
                <a:sym typeface="TS Tarek"/>
              </a:rPr>
              <a:t>toute</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organisation</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moderne</a:t>
            </a:r>
            <a:r>
              <a:rPr lang="en-US" sz="2243" dirty="0">
                <a:solidFill>
                  <a:srgbClr val="000000"/>
                </a:solidFill>
                <a:latin typeface="TS Tarek"/>
                <a:ea typeface="TS Tarek"/>
                <a:cs typeface="TS Tarek"/>
                <a:sym typeface="TS Tarek"/>
              </a:rPr>
              <a:t>. Face à </a:t>
            </a:r>
            <a:r>
              <a:rPr lang="en-US" sz="2243" dirty="0" err="1">
                <a:solidFill>
                  <a:srgbClr val="000000"/>
                </a:solidFill>
                <a:latin typeface="TS Tarek"/>
                <a:ea typeface="TS Tarek"/>
                <a:cs typeface="TS Tarek"/>
                <a:sym typeface="TS Tarek"/>
              </a:rPr>
              <a:t>l'évolution</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constante</a:t>
            </a:r>
            <a:r>
              <a:rPr lang="en-US" sz="2243" dirty="0">
                <a:solidFill>
                  <a:srgbClr val="000000"/>
                </a:solidFill>
                <a:latin typeface="TS Tarek"/>
                <a:ea typeface="TS Tarek"/>
                <a:cs typeface="TS Tarek"/>
                <a:sym typeface="TS Tarek"/>
              </a:rPr>
              <a:t> des menaces, un audit </a:t>
            </a:r>
            <a:r>
              <a:rPr lang="en-US" sz="2243" dirty="0" err="1">
                <a:solidFill>
                  <a:srgbClr val="000000"/>
                </a:solidFill>
                <a:latin typeface="TS Tarek"/>
                <a:ea typeface="TS Tarek"/>
                <a:cs typeface="TS Tarek"/>
                <a:sym typeface="TS Tarek"/>
              </a:rPr>
              <a:t>régulier</a:t>
            </a:r>
            <a:r>
              <a:rPr lang="en-US" sz="2243" dirty="0">
                <a:solidFill>
                  <a:srgbClr val="000000"/>
                </a:solidFill>
                <a:latin typeface="TS Tarek"/>
                <a:ea typeface="TS Tarek"/>
                <a:cs typeface="TS Tarek"/>
                <a:sym typeface="TS Tarek"/>
              </a:rPr>
              <a:t> des </a:t>
            </a:r>
            <a:r>
              <a:rPr lang="en-US" sz="2243" dirty="0" err="1">
                <a:solidFill>
                  <a:srgbClr val="000000"/>
                </a:solidFill>
                <a:latin typeface="TS Tarek"/>
                <a:ea typeface="TS Tarek"/>
                <a:cs typeface="TS Tarek"/>
                <a:sym typeface="TS Tarek"/>
              </a:rPr>
              <a:t>systèmes</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n'est</a:t>
            </a:r>
            <a:r>
              <a:rPr lang="en-US" sz="2243" dirty="0">
                <a:solidFill>
                  <a:srgbClr val="000000"/>
                </a:solidFill>
                <a:latin typeface="TS Tarek"/>
                <a:ea typeface="TS Tarek"/>
                <a:cs typeface="TS Tarek"/>
                <a:sym typeface="TS Tarek"/>
              </a:rPr>
              <a:t> plus </a:t>
            </a:r>
            <a:r>
              <a:rPr lang="en-US" sz="2243" dirty="0" err="1">
                <a:solidFill>
                  <a:srgbClr val="000000"/>
                </a:solidFill>
                <a:latin typeface="TS Tarek"/>
                <a:ea typeface="TS Tarek"/>
                <a:cs typeface="TS Tarek"/>
                <a:sym typeface="TS Tarek"/>
              </a:rPr>
              <a:t>une</a:t>
            </a:r>
            <a:r>
              <a:rPr lang="en-US" sz="2243" dirty="0">
                <a:solidFill>
                  <a:srgbClr val="000000"/>
                </a:solidFill>
                <a:latin typeface="TS Tarek"/>
                <a:ea typeface="TS Tarek"/>
                <a:cs typeface="TS Tarek"/>
                <a:sym typeface="TS Tarek"/>
              </a:rPr>
              <a:t> option </a:t>
            </a:r>
            <a:r>
              <a:rPr lang="en-US" sz="2243" dirty="0" err="1">
                <a:solidFill>
                  <a:srgbClr val="000000"/>
                </a:solidFill>
                <a:latin typeface="TS Tarek"/>
                <a:ea typeface="TS Tarek"/>
                <a:cs typeface="TS Tarek"/>
                <a:sym typeface="TS Tarek"/>
              </a:rPr>
              <a:t>mais</a:t>
            </a:r>
            <a:r>
              <a:rPr lang="en-US" sz="2243" dirty="0">
                <a:solidFill>
                  <a:srgbClr val="000000"/>
                </a:solidFill>
                <a:latin typeface="TS Tarek"/>
                <a:ea typeface="TS Tarek"/>
                <a:cs typeface="TS Tarek"/>
                <a:sym typeface="TS Tarek"/>
              </a:rPr>
              <a:t> </a:t>
            </a:r>
            <a:r>
              <a:rPr lang="en-US" sz="2243" dirty="0" err="1">
                <a:solidFill>
                  <a:srgbClr val="000000"/>
                </a:solidFill>
                <a:latin typeface="TS Tarek"/>
                <a:ea typeface="TS Tarek"/>
                <a:cs typeface="TS Tarek"/>
                <a:sym typeface="TS Tarek"/>
              </a:rPr>
              <a:t>une</a:t>
            </a:r>
            <a:r>
              <a:rPr lang="en-US" sz="2243" dirty="0">
                <a:solidFill>
                  <a:srgbClr val="000000"/>
                </a:solidFill>
                <a:latin typeface="TS Tarek"/>
                <a:ea typeface="TS Tarek"/>
                <a:cs typeface="TS Tarek"/>
                <a:sym typeface="TS Tarek"/>
              </a:rPr>
              <a:t> obligation pour </a:t>
            </a:r>
            <a:r>
              <a:rPr lang="en-US" sz="2243" dirty="0" err="1">
                <a:solidFill>
                  <a:srgbClr val="000000"/>
                </a:solidFill>
                <a:latin typeface="TS Tarek"/>
                <a:ea typeface="TS Tarek"/>
                <a:cs typeface="TS Tarek"/>
                <a:sym typeface="TS Tarek"/>
              </a:rPr>
              <a:t>garantir</a:t>
            </a:r>
            <a:r>
              <a:rPr lang="en-US" sz="2243" dirty="0">
                <a:solidFill>
                  <a:srgbClr val="000000"/>
                </a:solidFill>
                <a:latin typeface="TS Tarek"/>
                <a:ea typeface="TS Tarek"/>
                <a:cs typeface="TS Tarek"/>
                <a:sym typeface="TS Tarek"/>
              </a:rPr>
              <a:t> la protection des </a:t>
            </a:r>
            <a:r>
              <a:rPr lang="en-US" sz="2243" dirty="0" err="1">
                <a:solidFill>
                  <a:srgbClr val="000000"/>
                </a:solidFill>
                <a:latin typeface="TS Tarek"/>
                <a:ea typeface="TS Tarek"/>
                <a:cs typeface="TS Tarek"/>
                <a:sym typeface="TS Tarek"/>
              </a:rPr>
              <a:t>données</a:t>
            </a:r>
            <a:r>
              <a:rPr lang="en-US" sz="2243" dirty="0">
                <a:solidFill>
                  <a:srgbClr val="000000"/>
                </a:solidFill>
                <a:latin typeface="TS Tarek"/>
                <a:ea typeface="TS Tarek"/>
                <a:cs typeface="TS Tarek"/>
                <a:sym typeface="TS Tarek"/>
              </a:rPr>
              <a:t> et la </a:t>
            </a:r>
            <a:r>
              <a:rPr lang="en-US" sz="2243" dirty="0" err="1">
                <a:solidFill>
                  <a:srgbClr val="000000"/>
                </a:solidFill>
                <a:latin typeface="TS Tarek"/>
                <a:ea typeface="TS Tarek"/>
                <a:cs typeface="TS Tarek"/>
                <a:sym typeface="TS Tarek"/>
              </a:rPr>
              <a:t>continuité</a:t>
            </a:r>
            <a:r>
              <a:rPr lang="en-US" sz="2243" dirty="0">
                <a:solidFill>
                  <a:srgbClr val="000000"/>
                </a:solidFill>
                <a:latin typeface="TS Tarek"/>
                <a:ea typeface="TS Tarek"/>
                <a:cs typeface="TS Tarek"/>
                <a:sym typeface="TS Tarek"/>
              </a:rPr>
              <a:t> des </a:t>
            </a:r>
            <a:r>
              <a:rPr lang="en-US" sz="2243" dirty="0" err="1">
                <a:solidFill>
                  <a:srgbClr val="000000"/>
                </a:solidFill>
                <a:latin typeface="TS Tarek"/>
                <a:ea typeface="TS Tarek"/>
                <a:cs typeface="TS Tarek"/>
                <a:sym typeface="TS Tarek"/>
              </a:rPr>
              <a:t>activités</a:t>
            </a:r>
            <a:r>
              <a:rPr lang="en-US" sz="2243" dirty="0">
                <a:solidFill>
                  <a:srgbClr val="000000"/>
                </a:solidFill>
                <a:latin typeface="TS Tarek"/>
                <a:ea typeface="TS Tarek"/>
                <a:cs typeface="TS Tarek"/>
                <a:sym typeface="TS Tarek"/>
              </a:rPr>
              <a:t>.</a:t>
            </a:r>
          </a:p>
        </p:txBody>
      </p:sp>
      <p:sp>
        <p:nvSpPr>
          <p:cNvPr id="4" name="TextBox 4"/>
          <p:cNvSpPr txBox="1"/>
          <p:nvPr/>
        </p:nvSpPr>
        <p:spPr>
          <a:xfrm>
            <a:off x="2316052" y="6155857"/>
            <a:ext cx="6317644" cy="2371769"/>
          </a:xfrm>
          <a:prstGeom prst="rect">
            <a:avLst/>
          </a:prstGeom>
        </p:spPr>
        <p:txBody>
          <a:bodyPr lIns="0" tIns="0" rIns="0" bIns="0" rtlCol="0" anchor="t">
            <a:spAutoFit/>
          </a:bodyPr>
          <a:lstStyle/>
          <a:p>
            <a:pPr marL="0" lvl="0" indent="0" algn="l">
              <a:lnSpc>
                <a:spcPts val="3140"/>
              </a:lnSpc>
            </a:pPr>
            <a:r>
              <a:rPr lang="en-US" sz="2243">
                <a:solidFill>
                  <a:srgbClr val="000000"/>
                </a:solidFill>
                <a:latin typeface="TS Tarek"/>
                <a:ea typeface="TS Tarek"/>
                <a:cs typeface="TS Tarek"/>
                <a:sym typeface="TS Tarek"/>
              </a:rPr>
              <a:t>Protéger les systèmes, c'est protéger l'entreprise. L'audit de OWASP Juice Shop démontre l'importance d'une approche proactive en cybersécurité. Les vulnérabilités identifiées et les solutions proposées constituent une feuille de route essentielle pour renforcer la sécurité applicative.</a:t>
            </a:r>
          </a:p>
        </p:txBody>
      </p:sp>
      <p:sp>
        <p:nvSpPr>
          <p:cNvPr id="5" name="Freeform 5"/>
          <p:cNvSpPr/>
          <p:nvPr/>
        </p:nvSpPr>
        <p:spPr>
          <a:xfrm>
            <a:off x="1028700" y="1991977"/>
            <a:ext cx="1069016" cy="1069016"/>
          </a:xfrm>
          <a:custGeom>
            <a:avLst/>
            <a:gdLst/>
            <a:ahLst/>
            <a:cxnLst/>
            <a:rect l="l" t="t" r="r" b="b"/>
            <a:pathLst>
              <a:path w="1069016" h="1069016">
                <a:moveTo>
                  <a:pt x="0" y="0"/>
                </a:moveTo>
                <a:lnTo>
                  <a:pt x="1069016" y="0"/>
                </a:lnTo>
                <a:lnTo>
                  <a:pt x="1069016" y="1069016"/>
                </a:lnTo>
                <a:lnTo>
                  <a:pt x="0" y="1069016"/>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fr-MA"/>
          </a:p>
        </p:txBody>
      </p:sp>
      <p:sp>
        <p:nvSpPr>
          <p:cNvPr id="6" name="AutoShape 6"/>
          <p:cNvSpPr/>
          <p:nvPr/>
        </p:nvSpPr>
        <p:spPr>
          <a:xfrm flipV="1">
            <a:off x="997022" y="9254563"/>
            <a:ext cx="15746573" cy="0"/>
          </a:xfrm>
          <a:prstGeom prst="line">
            <a:avLst/>
          </a:prstGeom>
          <a:ln w="9525" cap="flat">
            <a:solidFill>
              <a:srgbClr val="6D745F"/>
            </a:solidFill>
            <a:prstDash val="solid"/>
            <a:headEnd type="none" w="sm" len="sm"/>
            <a:tailEnd type="none" w="sm" len="sm"/>
          </a:ln>
        </p:spPr>
        <p:txBody>
          <a:bodyPr/>
          <a:lstStyle/>
          <a:p>
            <a:endParaRPr lang="fr-MA"/>
          </a:p>
        </p:txBody>
      </p:sp>
      <p:sp>
        <p:nvSpPr>
          <p:cNvPr id="7" name="Freeform 7"/>
          <p:cNvSpPr/>
          <p:nvPr/>
        </p:nvSpPr>
        <p:spPr>
          <a:xfrm>
            <a:off x="16227891" y="8742595"/>
            <a:ext cx="1031409" cy="1031409"/>
          </a:xfrm>
          <a:custGeom>
            <a:avLst/>
            <a:gdLst/>
            <a:ahLst/>
            <a:cxnLst/>
            <a:rect l="l" t="t" r="r" b="b"/>
            <a:pathLst>
              <a:path w="1031409" h="1031409">
                <a:moveTo>
                  <a:pt x="0" y="0"/>
                </a:moveTo>
                <a:lnTo>
                  <a:pt x="1031409" y="0"/>
                </a:lnTo>
                <a:lnTo>
                  <a:pt x="1031409" y="1031410"/>
                </a:lnTo>
                <a:lnTo>
                  <a:pt x="0" y="1031410"/>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fr-MA"/>
          </a:p>
        </p:txBody>
      </p:sp>
      <p:grpSp>
        <p:nvGrpSpPr>
          <p:cNvPr id="8" name="Group 8"/>
          <p:cNvGrpSpPr>
            <a:grpSpLocks noChangeAspect="1"/>
          </p:cNvGrpSpPr>
          <p:nvPr/>
        </p:nvGrpSpPr>
        <p:grpSpPr>
          <a:xfrm>
            <a:off x="10136536" y="2284810"/>
            <a:ext cx="6153893" cy="6153893"/>
            <a:chOff x="0" y="0"/>
            <a:chExt cx="3331210" cy="3331210"/>
          </a:xfrm>
        </p:grpSpPr>
        <p:sp>
          <p:nvSpPr>
            <p:cNvPr id="9" name="Freeform 9"/>
            <p:cNvSpPr/>
            <p:nvPr/>
          </p:nvSpPr>
          <p:spPr>
            <a:xfrm>
              <a:off x="0" y="0"/>
              <a:ext cx="3331210" cy="3331210"/>
            </a:xfrm>
            <a:custGeom>
              <a:avLst/>
              <a:gdLst/>
              <a:ahLst/>
              <a:cxnLst/>
              <a:rect l="l" t="t" r="r" b="b"/>
              <a:pathLst>
                <a:path w="3331210" h="3331210">
                  <a:moveTo>
                    <a:pt x="0" y="3331210"/>
                  </a:moveTo>
                  <a:lnTo>
                    <a:pt x="0" y="0"/>
                  </a:lnTo>
                  <a:cubicBezTo>
                    <a:pt x="1840230" y="0"/>
                    <a:pt x="3331210" y="1490980"/>
                    <a:pt x="3331210" y="3331210"/>
                  </a:cubicBezTo>
                  <a:lnTo>
                    <a:pt x="0" y="3331210"/>
                  </a:lnTo>
                  <a:close/>
                </a:path>
              </a:pathLst>
            </a:custGeom>
            <a:blipFill>
              <a:blip r:embed="rId5"/>
              <a:stretch>
                <a:fillRect/>
              </a:stretch>
            </a:blipFill>
          </p:spPr>
          <p:txBody>
            <a:bodyPr/>
            <a:lstStyle/>
            <a:p>
              <a:endParaRPr lang="fr-MA"/>
            </a:p>
          </p:txBody>
        </p:sp>
      </p:grpSp>
      <p:sp>
        <p:nvSpPr>
          <p:cNvPr id="10" name="Freeform 11"/>
          <p:cNvSpPr/>
          <p:nvPr/>
        </p:nvSpPr>
        <p:spPr>
          <a:xfrm>
            <a:off x="1563208" y="1548850"/>
            <a:ext cx="854119" cy="854119"/>
          </a:xfrm>
          <a:custGeom>
            <a:avLst/>
            <a:gdLst/>
            <a:ahLst/>
            <a:cxnLst/>
            <a:rect l="l" t="t" r="r" b="b"/>
            <a:pathLst>
              <a:path w="854119" h="854119">
                <a:moveTo>
                  <a:pt x="0" y="0"/>
                </a:moveTo>
                <a:lnTo>
                  <a:pt x="854119" y="0"/>
                </a:lnTo>
                <a:lnTo>
                  <a:pt x="854119" y="854118"/>
                </a:lnTo>
                <a:lnTo>
                  <a:pt x="0" y="854118"/>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rot="5400000">
            <a:off x="1007068" y="1012233"/>
            <a:ext cx="7808674" cy="7841609"/>
            <a:chOff x="0" y="0"/>
            <a:chExt cx="6323330" cy="6350000"/>
          </a:xfrm>
        </p:grpSpPr>
        <p:sp>
          <p:nvSpPr>
            <p:cNvPr id="3" name="Freeform 3"/>
            <p:cNvSpPr/>
            <p:nvPr/>
          </p:nvSpPr>
          <p:spPr>
            <a:xfrm rot="-5400000">
              <a:off x="-13335" y="13335"/>
              <a:ext cx="6350000" cy="6323330"/>
            </a:xfrm>
            <a:custGeom>
              <a:avLst/>
              <a:gdLst/>
              <a:ahLst/>
              <a:cxnLst/>
              <a:rect l="l" t="t" r="r" b="b"/>
              <a:pathLst>
                <a:path w="6350000" h="6323330">
                  <a:moveTo>
                    <a:pt x="3462020" y="6320790"/>
                  </a:moveTo>
                  <a:lnTo>
                    <a:pt x="4753610" y="6320790"/>
                  </a:lnTo>
                  <a:cubicBezTo>
                    <a:pt x="5634990" y="6320790"/>
                    <a:pt x="6350000" y="5605780"/>
                    <a:pt x="6350000" y="4724400"/>
                  </a:cubicBezTo>
                  <a:lnTo>
                    <a:pt x="6350000" y="4724400"/>
                  </a:lnTo>
                  <a:cubicBezTo>
                    <a:pt x="6350000" y="3967480"/>
                    <a:pt x="5819140" y="3314700"/>
                    <a:pt x="5078730" y="3161030"/>
                  </a:cubicBezTo>
                  <a:cubicBezTo>
                    <a:pt x="5819140" y="3006090"/>
                    <a:pt x="6350000" y="2353310"/>
                    <a:pt x="6350000" y="1596390"/>
                  </a:cubicBezTo>
                  <a:lnTo>
                    <a:pt x="6350000" y="1596390"/>
                  </a:lnTo>
                  <a:cubicBezTo>
                    <a:pt x="6350000" y="715010"/>
                    <a:pt x="5634990" y="0"/>
                    <a:pt x="4753610" y="0"/>
                  </a:cubicBezTo>
                  <a:lnTo>
                    <a:pt x="2887980" y="0"/>
                  </a:lnTo>
                  <a:lnTo>
                    <a:pt x="2887980" y="2540"/>
                  </a:lnTo>
                  <a:lnTo>
                    <a:pt x="1597660" y="2540"/>
                  </a:lnTo>
                  <a:cubicBezTo>
                    <a:pt x="715010" y="2540"/>
                    <a:pt x="0" y="717550"/>
                    <a:pt x="0" y="1598930"/>
                  </a:cubicBezTo>
                  <a:lnTo>
                    <a:pt x="0" y="1598930"/>
                  </a:lnTo>
                  <a:cubicBezTo>
                    <a:pt x="0" y="2354580"/>
                    <a:pt x="530860" y="3007360"/>
                    <a:pt x="1271270" y="3162300"/>
                  </a:cubicBezTo>
                  <a:cubicBezTo>
                    <a:pt x="530860" y="3317240"/>
                    <a:pt x="0" y="3970020"/>
                    <a:pt x="0" y="4726940"/>
                  </a:cubicBezTo>
                  <a:lnTo>
                    <a:pt x="0" y="4726940"/>
                  </a:lnTo>
                  <a:cubicBezTo>
                    <a:pt x="0" y="5608320"/>
                    <a:pt x="715010" y="6323330"/>
                    <a:pt x="1596390" y="6323330"/>
                  </a:cubicBezTo>
                  <a:lnTo>
                    <a:pt x="3462020" y="6323330"/>
                  </a:lnTo>
                  <a:lnTo>
                    <a:pt x="3462020" y="6320790"/>
                  </a:lnTo>
                  <a:close/>
                </a:path>
              </a:pathLst>
            </a:custGeom>
            <a:blipFill>
              <a:blip r:embed="rId3"/>
              <a:stretch>
                <a:fillRect t="-210" b="-210"/>
              </a:stretch>
            </a:blipFill>
          </p:spPr>
          <p:txBody>
            <a:bodyPr/>
            <a:lstStyle/>
            <a:p>
              <a:endParaRPr lang="fr-MA"/>
            </a:p>
          </p:txBody>
        </p:sp>
      </p:grpSp>
      <p:sp>
        <p:nvSpPr>
          <p:cNvPr id="4" name="AutoShape 4"/>
          <p:cNvSpPr/>
          <p:nvPr/>
        </p:nvSpPr>
        <p:spPr>
          <a:xfrm flipV="1">
            <a:off x="997022" y="9254563"/>
            <a:ext cx="15746573" cy="0"/>
          </a:xfrm>
          <a:prstGeom prst="line">
            <a:avLst/>
          </a:prstGeom>
          <a:ln w="9525" cap="flat">
            <a:solidFill>
              <a:srgbClr val="6D745F"/>
            </a:solidFill>
            <a:prstDash val="solid"/>
            <a:headEnd type="none" w="sm" len="sm"/>
            <a:tailEnd type="none" w="sm" len="sm"/>
          </a:ln>
        </p:spPr>
        <p:txBody>
          <a:bodyPr/>
          <a:lstStyle/>
          <a:p>
            <a:endParaRPr lang="fr-MA"/>
          </a:p>
        </p:txBody>
      </p:sp>
      <p:sp>
        <p:nvSpPr>
          <p:cNvPr id="5" name="Freeform 5"/>
          <p:cNvSpPr/>
          <p:nvPr/>
        </p:nvSpPr>
        <p:spPr>
          <a:xfrm>
            <a:off x="16227891" y="8742595"/>
            <a:ext cx="1031409" cy="1031409"/>
          </a:xfrm>
          <a:custGeom>
            <a:avLst/>
            <a:gdLst/>
            <a:ahLst/>
            <a:cxnLst/>
            <a:rect l="l" t="t" r="r" b="b"/>
            <a:pathLst>
              <a:path w="1031409" h="1031409">
                <a:moveTo>
                  <a:pt x="0" y="0"/>
                </a:moveTo>
                <a:lnTo>
                  <a:pt x="1031409" y="0"/>
                </a:lnTo>
                <a:lnTo>
                  <a:pt x="1031409" y="1031410"/>
                </a:lnTo>
                <a:lnTo>
                  <a:pt x="0" y="1031410"/>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fr-MA"/>
          </a:p>
        </p:txBody>
      </p:sp>
      <p:sp>
        <p:nvSpPr>
          <p:cNvPr id="6" name="TextBox 6"/>
          <p:cNvSpPr txBox="1"/>
          <p:nvPr/>
        </p:nvSpPr>
        <p:spPr>
          <a:xfrm>
            <a:off x="9144000" y="2319218"/>
            <a:ext cx="8388000" cy="688631"/>
          </a:xfrm>
          <a:prstGeom prst="rect">
            <a:avLst/>
          </a:prstGeom>
        </p:spPr>
        <p:txBody>
          <a:bodyPr lIns="0" tIns="0" rIns="0" bIns="0" rtlCol="0" anchor="t">
            <a:spAutoFit/>
          </a:bodyPr>
          <a:lstStyle/>
          <a:p>
            <a:pPr marL="0" lvl="0" indent="0" algn="l">
              <a:lnSpc>
                <a:spcPts val="5618"/>
              </a:lnSpc>
            </a:pPr>
            <a:r>
              <a:rPr lang="en-US" sz="4013">
                <a:solidFill>
                  <a:srgbClr val="6D745F"/>
                </a:solidFill>
                <a:latin typeface="TAN Mon Cheri"/>
                <a:ea typeface="TAN Mon Cheri"/>
                <a:cs typeface="TAN Mon Cheri"/>
                <a:sym typeface="TAN Mon Cheri"/>
              </a:rPr>
              <a:t>MERCI</a:t>
            </a:r>
          </a:p>
        </p:txBody>
      </p:sp>
      <p:sp>
        <p:nvSpPr>
          <p:cNvPr id="7" name="TextBox 7"/>
          <p:cNvSpPr txBox="1"/>
          <p:nvPr/>
        </p:nvSpPr>
        <p:spPr>
          <a:xfrm>
            <a:off x="10172564" y="3937142"/>
            <a:ext cx="5047647" cy="433809"/>
          </a:xfrm>
          <a:prstGeom prst="rect">
            <a:avLst/>
          </a:prstGeom>
        </p:spPr>
        <p:txBody>
          <a:bodyPr lIns="0" tIns="0" rIns="0" bIns="0" rtlCol="0" anchor="t">
            <a:spAutoFit/>
          </a:bodyPr>
          <a:lstStyle/>
          <a:p>
            <a:pPr marL="0" lvl="0" indent="0" algn="l">
              <a:lnSpc>
                <a:spcPts val="3584"/>
              </a:lnSpc>
            </a:pPr>
            <a:r>
              <a:rPr lang="en-US" sz="2560">
                <a:solidFill>
                  <a:srgbClr val="000000"/>
                </a:solidFill>
                <a:latin typeface="TAN Mon Cheri"/>
                <a:ea typeface="TAN Mon Cheri"/>
                <a:cs typeface="TAN Mon Cheri"/>
                <a:sym typeface="TAN Mon Cheri"/>
              </a:rPr>
              <a:t>Merci pour votre attention</a:t>
            </a:r>
          </a:p>
        </p:txBody>
      </p:sp>
      <p:sp>
        <p:nvSpPr>
          <p:cNvPr id="8" name="TextBox 8"/>
          <p:cNvSpPr txBox="1"/>
          <p:nvPr/>
        </p:nvSpPr>
        <p:spPr>
          <a:xfrm>
            <a:off x="10172564" y="5316367"/>
            <a:ext cx="5047647" cy="433809"/>
          </a:xfrm>
          <a:prstGeom prst="rect">
            <a:avLst/>
          </a:prstGeom>
        </p:spPr>
        <p:txBody>
          <a:bodyPr lIns="0" tIns="0" rIns="0" bIns="0" rtlCol="0" anchor="t">
            <a:spAutoFit/>
          </a:bodyPr>
          <a:lstStyle/>
          <a:p>
            <a:pPr marL="0" lvl="0" indent="0" algn="l">
              <a:lnSpc>
                <a:spcPts val="3584"/>
              </a:lnSpc>
            </a:pPr>
            <a:r>
              <a:rPr lang="en-US" sz="2560">
                <a:solidFill>
                  <a:srgbClr val="000000"/>
                </a:solidFill>
                <a:latin typeface="TAN Mon Cheri"/>
                <a:ea typeface="TAN Mon Cheri"/>
                <a:cs typeface="TAN Mon Cheri"/>
                <a:sym typeface="TAN Mon Cheri"/>
              </a:rPr>
              <a:t>Questions ?</a:t>
            </a:r>
          </a:p>
        </p:txBody>
      </p:sp>
      <p:sp>
        <p:nvSpPr>
          <p:cNvPr id="11" name="Freeform 11"/>
          <p:cNvSpPr/>
          <p:nvPr/>
        </p:nvSpPr>
        <p:spPr>
          <a:xfrm>
            <a:off x="9163719" y="3660958"/>
            <a:ext cx="854119" cy="854119"/>
          </a:xfrm>
          <a:custGeom>
            <a:avLst/>
            <a:gdLst/>
            <a:ahLst/>
            <a:cxnLst/>
            <a:rect l="l" t="t" r="r" b="b"/>
            <a:pathLst>
              <a:path w="854119" h="854119">
                <a:moveTo>
                  <a:pt x="0" y="0"/>
                </a:moveTo>
                <a:lnTo>
                  <a:pt x="854119" y="0"/>
                </a:lnTo>
                <a:lnTo>
                  <a:pt x="854119" y="854118"/>
                </a:lnTo>
                <a:lnTo>
                  <a:pt x="0" y="85411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12" name="Freeform 11"/>
          <p:cNvSpPr/>
          <p:nvPr/>
        </p:nvSpPr>
        <p:spPr>
          <a:xfrm>
            <a:off x="9163719" y="5168186"/>
            <a:ext cx="854119" cy="854119"/>
          </a:xfrm>
          <a:custGeom>
            <a:avLst/>
            <a:gdLst/>
            <a:ahLst/>
            <a:cxnLst/>
            <a:rect l="l" t="t" r="r" b="b"/>
            <a:pathLst>
              <a:path w="854119" h="854119">
                <a:moveTo>
                  <a:pt x="0" y="0"/>
                </a:moveTo>
                <a:lnTo>
                  <a:pt x="854119" y="0"/>
                </a:lnTo>
                <a:lnTo>
                  <a:pt x="854119" y="854118"/>
                </a:lnTo>
                <a:lnTo>
                  <a:pt x="0" y="85411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1019</TotalTime>
  <Words>3577</Words>
  <Application>Microsoft Office PowerPoint</Application>
  <PresentationFormat>Personnalisé</PresentationFormat>
  <Paragraphs>269</Paragraphs>
  <Slides>26</Slides>
  <Notes>26</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26</vt:i4>
      </vt:variant>
    </vt:vector>
  </HeadingPairs>
  <TitlesOfParts>
    <vt:vector size="33" baseType="lpstr">
      <vt:lpstr>Arial Black</vt:lpstr>
      <vt:lpstr>TAN Mon Cheri</vt:lpstr>
      <vt:lpstr>Aptos</vt:lpstr>
      <vt:lpstr>Calibri</vt:lpstr>
      <vt:lpstr>Arial</vt:lpstr>
      <vt:lpstr>TS Tarek</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 de Sécurité – Juice Shop (EMSI)</dc:title>
  <dc:creator>HP</dc:creator>
  <cp:lastModifiedBy>HP</cp:lastModifiedBy>
  <cp:revision>12</cp:revision>
  <dcterms:created xsi:type="dcterms:W3CDTF">2006-08-16T00:00:00Z</dcterms:created>
  <dcterms:modified xsi:type="dcterms:W3CDTF">2026-04-13T09:14:26Z</dcterms:modified>
  <dc:identifier>DAHGpf2w3bg</dc:identifier>
</cp:coreProperties>
</file>